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gif" ContentType="image/gif"/>
  <Default Extension="emf" ContentType="image/x-em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92f6ed5f784c4e" /><Relationship Type="http://schemas.openxmlformats.org/officeDocument/2006/relationships/extended-properties" Target="/docProps/app.xml" Id="Re24722ebeba542c9" /><Relationship Type="http://schemas.openxmlformats.org/officeDocument/2006/relationships/officeDocument" Target="/ppt/presentation.xml" Id="Rbf470297249a44ef" /></Relationships>
</file>

<file path=ppt/presentation.xml><?xml version="1.0" encoding="utf-8"?>
<p:presentation xmlns:p="http://schemas.openxmlformats.org/presentationml/2006/main">
  <p:sldMasterIdLst>
    <p:sldMasterId xmlns:r="http://schemas.openxmlformats.org/officeDocument/2006/relationships" id="2147483648" r:id="R10762e9a0aaa4f7d"/>
  </p:sldMasterIdLst>
  <p:notesMasterIdLst>
    <p:notesMasterId xmlns:r="http://schemas.openxmlformats.org/officeDocument/2006/relationships" r:id="Rd866c487468a4bdc"/>
  </p:notesMasterIdLst>
  <p:sldIdLst>
    <p:sldId xmlns:r="http://schemas.openxmlformats.org/officeDocument/2006/relationships" id="256" r:id="R3b764ae1093a406c"/>
    <p:sldId xmlns:r="http://schemas.openxmlformats.org/officeDocument/2006/relationships" id="257" r:id="R85593b47f2564675"/>
    <p:sldId xmlns:r="http://schemas.openxmlformats.org/officeDocument/2006/relationships" id="258" r:id="Rd92b83c525d1463b"/>
    <p:sldId xmlns:r="http://schemas.openxmlformats.org/officeDocument/2006/relationships" id="259" r:id="Rb00d9febdc14426a"/>
    <p:sldId xmlns:r="http://schemas.openxmlformats.org/officeDocument/2006/relationships" id="260" r:id="R7111d6820c0c4222"/>
    <p:sldId xmlns:r="http://schemas.openxmlformats.org/officeDocument/2006/relationships" id="261" r:id="R40895ee99e534737"/>
    <p:sldId xmlns:r="http://schemas.openxmlformats.org/officeDocument/2006/relationships" id="262" r:id="Rc1bfae2ebe724de7"/>
    <p:sldId xmlns:r="http://schemas.openxmlformats.org/officeDocument/2006/relationships" id="263" r:id="Rffcea3b2718c47f0"/>
    <p:sldId xmlns:r="http://schemas.openxmlformats.org/officeDocument/2006/relationships" id="264" r:id="R8ac9183d486d4d1d"/>
    <p:sldId xmlns:r="http://schemas.openxmlformats.org/officeDocument/2006/relationships" id="265" r:id="R08a7f36af50242b4"/>
    <p:sldId xmlns:r="http://schemas.openxmlformats.org/officeDocument/2006/relationships" id="266" r:id="R1f8234e6b5b44098"/>
    <p:sldId xmlns:r="http://schemas.openxmlformats.org/officeDocument/2006/relationships" id="267" r:id="Rf5f327f804ec424c"/>
    <p:sldId xmlns:r="http://schemas.openxmlformats.org/officeDocument/2006/relationships" id="268" r:id="Rf90084b2074a41d6"/>
    <p:sldId xmlns:r="http://schemas.openxmlformats.org/officeDocument/2006/relationships" id="269" r:id="Rc0a2f272241b4868"/>
    <p:sldId xmlns:r="http://schemas.openxmlformats.org/officeDocument/2006/relationships" id="270" r:id="R68063ab29f0e4a9e"/>
    <p:sldId xmlns:r="http://schemas.openxmlformats.org/officeDocument/2006/relationships" id="271" r:id="R30a7fcfde0a546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921405b40f74e2d" /><Relationship Type="http://schemas.openxmlformats.org/officeDocument/2006/relationships/slideMaster" Target="/ppt/slideMasters/slideMaster1.xml" Id="R10762e9a0aaa4f7d" /><Relationship Type="http://schemas.openxmlformats.org/officeDocument/2006/relationships/notesMaster" Target="/ppt/notesMasters/notesMaster1.xml" Id="Rd866c487468a4bdc" /><Relationship Type="http://schemas.openxmlformats.org/officeDocument/2006/relationships/presProps" Target="/ppt/presProps.xml" Id="R4ddf59822a384c30" /><Relationship Type="http://schemas.openxmlformats.org/officeDocument/2006/relationships/viewProps" Target="/ppt/viewProps.xml" Id="Rbb75396385d54f97" /><Relationship Type="http://schemas.openxmlformats.org/officeDocument/2006/relationships/tableStyles" Target="/ppt/tableStyles.xml" Id="R2707a7ea65b1432a" /><Relationship Type="http://schemas.openxmlformats.org/officeDocument/2006/relationships/slide" Target="/ppt/slides/slide1.xml" Id="R3b764ae1093a406c" /><Relationship Type="http://schemas.openxmlformats.org/officeDocument/2006/relationships/slide" Target="/ppt/slides/slide2.xml" Id="R85593b47f2564675" /><Relationship Type="http://schemas.openxmlformats.org/officeDocument/2006/relationships/slide" Target="/ppt/slides/slide3.xml" Id="Rd92b83c525d1463b" /><Relationship Type="http://schemas.openxmlformats.org/officeDocument/2006/relationships/slide" Target="/ppt/slides/slide4.xml" Id="Rb00d9febdc14426a" /><Relationship Type="http://schemas.openxmlformats.org/officeDocument/2006/relationships/slide" Target="/ppt/slides/slide5.xml" Id="R7111d6820c0c4222" /><Relationship Type="http://schemas.openxmlformats.org/officeDocument/2006/relationships/slide" Target="/ppt/slides/slide6.xml" Id="R40895ee99e534737" /><Relationship Type="http://schemas.openxmlformats.org/officeDocument/2006/relationships/slide" Target="/ppt/slides/slide7.xml" Id="Rc1bfae2ebe724de7" /><Relationship Type="http://schemas.openxmlformats.org/officeDocument/2006/relationships/slide" Target="/ppt/slides/slide8.xml" Id="Rffcea3b2718c47f0" /><Relationship Type="http://schemas.openxmlformats.org/officeDocument/2006/relationships/slide" Target="/ppt/slides/slide9.xml" Id="R8ac9183d486d4d1d" /><Relationship Type="http://schemas.openxmlformats.org/officeDocument/2006/relationships/slide" Target="/ppt/slides/slide10.xml" Id="R08a7f36af50242b4" /><Relationship Type="http://schemas.openxmlformats.org/officeDocument/2006/relationships/slide" Target="/ppt/slides/slide11.xml" Id="R1f8234e6b5b44098" /><Relationship Type="http://schemas.openxmlformats.org/officeDocument/2006/relationships/slide" Target="/ppt/slides/slide12.xml" Id="Rf5f327f804ec424c" /><Relationship Type="http://schemas.openxmlformats.org/officeDocument/2006/relationships/slide" Target="/ppt/slides/slide13.xml" Id="Rf90084b2074a41d6" /><Relationship Type="http://schemas.openxmlformats.org/officeDocument/2006/relationships/slide" Target="/ppt/slides/slide14.xml" Id="Rc0a2f272241b4868" /><Relationship Type="http://schemas.openxmlformats.org/officeDocument/2006/relationships/slide" Target="/ppt/slides/slide15.xml" Id="R68063ab29f0e4a9e" /><Relationship Type="http://schemas.openxmlformats.org/officeDocument/2006/relationships/slide" Target="/ppt/slides/slide16.xml" Id="R30a7fcfde0a546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419d74206d4f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4306df0a69489f" /><Relationship Type="http://schemas.openxmlformats.org/officeDocument/2006/relationships/notesMaster" Target="/ppt/notesMasters/notesMaster1.xml" Id="R75fefbbf459942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252ffb4fb74ffd" /><Relationship Type="http://schemas.openxmlformats.org/officeDocument/2006/relationships/notesMaster" Target="/ppt/notesMasters/notesMaster1.xml" Id="R2443a83854ff49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9a290bf3ff421b" /><Relationship Type="http://schemas.openxmlformats.org/officeDocument/2006/relationships/notesMaster" Target="/ppt/notesMasters/notesMaster1.xml" Id="Ref4235cd413a4e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f080096040412f" /><Relationship Type="http://schemas.openxmlformats.org/officeDocument/2006/relationships/notesMaster" Target="/ppt/notesMasters/notesMaster1.xml" Id="R245cbbe49ae74d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f1e36365e54095" /><Relationship Type="http://schemas.openxmlformats.org/officeDocument/2006/relationships/notesMaster" Target="/ppt/notesMasters/notesMaster1.xml" Id="R92e6285caed340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68b3330a9349a0" /><Relationship Type="http://schemas.openxmlformats.org/officeDocument/2006/relationships/notesMaster" Target="/ppt/notesMasters/notesMaster1.xml" Id="R41d7c6d3367b49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56aa676616441a" /><Relationship Type="http://schemas.openxmlformats.org/officeDocument/2006/relationships/notesMaster" Target="/ppt/notesMasters/notesMaster1.xml" Id="R1bb90bbb051e4c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879468c9bb4316" /><Relationship Type="http://schemas.openxmlformats.org/officeDocument/2006/relationships/notesMaster" Target="/ppt/notesMasters/notesMaster1.xml" Id="R5de7d89ef1224f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8a0785eff241f5" /><Relationship Type="http://schemas.openxmlformats.org/officeDocument/2006/relationships/notesMaster" Target="/ppt/notesMasters/notesMaster1.xml" Id="R8c100b1f410347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98081695f94f5b" /><Relationship Type="http://schemas.openxmlformats.org/officeDocument/2006/relationships/notesMaster" Target="/ppt/notesMasters/notesMaster1.xml" Id="R9d6845b5745540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186ff3a1f34f58" /><Relationship Type="http://schemas.openxmlformats.org/officeDocument/2006/relationships/notesMaster" Target="/ppt/notesMasters/notesMaster1.xml" Id="R5d80cd27109d42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d207c8aa89475c" /><Relationship Type="http://schemas.openxmlformats.org/officeDocument/2006/relationships/notesMaster" Target="/ppt/notesMasters/notesMaster1.xml" Id="Rfc896e79d9714a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ebcf11a7a1b44a4" /><Relationship Type="http://schemas.openxmlformats.org/officeDocument/2006/relationships/notesMaster" Target="/ppt/notesMasters/notesMaster1.xml" Id="Re171f40881b743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9c5d6ba8c64b7f" /><Relationship Type="http://schemas.openxmlformats.org/officeDocument/2006/relationships/notesMaster" Target="/ppt/notesMasters/notesMaster1.xml" Id="R3aebb305973f46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ad3bc4d813d4718" /><Relationship Type="http://schemas.openxmlformats.org/officeDocument/2006/relationships/notesMaster" Target="/ppt/notesMasters/notesMaster1.xml" Id="Rf4216cd6df6543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9fd126411964b68" /><Relationship Type="http://schemas.openxmlformats.org/officeDocument/2006/relationships/notesMaster" Target="/ppt/notesMasters/notesMaster1.xml" Id="R3c8a45ba3c654e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PCA-guided episodic test-time adaptation results on BabyLand-72 and InfantFace.</a:t>
            </a:r>
          </a:p>
          <a:p xmlns:a="http://schemas.openxmlformats.org/drawingml/2006/main">
            <a:r>
              <a:t>[Sources]</a:t>
            </a:r>
          </a:p>
          <a:p xmlns:a="http://schemas.openxmlformats.org/drawingml/2006/main">
            <a:r>
              <a:t>- /Users/jocareher/Downloads/tta/weekly_meeting_82.pptx (template and prior BabyLand reporting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normalizer is the only trainable module at test time. The landmarker and PCA prior remain frozen. The 10⁻⁴ and 10⁻³ sweeps share the same step-0 checkpoint.</a:t>
            </a:r>
          </a:p>
          <a:p xmlns:a="http://schemas.openxmlformats.org/drawingml/2006/main">
            <a:r>
              <a:t>[Sources]</a:t>
            </a:r>
          </a:p>
          <a:p xmlns:a="http://schemas.openxmlformats.org/drawingml/2006/main">
            <a:r>
              <a:t>- /Users/jocareher/Downloads/tta/resolved_config.json</a:t>
            </a:r>
            <a:endParaRPr/>
          </a:p>
          <a:p xmlns:a="http://schemas.openxmlformats.org/drawingml/2006/main">
            <a:r>
              <a:t>- /Users/jocareher/Downloads/tta/sweep_orientation_results.csv</a:t>
            </a:r>
            <a:endParaRPr/>
          </a:p>
          <a:p xmlns:a="http://schemas.openxmlformats.org/drawingml/2006/main">
            <a:r>
              <a:t>- /Users/jocareher/Downloads/tta/sweep_orientation_results_lr-1e-3.csv</a:t>
            </a:r>
          </a:p>
          <a:p xmlns:a="http://schemas.openxmlformats.org/drawingml/2006/main">
            <a:r>
              <a:t>- /Users/jocareher/Downloads/tta/infanface_sweep_orientation_results_lr-1e-3.csv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baseline denotes the previously reported model without TTA. Step 0 denotes the normalizer-based checkpoint before episodic adaptation.</a:t>
            </a:r>
          </a:p>
          <a:p xmlns:a="http://schemas.openxmlformats.org/drawingml/2006/main">
            <a:r>
              <a:t>[Sources]</a:t>
            </a:r>
          </a:p>
          <a:p xmlns:a="http://schemas.openxmlformats.org/drawingml/2006/main">
            <a:r>
              <a:t>- /Users/jocareher/Downloads/tta/metrics_summary.csv</a:t>
            </a:r>
          </a:p>
          <a:p xmlns:a="http://schemas.openxmlformats.org/drawingml/2006/main">
            <a:r>
              <a:t>- /Users/jocareher/Downloads/tta/infanface_metrics_summary.csv</a:t>
            </a:r>
          </a:p>
          <a:p xmlns:a="http://schemas.openxmlformats.org/drawingml/2006/main">
            <a:r>
              <a:t>- /Users/jocareher/Downloads/tta/image_summary.csv</a:t>
            </a:r>
          </a:p>
          <a:p xmlns:a="http://schemas.openxmlformats.org/drawingml/2006/main">
            <a:r>
              <a:t>- /Users/jocareher/Downloads/tta/infanface_sweep_orientation_results_lr-1e-3.csv</a:t>
            </a:r>
          </a:p>
          <a:p xmlns:a="http://schemas.openxmlformats.org/drawingml/2006/main">
            <a:r>
              <a:t>- User-provided paper baseline table in the task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Global values are weighted by the number of samples in each orientation bin. Step 0 is the shared unadapted checkpoint. The 10⁻³ sweep approaches a plateau after 750 updates, whereas 10⁻⁴ remains above it at 1250 updates.</a:t>
            </a:r>
          </a:p>
          <a:p xmlns:a="http://schemas.openxmlformats.org/drawingml/2006/main">
            <a:r>
              <a:t>[Sources]</a:t>
            </a:r>
          </a:p>
          <a:p xmlns:a="http://schemas.openxmlformats.org/drawingml/2006/main">
            <a:r>
              <a:t>- /Users/jocareher/Downloads/tta/sweep_orientation_results.csv</a:t>
            </a:r>
          </a:p>
          <a:p xmlns:a="http://schemas.openxmlformats.org/drawingml/2006/main">
            <a:r>
              <a:t>- /Users/jocareher/Downloads/tta/sweep_orientation_results_lr-1e-3.csv</a:t>
            </a:r>
          </a:p>
          <a:p xmlns:a="http://schemas.openxmlformats.org/drawingml/2006/main">
            <a:r>
              <a:t>- /Users/jocareher/Downloads/tta/image_summary.csv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central-view curves remain flat or worsen slightly after 750 updates: quarter-left changes from 5.00% to 5.01%, frontal stays at 4.61% at reported precision, and quarter-right changes from 5.19% to 5.20%. Left and right profiles continue improving to 15.03% and 14.77% at 1500 updates. This supports a pose-dependent descriptive interpretation, not an implemented stopping policy.</a:t>
            </a:r>
          </a:p>
          <a:p xmlns:a="http://schemas.openxmlformats.org/drawingml/2006/main">
            <a:r>
              <a:t>[Sources]</a:t>
            </a:r>
          </a:p>
          <a:p xmlns:a="http://schemas.openxmlformats.org/drawingml/2006/main">
            <a:r>
              <a:t>- /Users/jocareher/Downloads/tta/sweep_orientation_results_lr-1e-3.csv</a:t>
            </a:r>
          </a:p>
          <a:p xmlns:a="http://schemas.openxmlformats.org/drawingml/2006/main">
            <a:r>
              <a:t>- /Users/jocareher/Downloads/tta/orientation_tta_summary.csv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Step-1500 mean NME is below both step 0 and the paper baseline for every orientation group. Profile groups should be interpreted with n=7 and n=13.</a:t>
            </a:r>
          </a:p>
          <a:p xmlns:a="http://schemas.openxmlformats.org/drawingml/2006/main">
            <a:r>
              <a:t>[Sources]</a:t>
            </a:r>
          </a:p>
          <a:p xmlns:a="http://schemas.openxmlformats.org/drawingml/2006/main">
            <a:r>
              <a:t>- /Users/jocareher/Downloads/tta/infanface_sweep_orientation_results_lr-1e-3.csv</a:t>
            </a:r>
          </a:p>
          <a:p xmlns:a="http://schemas.openxmlformats.org/drawingml/2006/main">
            <a:r>
              <a:t>- /Users/jocareher/Downloads/tta/infanface_image_summary.csv</a:t>
            </a:r>
          </a:p>
          <a:p xmlns:a="http://schemas.openxmlformats.org/drawingml/2006/main">
            <a:r>
              <a:t>- User-provided InfantFace paper baseline table in the task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aggregate_curves.csv describes the optimization objective and prediction movement across all 622 BabyLand images. It does not contain NME at every step. Therefore these curves show convergence and drift, not localization accuracy. P25 and P75 indicate the wide heterogeneity across images.</a:t>
            </a:r>
          </a:p>
          <a:p xmlns:a="http://schemas.openxmlformats.org/drawingml/2006/main">
            <a:r>
              <a:t>[Sources]</a:t>
            </a:r>
          </a:p>
          <a:p xmlns:a="http://schemas.openxmlformats.org/drawingml/2006/main">
            <a:r>
              <a:t>- /Users/jocareher/Downloads/tta/aggregate_curves.csv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 panels show input crop, normalizer output, fixed-scale absolute RGB difference, enhanced P99-scaled difference, step-0 landmarks, and current landmarks. The enhanced map makes subtle changes visible but rescales each frame independently. This probe was selected because it clearly illustrates the mechanism and its metrics improve; it should be presented as an illustrative success case. Ground truth is used only for the post-hoc NME and Hausdorff values.</a:t>
            </a:r>
          </a:p>
          <a:p xmlns:a="http://schemas.openxmlformats.org/drawingml/2006/main">
            <a:r>
              <a:t>[Sources]</a:t>
            </a:r>
          </a:p>
          <a:p xmlns:a="http://schemas.openxmlformats.org/drawingml/2006/main">
            <a:r>
              <a:t>- /Users/jocareher/Downloads/tta/probes/face_bcn_09__det_000/adaptation.gif</a:t>
            </a:r>
          </a:p>
          <a:p xmlns:a="http://schemas.openxmlformats.org/drawingml/2006/main">
            <a:r>
              <a:t>- /Users/jocareher/Downloads/tta/image_summary.csv</a:t>
            </a:r>
          </a:p>
          <a:p xmlns:a="http://schemas.openxmlformats.org/drawingml/2006/main">
            <a:r>
              <a:t>- /Users/jocareher/Downloads/tta/trajectories.csv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BabyLand mapping and proposed first test are methodological inferences, not experiments reported in the paper. Two manuscript inconsistencies require verification: the sign of Eq. 8 relative to its prose, and the mixed-shift comparison in Table 3.</a:t>
            </a:r>
          </a:p>
          <a:p xmlns:a="http://schemas.openxmlformats.org/drawingml/2006/main">
            <a:r>
              <a:t>[Sources]</a:t>
            </a:r>
          </a:p>
          <a:p xmlns:a="http://schemas.openxmlformats.org/drawingml/2006/main">
            <a:r>
              <a:t>- Shamsi et al., Multi-Hypothesis Test-Time Adaptation to Mitigate Underspecification, 2026 manuscript, pp. 9-13.</a:t>
            </a:r>
          </a:p>
          <a:p xmlns:a="http://schemas.openxmlformats.org/drawingml/2006/main">
            <a:r>
              <a:t>- /workspace/scratch/5a51b64b8959/upload/multi_hypothesis_tta.pdf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BabyLand mapping and proposed first test are methodological inferences, not experiments reported in the paper. Two manuscript inconsistencies require verification: the sign of Eq. 8 relative to its prose, and the mixed-shift comparison in Table 3.</a:t>
            </a:r>
          </a:p>
          <a:p xmlns:a="http://schemas.openxmlformats.org/drawingml/2006/main">
            <a:r>
              <a:t>[Sources]</a:t>
            </a:r>
          </a:p>
          <a:p xmlns:a="http://schemas.openxmlformats.org/drawingml/2006/main">
            <a:r>
              <a:t>- Shamsi et al., Multi-Hypothesis Test-Time Adaptation to Mitigate Underspecification, 2026 manuscript, pp. 9-13.</a:t>
            </a:r>
          </a:p>
          <a:p xmlns:a="http://schemas.openxmlformats.org/drawingml/2006/main">
            <a:r>
              <a:t>- /workspace/scratch/5a51b64b8959/upload/multi_hypothesis_tta.pdf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BabyLand mapping and proposed first test are methodological inferences, not experiments reported in the paper. Two manuscript inconsistencies require verification: the sign of Eq. 8 relative to its prose, and the mixed-shift comparison in Table 3.</a:t>
            </a:r>
          </a:p>
          <a:p xmlns:a="http://schemas.openxmlformats.org/drawingml/2006/main">
            <a:r>
              <a:t>[Sources]</a:t>
            </a:r>
          </a:p>
          <a:p xmlns:a="http://schemas.openxmlformats.org/drawingml/2006/main">
            <a:r>
              <a:t>- Shamsi et al., Multi-Hypothesis Test-Time Adaptation to Mitigate Underspecification, 2026 manuscript, pp. 9-13.</a:t>
            </a:r>
          </a:p>
          <a:p xmlns:a="http://schemas.openxmlformats.org/drawingml/2006/main">
            <a:r>
              <a:t>- /workspace/scratch/5a51b64b8959/upload/multi_hypothesis_tta.pdf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figure is reproduced from the attached manuscript. The summary distinguishes the paper's stated motivation from its empirical evidence.</a:t>
            </a:r>
          </a:p>
          <a:p xmlns:a="http://schemas.openxmlformats.org/drawingml/2006/main">
            <a:r>
              <a:t>[Sources]</a:t>
            </a:r>
          </a:p>
          <a:p xmlns:a="http://schemas.openxmlformats.org/drawingml/2006/main">
            <a:r>
              <a:t>- Shamsi et al., Multi-Hypothesis Test-Time Adaptation to Mitigate Underspecification, 2026 manuscript, pp. 2-4.</a:t>
            </a:r>
          </a:p>
          <a:p xmlns:a="http://schemas.openxmlformats.org/drawingml/2006/main">
            <a:r>
              <a:t>- /workspace/scratch/5a51b64b8959/upload/multi_hypothesis_tta.pdf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figure is reproduced from the attached manuscript. The summary distinguishes the paper's stated motivation from its empirical evidence.</a:t>
            </a:r>
          </a:p>
          <a:p xmlns:a="http://schemas.openxmlformats.org/drawingml/2006/main">
            <a:r>
              <a:t>[Sources]</a:t>
            </a:r>
          </a:p>
          <a:p xmlns:a="http://schemas.openxmlformats.org/drawingml/2006/main">
            <a:r>
              <a:t>- Shamsi et al., Multi-Hypothesis Test-Time Adaptation to Mitigate Underspecification, 2026 manuscript, pp. 2-4.</a:t>
            </a:r>
          </a:p>
          <a:p xmlns:a="http://schemas.openxmlformats.org/drawingml/2006/main">
            <a:r>
              <a:t>- /workspace/scratch/5a51b64b8959/upload/multi_hypothesis_tta.pdf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uses K = 3 in its experiments. 'Concurrent' describes the algorithmic state, not necessarily hardware-level parallel execution.</a:t>
            </a:r>
          </a:p>
          <a:p xmlns:a="http://schemas.openxmlformats.org/drawingml/2006/main">
            <a:r>
              <a:t>[Sources]</a:t>
            </a:r>
          </a:p>
          <a:p xmlns:a="http://schemas.openxmlformats.org/drawingml/2006/main">
            <a:r>
              <a:t>- Shamsi et al., Multi-Hypothesis Test-Time Adaptation to Mitigate Underspecification, 2026 manuscript, pp. 3-4, 7, 13.</a:t>
            </a:r>
          </a:p>
          <a:p xmlns:a="http://schemas.openxmlformats.org/drawingml/2006/main">
            <a:r>
              <a:t>- /workspace/scratch/5a51b64b8959/upload/multi_hypothesis_tta.pdf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evaluates diversification mechanisms as separate configurations. It also reports combinations with optimizer diversity or input augmentation.</a:t>
            </a:r>
          </a:p>
          <a:p xmlns:a="http://schemas.openxmlformats.org/drawingml/2006/main">
            <a:r>
              <a:t>[Sources]</a:t>
            </a:r>
          </a:p>
          <a:p xmlns:a="http://schemas.openxmlformats.org/drawingml/2006/main">
            <a:r>
              <a:t>- Shamsi et al., Multi-Hypothesis Test-Time Adaptation to Mitigate Underspecification, 2026 manuscript, pp. 8-12.</a:t>
            </a:r>
          </a:p>
          <a:p xmlns:a="http://schemas.openxmlformats.org/drawingml/2006/main">
            <a:r>
              <a:t>- /workspace/scratch/5a51b64b8959/upload/multi_hypothesis_tta.pdf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definitions follow the manuscript. The overhead statement is the authors' approximation and does not replace hardware-specific profiling.</a:t>
            </a:r>
          </a:p>
          <a:p xmlns:a="http://schemas.openxmlformats.org/drawingml/2006/main">
            <a:r>
              <a:t>[Sources]</a:t>
            </a:r>
          </a:p>
          <a:p xmlns:a="http://schemas.openxmlformats.org/drawingml/2006/main">
            <a:r>
              <a:t>- Shamsi et al., Multi-Hypothesis Test-Time Adaptation to Mitigate Underspecification, 2026 manuscript, pp. 6, 9-13.</a:t>
            </a:r>
          </a:p>
          <a:p xmlns:a="http://schemas.openxmlformats.org/drawingml/2006/main">
            <a:r>
              <a:t>- /workspace/scratch/5a51b64b8959/upload/multi_hypothesis_tta.pdf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9a4a9735334c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3d0af09d0c47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01ef91913447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5d3fc390d6248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afeb6c2f3545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dbc7bf3d8a4ee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cec9fb9b4674aa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cb45a1997a347b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83595030bac49c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043b1fc9e89463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d96f15864794fd4"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F56771-1CA8-8297-EDC1-7A1E788E817F}"/>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8B2425A-3693-D5FB-3CFB-86DC70548204}"/>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11" indent="0" algn="ctr">
              <a:buNone/>
              <a:defRPr sz="2000"/>
            </a:lvl2pPr>
            <a:lvl3pPr marL="914422" indent="0" algn="ctr">
              <a:buNone/>
              <a:defRPr sz="1801"/>
            </a:lvl3pPr>
            <a:lvl4pPr marL="1371635" indent="0" algn="ctr">
              <a:buNone/>
              <a:defRPr sz="1600"/>
            </a:lvl4pPr>
            <a:lvl5pPr marL="1828846" indent="0" algn="ctr">
              <a:buNone/>
              <a:defRPr sz="1600"/>
            </a:lvl5pPr>
            <a:lvl6pPr marL="2286057" indent="0" algn="ctr">
              <a:buNone/>
              <a:defRPr sz="1600"/>
            </a:lvl6pPr>
            <a:lvl7pPr marL="2743268" indent="0" algn="ctr">
              <a:buNone/>
              <a:defRPr sz="1600"/>
            </a:lvl7pPr>
            <a:lvl8pPr marL="3200481" indent="0" algn="ctr">
              <a:buNone/>
              <a:defRPr sz="1600"/>
            </a:lvl8pPr>
            <a:lvl9pPr marL="3657692"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35710CD0-47E9-57BF-523D-0263D1A5FC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D7A51CE-635F-A84E-83FF-EDBFD40B8346}" type="datetimeFigureOut">
              <a:t>16/09/2026</a:t>
            </a:fld>
            <a:endParaRPr/>
          </a:p>
        </p:txBody>
      </p:sp>
      <p:sp>
        <p:nvSpPr>
          <p:cNvPr id="5" name="Footer Placeholder 4">
            <a:extLst xmlns:a="http://schemas.openxmlformats.org/drawingml/2006/main">
              <a:ext uri="{FF2B5EF4-FFF2-40B4-BE49-F238E27FC236}">
                <a16:creationId xmlns:a16="http://schemas.microsoft.com/office/drawing/2014/main" id="{41054F2F-2E8B-7FE8-A1F0-BA3659BD8C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DABC978-DE93-42F1-48B4-F35D6BD68CF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273FE86-7B8D-CD4A-BA58-EA6CC6940FD0}"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0E2FAF-DF41-A379-C7B2-3206DCB31EC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6DB2EDF-2C75-CBFF-E872-206402DF6D9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F453816-CAF5-63EB-1B66-6B074E7CE0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D7A51CE-635F-A84E-83FF-EDBFD40B8346}" type="datetimeFigureOut">
              <a:t>16/09/2026</a:t>
            </a:fld>
            <a:endParaRPr/>
          </a:p>
        </p:txBody>
      </p:sp>
      <p:sp>
        <p:nvSpPr>
          <p:cNvPr id="5" name="Footer Placeholder 4">
            <a:extLst xmlns:a="http://schemas.openxmlformats.org/drawingml/2006/main">
              <a:ext uri="{FF2B5EF4-FFF2-40B4-BE49-F238E27FC236}">
                <a16:creationId xmlns:a16="http://schemas.microsoft.com/office/drawing/2014/main" id="{AFAE89B0-03DF-5DD0-D572-35275FBE37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91E05AD-9958-5DB7-565C-C86DF4B174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273FE86-7B8D-CD4A-BA58-EA6CC6940FD0}"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AED2DD-901E-A3FB-1C82-D8181012BC2C}"/>
              </a:ext>
            </a:extLst>
          </p:cNvPr>
          <p:cNvSpPr>
            <a:spLocks xmlns:a="http://schemas.openxmlformats.org/drawingml/2006/main" noGrp="1"/>
          </p:cNvSpPr>
          <p:nvPr>
            <p:ph type="title" idx="0"/>
          </p:nvPr>
        </p:nvSpPr>
        <p:spPr>
          <a:xfrm xmlns:a="http://schemas.openxmlformats.org/drawingml/2006/main">
            <a:off x="831853"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660197D-3DB0-85B0-C175-7A64724A3B6A}"/>
              </a:ext>
            </a:extLst>
          </p:cNvPr>
          <p:cNvSpPr>
            <a:spLocks xmlns:a="http://schemas.openxmlformats.org/drawingml/2006/main" noGrp="1"/>
          </p:cNvSpPr>
          <p:nvPr>
            <p:ph type="body" idx="1"/>
          </p:nvPr>
        </p:nvSpPr>
        <p:spPr>
          <a:xfrm xmlns:a="http://schemas.openxmlformats.org/drawingml/2006/main">
            <a:off x="831853" y="4589465"/>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11" indent="0">
              <a:buNone/>
              <a:defRPr sz="2000">
                <a:solidFill>
                  <a:schemeClr val="tx1">
                    <a:tint val="82000"/>
                  </a:schemeClr>
                </a:solidFill>
              </a:defRPr>
            </a:lvl2pPr>
            <a:lvl3pPr marL="914422" indent="0">
              <a:buNone/>
              <a:defRPr sz="1801">
                <a:solidFill>
                  <a:schemeClr val="tx1">
                    <a:tint val="82000"/>
                  </a:schemeClr>
                </a:solidFill>
              </a:defRPr>
            </a:lvl3pPr>
            <a:lvl4pPr marL="1371635" indent="0">
              <a:buNone/>
              <a:defRPr sz="1600">
                <a:solidFill>
                  <a:schemeClr val="tx1">
                    <a:tint val="82000"/>
                  </a:schemeClr>
                </a:solidFill>
              </a:defRPr>
            </a:lvl4pPr>
            <a:lvl5pPr marL="1828846" indent="0">
              <a:buNone/>
              <a:defRPr sz="1600">
                <a:solidFill>
                  <a:schemeClr val="tx1">
                    <a:tint val="82000"/>
                  </a:schemeClr>
                </a:solidFill>
              </a:defRPr>
            </a:lvl5pPr>
            <a:lvl6pPr marL="2286057" indent="0">
              <a:buNone/>
              <a:defRPr sz="1600">
                <a:solidFill>
                  <a:schemeClr val="tx1">
                    <a:tint val="82000"/>
                  </a:schemeClr>
                </a:solidFill>
              </a:defRPr>
            </a:lvl6pPr>
            <a:lvl7pPr marL="2743268" indent="0">
              <a:buNone/>
              <a:defRPr sz="1600">
                <a:solidFill>
                  <a:schemeClr val="tx1">
                    <a:tint val="82000"/>
                  </a:schemeClr>
                </a:solidFill>
              </a:defRPr>
            </a:lvl7pPr>
            <a:lvl8pPr marL="3200481" indent="0">
              <a:buNone/>
              <a:defRPr sz="1600">
                <a:solidFill>
                  <a:schemeClr val="tx1">
                    <a:tint val="82000"/>
                  </a:schemeClr>
                </a:solidFill>
              </a:defRPr>
            </a:lvl8pPr>
            <a:lvl9pPr marL="3657692" indent="0">
              <a:buNone/>
              <a:defRPr sz="160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BB868C8-6CA3-75C4-4301-1CBE8A9D8C5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D7A51CE-635F-A84E-83FF-EDBFD40B8346}" type="datetimeFigureOut">
              <a:t>16/09/2026</a:t>
            </a:fld>
            <a:endParaRPr/>
          </a:p>
        </p:txBody>
      </p:sp>
      <p:sp>
        <p:nvSpPr>
          <p:cNvPr id="5" name="Footer Placeholder 4">
            <a:extLst xmlns:a="http://schemas.openxmlformats.org/drawingml/2006/main">
              <a:ext uri="{FF2B5EF4-FFF2-40B4-BE49-F238E27FC236}">
                <a16:creationId xmlns:a16="http://schemas.microsoft.com/office/drawing/2014/main" id="{AA3BC2F6-F7D3-BA24-AA24-4D6D61A9017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3A75904-37EC-8576-21AE-6B67346CE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273FE86-7B8D-CD4A-BA58-EA6CC6940FD0}"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128728C-33D5-4489-9B42-0FF03037D82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7F360AB-F9FC-5305-9EB0-7D036DA7E00C}"/>
              </a:ext>
            </a:extLst>
          </p:cNvPr>
          <p:cNvSpPr>
            <a:spLocks xmlns:a="http://schemas.openxmlformats.org/drawingml/2006/main" noGrp="1"/>
          </p:cNvSpPr>
          <p:nvPr>
            <p:ph idx="1"/>
          </p:nvPr>
        </p:nvSpPr>
        <p:spPr>
          <a:xfrm xmlns:a="http://schemas.openxmlformats.org/drawingml/2006/main">
            <a:off x="838201"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2F6E7980-2E3D-E4E4-4D79-2F2D490EB420}"/>
              </a:ext>
            </a:extLst>
          </p:cNvPr>
          <p:cNvSpPr>
            <a:spLocks xmlns:a="http://schemas.openxmlformats.org/drawingml/2006/main" noGrp="1"/>
          </p:cNvSpPr>
          <p:nvPr>
            <p:ph idx="2"/>
          </p:nvPr>
        </p:nvSpPr>
        <p:spPr>
          <a:xfrm xmlns:a="http://schemas.openxmlformats.org/drawingml/2006/main">
            <a:off x="6172201"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E2BF835A-3451-AAD8-A1E7-605809A22DE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D7A51CE-635F-A84E-83FF-EDBFD40B8346}" type="datetimeFigureOut">
              <a:t>16/09/2026</a:t>
            </a:fld>
            <a:endParaRPr/>
          </a:p>
        </p:txBody>
      </p:sp>
      <p:sp>
        <p:nvSpPr>
          <p:cNvPr id="6" name="Footer Placeholder 5">
            <a:extLst xmlns:a="http://schemas.openxmlformats.org/drawingml/2006/main">
              <a:ext uri="{FF2B5EF4-FFF2-40B4-BE49-F238E27FC236}">
                <a16:creationId xmlns:a16="http://schemas.microsoft.com/office/drawing/2014/main" id="{603EBBA5-A827-E1ED-B430-D02A73D4D42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E78F499-D7CC-727F-68B7-122AAD59040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273FE86-7B8D-CD4A-BA58-EA6CC6940FD0}"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79F7372-F011-F0C2-DDDF-DA1DB598BDC6}"/>
              </a:ext>
            </a:extLst>
          </p:cNvPr>
          <p:cNvSpPr>
            <a:spLocks xmlns:a="http://schemas.openxmlformats.org/drawingml/2006/main" noGrp="1"/>
          </p:cNvSpPr>
          <p:nvPr>
            <p:ph type="title" idx="0"/>
          </p:nvPr>
        </p:nvSpPr>
        <p:spPr>
          <a:xfrm xmlns:a="http://schemas.openxmlformats.org/drawingml/2006/main">
            <a:off x="839789"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5904BCC-B3E0-1B51-1FF0-F297FBA4FC56}"/>
              </a:ext>
            </a:extLst>
          </p:cNvPr>
          <p:cNvSpPr>
            <a:spLocks xmlns:a="http://schemas.openxmlformats.org/drawingml/2006/main" noGrp="1"/>
          </p:cNvSpPr>
          <p:nvPr>
            <p:ph type="body" idx="1"/>
          </p:nvPr>
        </p:nvSpPr>
        <p:spPr>
          <a:xfrm xmlns:a="http://schemas.openxmlformats.org/drawingml/2006/main">
            <a:off x="839791" y="1681163"/>
            <a:ext cx="5157787" cy="823912"/>
          </a:xfrm>
        </p:spPr>
        <p:txBody>
          <a:bodyPr xmlns:a="http://schemas.openxmlformats.org/drawingml/2006/main" anchor="b"/>
          <a:lstStyle xmlns:a="http://schemas.openxmlformats.org/drawingml/2006/main">
            <a:lvl1pPr marL="0" indent="0">
              <a:buNone/>
              <a:defRPr sz="2400" b="1"/>
            </a:lvl1pPr>
            <a:lvl2pPr marL="457211" indent="0">
              <a:buNone/>
              <a:defRPr sz="2000" b="1"/>
            </a:lvl2pPr>
            <a:lvl3pPr marL="914422" indent="0">
              <a:buNone/>
              <a:defRPr sz="1801" b="1"/>
            </a:lvl3pPr>
            <a:lvl4pPr marL="1371635" indent="0">
              <a:buNone/>
              <a:defRPr sz="1600" b="1"/>
            </a:lvl4pPr>
            <a:lvl5pPr marL="1828846" indent="0">
              <a:buNone/>
              <a:defRPr sz="1600" b="1"/>
            </a:lvl5pPr>
            <a:lvl6pPr marL="2286057" indent="0">
              <a:buNone/>
              <a:defRPr sz="1600" b="1"/>
            </a:lvl6pPr>
            <a:lvl7pPr marL="2743268" indent="0">
              <a:buNone/>
              <a:defRPr sz="1600" b="1"/>
            </a:lvl7pPr>
            <a:lvl8pPr marL="3200481" indent="0">
              <a:buNone/>
              <a:defRPr sz="1600" b="1"/>
            </a:lvl8pPr>
            <a:lvl9pPr marL="3657692"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A73FDE5E-9219-E951-D813-D419C4AAC8A6}"/>
              </a:ext>
            </a:extLst>
          </p:cNvPr>
          <p:cNvSpPr>
            <a:spLocks xmlns:a="http://schemas.openxmlformats.org/drawingml/2006/main" noGrp="1"/>
          </p:cNvSpPr>
          <p:nvPr>
            <p:ph idx="2"/>
          </p:nvPr>
        </p:nvSpPr>
        <p:spPr>
          <a:xfrm xmlns:a="http://schemas.openxmlformats.org/drawingml/2006/main">
            <a:off x="839791" y="2505076"/>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7436F48C-FA92-E1FA-5B96-5015690E8874}"/>
              </a:ext>
            </a:extLst>
          </p:cNvPr>
          <p:cNvSpPr>
            <a:spLocks xmlns:a="http://schemas.openxmlformats.org/drawingml/2006/main" noGrp="1"/>
          </p:cNvSpPr>
          <p:nvPr>
            <p:ph type="body" idx="3"/>
          </p:nvPr>
        </p:nvSpPr>
        <p:spPr>
          <a:xfrm xmlns:a="http://schemas.openxmlformats.org/drawingml/2006/main">
            <a:off x="6172203" y="1681163"/>
            <a:ext cx="5183188" cy="823912"/>
          </a:xfrm>
        </p:spPr>
        <p:txBody>
          <a:bodyPr xmlns:a="http://schemas.openxmlformats.org/drawingml/2006/main" anchor="b"/>
          <a:lstStyle xmlns:a="http://schemas.openxmlformats.org/drawingml/2006/main">
            <a:lvl1pPr marL="0" indent="0">
              <a:buNone/>
              <a:defRPr sz="2400" b="1"/>
            </a:lvl1pPr>
            <a:lvl2pPr marL="457211" indent="0">
              <a:buNone/>
              <a:defRPr sz="2000" b="1"/>
            </a:lvl2pPr>
            <a:lvl3pPr marL="914422" indent="0">
              <a:buNone/>
              <a:defRPr sz="1801" b="1"/>
            </a:lvl3pPr>
            <a:lvl4pPr marL="1371635" indent="0">
              <a:buNone/>
              <a:defRPr sz="1600" b="1"/>
            </a:lvl4pPr>
            <a:lvl5pPr marL="1828846" indent="0">
              <a:buNone/>
              <a:defRPr sz="1600" b="1"/>
            </a:lvl5pPr>
            <a:lvl6pPr marL="2286057" indent="0">
              <a:buNone/>
              <a:defRPr sz="1600" b="1"/>
            </a:lvl6pPr>
            <a:lvl7pPr marL="2743268" indent="0">
              <a:buNone/>
              <a:defRPr sz="1600" b="1"/>
            </a:lvl7pPr>
            <a:lvl8pPr marL="3200481" indent="0">
              <a:buNone/>
              <a:defRPr sz="1600" b="1"/>
            </a:lvl8pPr>
            <a:lvl9pPr marL="3657692"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39AD90E-0981-1527-8ADF-021E75DA8C55}"/>
              </a:ext>
            </a:extLst>
          </p:cNvPr>
          <p:cNvSpPr>
            <a:spLocks xmlns:a="http://schemas.openxmlformats.org/drawingml/2006/main" noGrp="1"/>
          </p:cNvSpPr>
          <p:nvPr>
            <p:ph idx="4"/>
          </p:nvPr>
        </p:nvSpPr>
        <p:spPr>
          <a:xfrm xmlns:a="http://schemas.openxmlformats.org/drawingml/2006/main">
            <a:off x="6172203" y="2505076"/>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FCE6DF4F-E1AC-FE74-8383-00E0961FE4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D7A51CE-635F-A84E-83FF-EDBFD40B8346}" type="datetimeFigureOut">
              <a:t>16/09/2026</a:t>
            </a:fld>
            <a:endParaRPr/>
          </a:p>
        </p:txBody>
      </p:sp>
      <p:sp>
        <p:nvSpPr>
          <p:cNvPr id="8" name="Footer Placeholder 7">
            <a:extLst xmlns:a="http://schemas.openxmlformats.org/drawingml/2006/main">
              <a:ext uri="{FF2B5EF4-FFF2-40B4-BE49-F238E27FC236}">
                <a16:creationId xmlns:a16="http://schemas.microsoft.com/office/drawing/2014/main" id="{E6C582C0-5BFC-CC83-5225-66E184EB50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5A0CE2A-89A6-1979-A441-5890D0338F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273FE86-7B8D-CD4A-BA58-EA6CC6940FD0}"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DC36A8B-02F7-60DA-C4FA-E8B3BB209AF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F134E91F-8ADF-736A-2456-3B173C1D9E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D7A51CE-635F-A84E-83FF-EDBFD40B8346}" type="datetimeFigureOut">
              <a:t>16/09/2026</a:t>
            </a:fld>
            <a:endParaRPr/>
          </a:p>
        </p:txBody>
      </p:sp>
      <p:sp>
        <p:nvSpPr>
          <p:cNvPr id="4" name="Footer Placeholder 3">
            <a:extLst xmlns:a="http://schemas.openxmlformats.org/drawingml/2006/main">
              <a:ext uri="{FF2B5EF4-FFF2-40B4-BE49-F238E27FC236}">
                <a16:creationId xmlns:a16="http://schemas.microsoft.com/office/drawing/2014/main" id="{5AE9DBAA-84FF-61B0-5122-47A40D70893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8E47D90F-3615-7653-178C-73FF713ABDC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273FE86-7B8D-CD4A-BA58-EA6CC6940FD0}"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4893B2A-678C-FE77-67BE-F74CE233A4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D7A51CE-635F-A84E-83FF-EDBFD40B8346}" type="datetimeFigureOut">
              <a:t>16/09/2026</a:t>
            </a:fld>
            <a:endParaRPr/>
          </a:p>
        </p:txBody>
      </p:sp>
      <p:sp>
        <p:nvSpPr>
          <p:cNvPr id="3" name="Footer Placeholder 2">
            <a:extLst xmlns:a="http://schemas.openxmlformats.org/drawingml/2006/main">
              <a:ext uri="{FF2B5EF4-FFF2-40B4-BE49-F238E27FC236}">
                <a16:creationId xmlns:a16="http://schemas.microsoft.com/office/drawing/2014/main" id="{6C8938C8-451C-91F8-5734-A058FCF6E32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47AD13E6-ABBD-3531-F5B6-C3E6F09106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273FE86-7B8D-CD4A-BA58-EA6CC6940FD0}"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9B2B41-E0E7-319F-6B7E-1A7FC0B36A24}"/>
              </a:ext>
            </a:extLst>
          </p:cNvPr>
          <p:cNvSpPr>
            <a:spLocks xmlns:a="http://schemas.openxmlformats.org/drawingml/2006/main" noGrp="1"/>
          </p:cNvSpPr>
          <p:nvPr>
            <p:ph type="title" idx="0"/>
          </p:nvPr>
        </p:nvSpPr>
        <p:spPr>
          <a:xfrm xmlns:a="http://schemas.openxmlformats.org/drawingml/2006/main">
            <a:off x="839791"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8266635-EB99-C4F3-F333-A9393EC5F66B}"/>
              </a:ext>
            </a:extLst>
          </p:cNvPr>
          <p:cNvSpPr>
            <a:spLocks xmlns:a="http://schemas.openxmlformats.org/drawingml/2006/main" noGrp="1"/>
          </p:cNvSpPr>
          <p:nvPr>
            <p:ph idx="1"/>
          </p:nvPr>
        </p:nvSpPr>
        <p:spPr>
          <a:xfrm xmlns:a="http://schemas.openxmlformats.org/drawingml/2006/main">
            <a:off x="5183190" y="987425"/>
            <a:ext cx="6172201"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F21193AF-C87D-C32B-DD3D-EFC0D6E19696}"/>
              </a:ext>
            </a:extLst>
          </p:cNvPr>
          <p:cNvSpPr>
            <a:spLocks xmlns:a="http://schemas.openxmlformats.org/drawingml/2006/main" noGrp="1"/>
          </p:cNvSpPr>
          <p:nvPr>
            <p:ph type="body" idx="2"/>
          </p:nvPr>
        </p:nvSpPr>
        <p:spPr>
          <a:xfrm xmlns:a="http://schemas.openxmlformats.org/drawingml/2006/main">
            <a:off x="839791" y="2057400"/>
            <a:ext cx="3932236" cy="3811588"/>
          </a:xfrm>
        </p:spPr>
        <p:txBody>
          <a:bodyPr xmlns:a="http://schemas.openxmlformats.org/drawingml/2006/main"/>
          <a:lstStyle xmlns:a="http://schemas.openxmlformats.org/drawingml/2006/main">
            <a:lvl1pPr marL="0" indent="0">
              <a:buNone/>
              <a:defRPr sz="1600"/>
            </a:lvl1pPr>
            <a:lvl2pPr marL="457211" indent="0">
              <a:buNone/>
              <a:defRPr sz="1401"/>
            </a:lvl2pPr>
            <a:lvl3pPr marL="914422" indent="0">
              <a:buNone/>
              <a:defRPr sz="1200"/>
            </a:lvl3pPr>
            <a:lvl4pPr marL="1371635" indent="0">
              <a:buNone/>
              <a:defRPr sz="1001"/>
            </a:lvl4pPr>
            <a:lvl5pPr marL="1828846" indent="0">
              <a:buNone/>
              <a:defRPr sz="1001"/>
            </a:lvl5pPr>
            <a:lvl6pPr marL="2286057" indent="0">
              <a:buNone/>
              <a:defRPr sz="1001"/>
            </a:lvl6pPr>
            <a:lvl7pPr marL="2743268" indent="0">
              <a:buNone/>
              <a:defRPr sz="1001"/>
            </a:lvl7pPr>
            <a:lvl8pPr marL="3200481" indent="0">
              <a:buNone/>
              <a:defRPr sz="1001"/>
            </a:lvl8pPr>
            <a:lvl9pPr marL="3657692" indent="0">
              <a:buNone/>
              <a:defRPr sz="1001"/>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D8D767A-6731-E19C-135A-5C565366E6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D7A51CE-635F-A84E-83FF-EDBFD40B8346}" type="datetimeFigureOut">
              <a:t>16/09/2026</a:t>
            </a:fld>
            <a:endParaRPr/>
          </a:p>
        </p:txBody>
      </p:sp>
      <p:sp>
        <p:nvSpPr>
          <p:cNvPr id="6" name="Footer Placeholder 5">
            <a:extLst xmlns:a="http://schemas.openxmlformats.org/drawingml/2006/main">
              <a:ext uri="{FF2B5EF4-FFF2-40B4-BE49-F238E27FC236}">
                <a16:creationId xmlns:a16="http://schemas.microsoft.com/office/drawing/2014/main" id="{43026580-1163-D775-E9BF-3B459A0A58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00CA2AF-4E5A-8E02-BD49-05BDA7D966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273FE86-7B8D-CD4A-BA58-EA6CC6940FD0}"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A0A45F-D989-EBB6-DCD4-5231927E2848}"/>
              </a:ext>
            </a:extLst>
          </p:cNvPr>
          <p:cNvSpPr>
            <a:spLocks xmlns:a="http://schemas.openxmlformats.org/drawingml/2006/main" noGrp="1"/>
          </p:cNvSpPr>
          <p:nvPr>
            <p:ph type="title" idx="0"/>
          </p:nvPr>
        </p:nvSpPr>
        <p:spPr>
          <a:xfrm xmlns:a="http://schemas.openxmlformats.org/drawingml/2006/main">
            <a:off x="839791"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4A67D8E-567E-5784-A4A6-B6B7CDC70F6F}"/>
              </a:ext>
            </a:extLst>
          </p:cNvPr>
          <p:cNvSpPr>
            <a:spLocks xmlns:a="http://schemas.openxmlformats.org/drawingml/2006/main" noGrp="1"/>
          </p:cNvSpPr>
          <p:nvPr>
            <p:ph type="pic" idx="1"/>
          </p:nvPr>
        </p:nvSpPr>
        <p:spPr>
          <a:xfrm xmlns:a="http://schemas.openxmlformats.org/drawingml/2006/main">
            <a:off x="5183190" y="987425"/>
            <a:ext cx="6172201" cy="4873625"/>
          </a:xfrm>
        </p:spPr>
        <p:txBody>
          <a:bodyPr xmlns:a="http://schemas.openxmlformats.org/drawingml/2006/main"/>
          <a:lstStyle xmlns:a="http://schemas.openxmlformats.org/drawingml/2006/main">
            <a:lvl1pPr marL="0" indent="0">
              <a:buNone/>
              <a:defRPr sz="3200"/>
            </a:lvl1pPr>
            <a:lvl2pPr marL="457211" indent="0">
              <a:buNone/>
              <a:defRPr sz="2800"/>
            </a:lvl2pPr>
            <a:lvl3pPr marL="914422" indent="0">
              <a:buNone/>
              <a:defRPr sz="2400"/>
            </a:lvl3pPr>
            <a:lvl4pPr marL="1371635" indent="0">
              <a:buNone/>
              <a:defRPr sz="2000"/>
            </a:lvl4pPr>
            <a:lvl5pPr marL="1828846" indent="0">
              <a:buNone/>
              <a:defRPr sz="2000"/>
            </a:lvl5pPr>
            <a:lvl6pPr marL="2286057" indent="0">
              <a:buNone/>
              <a:defRPr sz="2000"/>
            </a:lvl6pPr>
            <a:lvl7pPr marL="2743268" indent="0">
              <a:buNone/>
              <a:defRPr sz="2000"/>
            </a:lvl7pPr>
            <a:lvl8pPr marL="3200481" indent="0">
              <a:buNone/>
              <a:defRPr sz="2000"/>
            </a:lvl8pPr>
            <a:lvl9pPr marL="3657692"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50A67A10-F4D2-69A1-9316-DD13D41039D3}"/>
              </a:ext>
            </a:extLst>
          </p:cNvPr>
          <p:cNvSpPr>
            <a:spLocks xmlns:a="http://schemas.openxmlformats.org/drawingml/2006/main" noGrp="1"/>
          </p:cNvSpPr>
          <p:nvPr>
            <p:ph type="body" idx="2"/>
          </p:nvPr>
        </p:nvSpPr>
        <p:spPr>
          <a:xfrm xmlns:a="http://schemas.openxmlformats.org/drawingml/2006/main">
            <a:off x="839791" y="2057400"/>
            <a:ext cx="3932236" cy="3811588"/>
          </a:xfrm>
        </p:spPr>
        <p:txBody>
          <a:bodyPr xmlns:a="http://schemas.openxmlformats.org/drawingml/2006/main"/>
          <a:lstStyle xmlns:a="http://schemas.openxmlformats.org/drawingml/2006/main">
            <a:lvl1pPr marL="0" indent="0">
              <a:buNone/>
              <a:defRPr sz="1600"/>
            </a:lvl1pPr>
            <a:lvl2pPr marL="457211" indent="0">
              <a:buNone/>
              <a:defRPr sz="1401"/>
            </a:lvl2pPr>
            <a:lvl3pPr marL="914422" indent="0">
              <a:buNone/>
              <a:defRPr sz="1200"/>
            </a:lvl3pPr>
            <a:lvl4pPr marL="1371635" indent="0">
              <a:buNone/>
              <a:defRPr sz="1001"/>
            </a:lvl4pPr>
            <a:lvl5pPr marL="1828846" indent="0">
              <a:buNone/>
              <a:defRPr sz="1001"/>
            </a:lvl5pPr>
            <a:lvl6pPr marL="2286057" indent="0">
              <a:buNone/>
              <a:defRPr sz="1001"/>
            </a:lvl6pPr>
            <a:lvl7pPr marL="2743268" indent="0">
              <a:buNone/>
              <a:defRPr sz="1001"/>
            </a:lvl7pPr>
            <a:lvl8pPr marL="3200481" indent="0">
              <a:buNone/>
              <a:defRPr sz="1001"/>
            </a:lvl8pPr>
            <a:lvl9pPr marL="3657692" indent="0">
              <a:buNone/>
              <a:defRPr sz="1001"/>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666A8D6-1B04-8E47-0DBF-776407174F7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D7A51CE-635F-A84E-83FF-EDBFD40B8346}" type="datetimeFigureOut">
              <a:t>16/09/2026</a:t>
            </a:fld>
            <a:endParaRPr/>
          </a:p>
        </p:txBody>
      </p:sp>
      <p:sp>
        <p:nvSpPr>
          <p:cNvPr id="6" name="Footer Placeholder 5">
            <a:extLst xmlns:a="http://schemas.openxmlformats.org/drawingml/2006/main">
              <a:ext uri="{FF2B5EF4-FFF2-40B4-BE49-F238E27FC236}">
                <a16:creationId xmlns:a16="http://schemas.microsoft.com/office/drawing/2014/main" id="{B774EF45-CADC-1BE4-8E51-EE3E195B70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3E6AE8C-0E2E-DDB1-7DD8-FDDC3C68F7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273FE86-7B8D-CD4A-BA58-EA6CC6940FD0}"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448AC0-4137-6FCC-11FC-32A042E4B62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80277845-739F-94FA-C63B-2A1AC9E72BD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3CC54C7-C7C9-284F-BEF7-F36CDA4E14F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D7A51CE-635F-A84E-83FF-EDBFD40B8346}" type="datetimeFigureOut">
              <a:t>16/09/2026</a:t>
            </a:fld>
            <a:endParaRPr/>
          </a:p>
        </p:txBody>
      </p:sp>
      <p:sp>
        <p:nvSpPr>
          <p:cNvPr id="5" name="Footer Placeholder 4">
            <a:extLst xmlns:a="http://schemas.openxmlformats.org/drawingml/2006/main">
              <a:ext uri="{FF2B5EF4-FFF2-40B4-BE49-F238E27FC236}">
                <a16:creationId xmlns:a16="http://schemas.microsoft.com/office/drawing/2014/main" id="{CACA5E7F-E0EB-97ED-A6AD-82005D4DC3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133AA89-4696-5083-E568-9D538B32A5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273FE86-7B8D-CD4A-BA58-EA6CC6940FD0}"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7C094BA-BFE8-116D-1A31-553C8B949319}"/>
              </a:ext>
            </a:extLst>
          </p:cNvPr>
          <p:cNvSpPr>
            <a:spLocks xmlns:a="http://schemas.openxmlformats.org/drawingml/2006/main" noGrp="1"/>
          </p:cNvSpPr>
          <p:nvPr>
            <p:ph type="title" idx="0"/>
          </p:nvPr>
        </p:nvSpPr>
        <p:spPr>
          <a:xfrm xmlns:a="http://schemas.openxmlformats.org/drawingml/2006/main">
            <a:off x="8724899"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BACDF4A-FC06-225B-D14E-2F44B8FC472B}"/>
              </a:ext>
            </a:extLst>
          </p:cNvPr>
          <p:cNvSpPr>
            <a:spLocks xmlns:a="http://schemas.openxmlformats.org/drawingml/2006/main" noGrp="1"/>
          </p:cNvSpPr>
          <p:nvPr>
            <p:ph type="body" idx="1"/>
          </p:nvPr>
        </p:nvSpPr>
        <p:spPr>
          <a:xfrm xmlns:a="http://schemas.openxmlformats.org/drawingml/2006/main">
            <a:off x="838199"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5AB73F4-406B-8B25-0127-69F6BF9DE5C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D7A51CE-635F-A84E-83FF-EDBFD40B8346}" type="datetimeFigureOut">
              <a:t>16/09/2026</a:t>
            </a:fld>
            <a:endParaRPr/>
          </a:p>
        </p:txBody>
      </p:sp>
      <p:sp>
        <p:nvSpPr>
          <p:cNvPr id="5" name="Footer Placeholder 4">
            <a:extLst xmlns:a="http://schemas.openxmlformats.org/drawingml/2006/main">
              <a:ext uri="{FF2B5EF4-FFF2-40B4-BE49-F238E27FC236}">
                <a16:creationId xmlns:a16="http://schemas.microsoft.com/office/drawing/2014/main" id="{91B325FC-DCF0-C80C-F6C7-EFF8164BCB5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A4799AD-B389-2B79-B81F-D37132DAA90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273FE86-7B8D-CD4A-BA58-EA6CC6940FD0}"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ea0a10c2fe4853" /><Relationship Type="http://schemas.openxmlformats.org/officeDocument/2006/relationships/slideLayout" Target="/ppt/slideLayouts/slideLayout1.xml" Id="R0aa977dee5e94051" /><Relationship Type="http://schemas.openxmlformats.org/officeDocument/2006/relationships/slideLayout" Target="/ppt/slideLayouts/slideLayout2.xml" Id="R103d15ac5f3d459c" /><Relationship Type="http://schemas.openxmlformats.org/officeDocument/2006/relationships/slideLayout" Target="/ppt/slideLayouts/slideLayout3.xml" Id="Rd84f0804d7814e6a" /><Relationship Type="http://schemas.openxmlformats.org/officeDocument/2006/relationships/slideLayout" Target="/ppt/slideLayouts/slideLayout4.xml" Id="R6bf26f64599f4085" /><Relationship Type="http://schemas.openxmlformats.org/officeDocument/2006/relationships/slideLayout" Target="/ppt/slideLayouts/slideLayout5.xml" Id="Rd8352525ae94454d" /><Relationship Type="http://schemas.openxmlformats.org/officeDocument/2006/relationships/slideLayout" Target="/ppt/slideLayouts/slideLayout6.xml" Id="R34f002e4ea214887" /><Relationship Type="http://schemas.openxmlformats.org/officeDocument/2006/relationships/slideLayout" Target="/ppt/slideLayouts/slideLayout7.xml" Id="Rd2f2f936805b4607" /><Relationship Type="http://schemas.openxmlformats.org/officeDocument/2006/relationships/slideLayout" Target="/ppt/slideLayouts/slideLayout8.xml" Id="R8d3a5d3bc2174d20" /><Relationship Type="http://schemas.openxmlformats.org/officeDocument/2006/relationships/slideLayout" Target="/ppt/slideLayouts/slideLayout9.xml" Id="R5aaabd11393f4e1b" /><Relationship Type="http://schemas.openxmlformats.org/officeDocument/2006/relationships/slideLayout" Target="/ppt/slideLayouts/slideLayout10.xml" Id="Re580576a65744235" /><Relationship Type="http://schemas.openxmlformats.org/officeDocument/2006/relationships/slideLayout" Target="/ppt/slideLayouts/slideLayout11.xml" Id="Rcc223ed6c683443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BCBD2CE-C431-1672-3406-DA0F6463FDD7}"/>
              </a:ext>
            </a:extLst>
          </p:cNvPr>
          <p:cNvSpPr>
            <a:spLocks xmlns:a="http://schemas.openxmlformats.org/drawingml/2006/main" noGrp="1"/>
          </p:cNvSpPr>
          <p:nvPr>
            <p:ph type="title" idx="0"/>
          </p:nvPr>
        </p:nvSpPr>
        <p:spPr>
          <a:xfrm xmlns:a="http://schemas.openxmlformats.org/drawingml/2006/main">
            <a:off x="838204"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9D8B0F3-28EF-E864-A06D-4C5284BB347C}"/>
              </a:ext>
            </a:extLst>
          </p:cNvPr>
          <p:cNvSpPr>
            <a:spLocks xmlns:a="http://schemas.openxmlformats.org/drawingml/2006/main" noGrp="1"/>
          </p:cNvSpPr>
          <p:nvPr>
            <p:ph type="body" idx="1"/>
          </p:nvPr>
        </p:nvSpPr>
        <p:spPr>
          <a:xfrm xmlns:a="http://schemas.openxmlformats.org/drawingml/2006/main">
            <a:off x="838204"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93C0D82-3A15-8F0D-1665-B5C2E47B4258}"/>
              </a:ext>
            </a:extLst>
          </p:cNvPr>
          <p:cNvSpPr>
            <a:spLocks xmlns:a="http://schemas.openxmlformats.org/drawingml/2006/main" noGrp="1"/>
          </p:cNvSpPr>
          <p:nvPr>
            <p:ph type="dt" idx="2"/>
          </p:nvPr>
        </p:nvSpPr>
        <p:spPr>
          <a:xfrm xmlns:a="http://schemas.openxmlformats.org/drawingml/2006/main">
            <a:off x="838199" y="6356352"/>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5D7A51CE-635F-A84E-83FF-EDBFD40B8346}" type="datetimeFigureOut">
              <a:t>16/09/2026</a:t>
            </a:fld>
            <a:endParaRPr/>
          </a:p>
        </p:txBody>
      </p:sp>
      <p:sp>
        <p:nvSpPr>
          <p:cNvPr id="5" name="Footer Placeholder 4">
            <a:extLst xmlns:a="http://schemas.openxmlformats.org/drawingml/2006/main">
              <a:ext uri="{FF2B5EF4-FFF2-40B4-BE49-F238E27FC236}">
                <a16:creationId xmlns:a16="http://schemas.microsoft.com/office/drawing/2014/main" id="{9DF7D16A-D2C8-FFD0-BC02-992C30255F36}"/>
              </a:ext>
            </a:extLst>
          </p:cNvPr>
          <p:cNvSpPr>
            <a:spLocks xmlns:a="http://schemas.openxmlformats.org/drawingml/2006/main" noGrp="1"/>
          </p:cNvSpPr>
          <p:nvPr>
            <p:ph type="ftr" idx="3"/>
          </p:nvPr>
        </p:nvSpPr>
        <p:spPr>
          <a:xfrm xmlns:a="http://schemas.openxmlformats.org/drawingml/2006/main">
            <a:off x="4038604" y="6356352"/>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BB4135F-B222-3122-1726-4721518394FF}"/>
              </a:ext>
            </a:extLst>
          </p:cNvPr>
          <p:cNvSpPr>
            <a:spLocks xmlns:a="http://schemas.openxmlformats.org/drawingml/2006/main" noGrp="1"/>
          </p:cNvSpPr>
          <p:nvPr>
            <p:ph type="sldNum" idx="4"/>
          </p:nvPr>
        </p:nvSpPr>
        <p:spPr>
          <a:xfrm xmlns:a="http://schemas.openxmlformats.org/drawingml/2006/main">
            <a:off x="8610601" y="6356352"/>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7273FE86-7B8D-CD4A-BA58-EA6CC6940FD0}"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a977dee5e94051"/>
    <p:sldLayoutId xmlns:r="http://schemas.openxmlformats.org/officeDocument/2006/relationships" id="2147483650" r:id="R103d15ac5f3d459c"/>
    <p:sldLayoutId xmlns:r="http://schemas.openxmlformats.org/officeDocument/2006/relationships" id="2147483651" r:id="Rd84f0804d7814e6a"/>
    <p:sldLayoutId xmlns:r="http://schemas.openxmlformats.org/officeDocument/2006/relationships" id="2147483652" r:id="R6bf26f64599f4085"/>
    <p:sldLayoutId xmlns:r="http://schemas.openxmlformats.org/officeDocument/2006/relationships" id="2147483653" r:id="Rd8352525ae94454d"/>
    <p:sldLayoutId xmlns:r="http://schemas.openxmlformats.org/officeDocument/2006/relationships" id="2147483654" r:id="R34f002e4ea214887"/>
    <p:sldLayoutId xmlns:r="http://schemas.openxmlformats.org/officeDocument/2006/relationships" id="2147483655" r:id="Rd2f2f936805b4607"/>
    <p:sldLayoutId xmlns:r="http://schemas.openxmlformats.org/officeDocument/2006/relationships" id="2147483656" r:id="R8d3a5d3bc2174d20"/>
    <p:sldLayoutId xmlns:r="http://schemas.openxmlformats.org/officeDocument/2006/relationships" id="2147483657" r:id="R5aaabd11393f4e1b"/>
    <p:sldLayoutId xmlns:r="http://schemas.openxmlformats.org/officeDocument/2006/relationships" id="2147483658" r:id="Re580576a65744235"/>
    <p:sldLayoutId xmlns:r="http://schemas.openxmlformats.org/officeDocument/2006/relationships" id="2147483659" r:id="Rcc223ed6c683443b"/>
  </p:sldLayoutIdLst>
  <p:txStyles>
    <p:titleStyle>
      <a:lvl1pPr xmlns:a="http://schemas.openxmlformats.org/drawingml/2006/main" algn="l" defTabSz="914422">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7" indent="-228607" algn="l" defTabSz="914422">
        <a:lnSpc>
          <a:spcPct val="90000"/>
        </a:lnSpc>
        <a:spcBef>
          <a:spcPts val="1001"/>
        </a:spcBef>
        <a:buFont typeface="Arial"/>
        <a:buChar char="•"/>
        <a:defRPr sz="2800" kern="1200">
          <a:solidFill>
            <a:schemeClr val="tx1"/>
          </a:solidFill>
          <a:latin typeface="+mn-lt"/>
          <a:ea typeface="+mn-lt"/>
          <a:cs typeface="+mn-lt"/>
        </a:defRPr>
      </a:lvl1pPr>
      <a:lvl2pPr xmlns:a="http://schemas.openxmlformats.org/drawingml/2006/main" marL="685818" indent="-228607" algn="l" defTabSz="914422">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29" indent="-228607" algn="l" defTabSz="914422">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40" indent="-228607" algn="l" defTabSz="914422">
        <a:lnSpc>
          <a:spcPct val="90000"/>
        </a:lnSpc>
        <a:spcBef>
          <a:spcPts val="500"/>
        </a:spcBef>
        <a:buFont typeface="Arial"/>
        <a:buChar char="•"/>
        <a:defRPr sz="1801" kern="1200">
          <a:solidFill>
            <a:schemeClr val="tx1"/>
          </a:solidFill>
          <a:latin typeface="+mn-lt"/>
          <a:ea typeface="+mn-lt"/>
          <a:cs typeface="+mn-lt"/>
        </a:defRPr>
      </a:lvl4pPr>
      <a:lvl5pPr xmlns:a="http://schemas.openxmlformats.org/drawingml/2006/main" marL="2057453" indent="-228607" algn="l" defTabSz="914422">
        <a:lnSpc>
          <a:spcPct val="90000"/>
        </a:lnSpc>
        <a:spcBef>
          <a:spcPts val="500"/>
        </a:spcBef>
        <a:buFont typeface="Arial"/>
        <a:buChar char="•"/>
        <a:defRPr sz="1801" kern="1200">
          <a:solidFill>
            <a:schemeClr val="tx1"/>
          </a:solidFill>
          <a:latin typeface="+mn-lt"/>
          <a:ea typeface="+mn-lt"/>
          <a:cs typeface="+mn-lt"/>
        </a:defRPr>
      </a:lvl5pPr>
      <a:lvl6pPr xmlns:a="http://schemas.openxmlformats.org/drawingml/2006/main" marL="2514664" indent="-228607" algn="l" defTabSz="914422">
        <a:lnSpc>
          <a:spcPct val="90000"/>
        </a:lnSpc>
        <a:spcBef>
          <a:spcPts val="500"/>
        </a:spcBef>
        <a:buFont typeface="Arial"/>
        <a:buChar char="•"/>
        <a:defRPr sz="1801" kern="1200">
          <a:solidFill>
            <a:schemeClr val="tx1"/>
          </a:solidFill>
          <a:latin typeface="+mn-lt"/>
          <a:ea typeface="+mn-lt"/>
          <a:cs typeface="+mn-lt"/>
        </a:defRPr>
      </a:lvl6pPr>
      <a:lvl7pPr xmlns:a="http://schemas.openxmlformats.org/drawingml/2006/main" marL="2971875" indent="-228607" algn="l" defTabSz="914422">
        <a:lnSpc>
          <a:spcPct val="90000"/>
        </a:lnSpc>
        <a:spcBef>
          <a:spcPts val="500"/>
        </a:spcBef>
        <a:buFont typeface="Arial"/>
        <a:buChar char="•"/>
        <a:defRPr sz="1801" kern="1200">
          <a:solidFill>
            <a:schemeClr val="tx1"/>
          </a:solidFill>
          <a:latin typeface="+mn-lt"/>
          <a:ea typeface="+mn-lt"/>
          <a:cs typeface="+mn-lt"/>
        </a:defRPr>
      </a:lvl7pPr>
      <a:lvl8pPr xmlns:a="http://schemas.openxmlformats.org/drawingml/2006/main" marL="3429086" indent="-228607" algn="l" defTabSz="914422">
        <a:lnSpc>
          <a:spcPct val="90000"/>
        </a:lnSpc>
        <a:spcBef>
          <a:spcPts val="500"/>
        </a:spcBef>
        <a:buFont typeface="Arial"/>
        <a:buChar char="•"/>
        <a:defRPr sz="1801" kern="1200">
          <a:solidFill>
            <a:schemeClr val="tx1"/>
          </a:solidFill>
          <a:latin typeface="+mn-lt"/>
          <a:ea typeface="+mn-lt"/>
          <a:cs typeface="+mn-lt"/>
        </a:defRPr>
      </a:lvl8pPr>
      <a:lvl9pPr xmlns:a="http://schemas.openxmlformats.org/drawingml/2006/main" marL="3886297" indent="-228607" algn="l" defTabSz="914422">
        <a:lnSpc>
          <a:spcPct val="90000"/>
        </a:lnSpc>
        <a:spcBef>
          <a:spcPts val="500"/>
        </a:spcBef>
        <a:buFont typeface="Arial"/>
        <a:buChar char="•"/>
        <a:defRPr sz="1801" kern="1200">
          <a:solidFill>
            <a:schemeClr val="tx1"/>
          </a:solidFill>
          <a:latin typeface="+mn-lt"/>
          <a:ea typeface="+mn-lt"/>
          <a:cs typeface="+mn-lt"/>
        </a:defRPr>
      </a:lvl9pPr>
    </p:bodyStyle>
    <p:otherStyle>
      <a:lvl1pPr xmlns:a="http://schemas.openxmlformats.org/drawingml/2006/main" marL="0" algn="l" defTabSz="914422">
        <a:buNone/>
        <a:defRPr sz="1801" kern="1200">
          <a:solidFill>
            <a:schemeClr val="tx1"/>
          </a:solidFill>
          <a:latin typeface="+mn-lt"/>
          <a:ea typeface="+mn-lt"/>
          <a:cs typeface="+mn-lt"/>
        </a:defRPr>
      </a:lvl1pPr>
      <a:lvl2pPr xmlns:a="http://schemas.openxmlformats.org/drawingml/2006/main" marL="457211" algn="l" defTabSz="914422">
        <a:buNone/>
        <a:defRPr sz="1801" kern="1200">
          <a:solidFill>
            <a:schemeClr val="tx1"/>
          </a:solidFill>
          <a:latin typeface="+mn-lt"/>
          <a:ea typeface="+mn-lt"/>
          <a:cs typeface="+mn-lt"/>
        </a:defRPr>
      </a:lvl2pPr>
      <a:lvl3pPr xmlns:a="http://schemas.openxmlformats.org/drawingml/2006/main" marL="914422" algn="l" defTabSz="914422">
        <a:buNone/>
        <a:defRPr sz="1801" kern="1200">
          <a:solidFill>
            <a:schemeClr val="tx1"/>
          </a:solidFill>
          <a:latin typeface="+mn-lt"/>
          <a:ea typeface="+mn-lt"/>
          <a:cs typeface="+mn-lt"/>
        </a:defRPr>
      </a:lvl3pPr>
      <a:lvl4pPr xmlns:a="http://schemas.openxmlformats.org/drawingml/2006/main" marL="1371635" algn="l" defTabSz="914422">
        <a:buNone/>
        <a:defRPr sz="1801" kern="1200">
          <a:solidFill>
            <a:schemeClr val="tx1"/>
          </a:solidFill>
          <a:latin typeface="+mn-lt"/>
          <a:ea typeface="+mn-lt"/>
          <a:cs typeface="+mn-lt"/>
        </a:defRPr>
      </a:lvl4pPr>
      <a:lvl5pPr xmlns:a="http://schemas.openxmlformats.org/drawingml/2006/main" marL="1828846" algn="l" defTabSz="914422">
        <a:buNone/>
        <a:defRPr sz="1801" kern="1200">
          <a:solidFill>
            <a:schemeClr val="tx1"/>
          </a:solidFill>
          <a:latin typeface="+mn-lt"/>
          <a:ea typeface="+mn-lt"/>
          <a:cs typeface="+mn-lt"/>
        </a:defRPr>
      </a:lvl5pPr>
      <a:lvl6pPr xmlns:a="http://schemas.openxmlformats.org/drawingml/2006/main" marL="2286057" algn="l" defTabSz="914422">
        <a:buNone/>
        <a:defRPr sz="1801" kern="1200">
          <a:solidFill>
            <a:schemeClr val="tx1"/>
          </a:solidFill>
          <a:latin typeface="+mn-lt"/>
          <a:ea typeface="+mn-lt"/>
          <a:cs typeface="+mn-lt"/>
        </a:defRPr>
      </a:lvl6pPr>
      <a:lvl7pPr xmlns:a="http://schemas.openxmlformats.org/drawingml/2006/main" marL="2743268" algn="l" defTabSz="914422">
        <a:buNone/>
        <a:defRPr sz="1801" kern="1200">
          <a:solidFill>
            <a:schemeClr val="tx1"/>
          </a:solidFill>
          <a:latin typeface="+mn-lt"/>
          <a:ea typeface="+mn-lt"/>
          <a:cs typeface="+mn-lt"/>
        </a:defRPr>
      </a:lvl7pPr>
      <a:lvl8pPr xmlns:a="http://schemas.openxmlformats.org/drawingml/2006/main" marL="3200481" algn="l" defTabSz="914422">
        <a:buNone/>
        <a:defRPr sz="1801" kern="1200">
          <a:solidFill>
            <a:schemeClr val="tx1"/>
          </a:solidFill>
          <a:latin typeface="+mn-lt"/>
          <a:ea typeface="+mn-lt"/>
          <a:cs typeface="+mn-lt"/>
        </a:defRPr>
      </a:lvl8pPr>
      <a:lvl9pPr xmlns:a="http://schemas.openxmlformats.org/drawingml/2006/main" marL="3657692" algn="l" defTabSz="914422">
        <a:buNone/>
        <a:defRPr sz="1801"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bf98edb9ce4a02" /><Relationship Type="http://schemas.openxmlformats.org/officeDocument/2006/relationships/image" Target="/ppt/media/image.jpeg" Id="Rf982a7564ee846b7" /><Relationship Type="http://schemas.openxmlformats.org/officeDocument/2006/relationships/image" Target="/ppt/media/image.png" Id="R2d33059d21fe41df" /><Relationship Type="http://schemas.openxmlformats.org/officeDocument/2006/relationships/notesSlide" Target="/ppt/notesSlides/notesSlide1.xml" Id="R66ce5315c12f43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4d40505b5448d3" /><Relationship Type="http://schemas.openxmlformats.org/officeDocument/2006/relationships/notesSlide" Target="/ppt/notesSlides/notesSlide2.xml" Id="R9fbb60f26b8e45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55f20728d5414b" /><Relationship Type="http://schemas.openxmlformats.org/officeDocument/2006/relationships/notesSlide" Target="/ppt/notesSlides/notesSlide3.xml" Id="R57db979b3e7b43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10aec4d37344e3" /><Relationship Type="http://schemas.openxmlformats.org/officeDocument/2006/relationships/chart" Target="/ppt/slides/charts/chart1.xml" Id="Re67e516842c745e3" /><Relationship Type="http://schemas.openxmlformats.org/officeDocument/2006/relationships/chart" Target="/ppt/slides/charts/chart2.xml" Id="R4199dd876b9443a1" /><Relationship Type="http://schemas.openxmlformats.org/officeDocument/2006/relationships/notesSlide" Target="/ppt/notesSlides/notesSlide4.xml" Id="R7d5711a39c8647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01517960384644" /><Relationship Type="http://schemas.openxmlformats.org/officeDocument/2006/relationships/chart" Target="/ppt/slides/charts/chart3.xml" Id="R372249569d7242ed" /><Relationship Type="http://schemas.openxmlformats.org/officeDocument/2006/relationships/chart" Target="/ppt/slides/charts/chart4.xml" Id="R1b2d1e586ef44fdc" /><Relationship Type="http://schemas.openxmlformats.org/officeDocument/2006/relationships/notesSlide" Target="/ppt/notesSlides/notesSlide5.xml" Id="R9aade7f07f9342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524fdf16f0451a" /><Relationship Type="http://schemas.openxmlformats.org/officeDocument/2006/relationships/chart" Target="/ppt/slides/charts/chart5.xml" Id="R36dcaf1ea4fc4741" /><Relationship Type="http://schemas.openxmlformats.org/officeDocument/2006/relationships/notesSlide" Target="/ppt/notesSlides/notesSlide6.xml" Id="R4fcf038593e146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ea404318da4c4d" /><Relationship Type="http://schemas.openxmlformats.org/officeDocument/2006/relationships/chart" Target="/ppt/slides/charts/chart6.xml" Id="Rca3f4c531bc44afb" /><Relationship Type="http://schemas.openxmlformats.org/officeDocument/2006/relationships/chart" Target="/ppt/slides/charts/chart7.xml" Id="Rb0363fb9ba764e0c" /><Relationship Type="http://schemas.openxmlformats.org/officeDocument/2006/relationships/notesSlide" Target="/ppt/notesSlides/notesSlide7.xml" Id="R8ae47197a99947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4e267896155466a" /><Relationship Type="http://schemas.openxmlformats.org/officeDocument/2006/relationships/image" Target="/ppt/media/image.gif" Id="R7b4b70315b554d1d" /><Relationship Type="http://schemas.openxmlformats.org/officeDocument/2006/relationships/notesSlide" Target="/ppt/notesSlides/notesSlide8.xml" Id="R7a0e8712df9840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0c92602a1e4431e" /><Relationship Type="http://schemas.openxmlformats.org/officeDocument/2006/relationships/image" Target="/ppt/media/image.emf" Id="R15a99d6323ef4ce5" /><Relationship Type="http://schemas.openxmlformats.org/officeDocument/2006/relationships/notesSlide" Target="/ppt/notesSlides/notesSlide9.xml" Id="R8ba971607e3a4f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6f38b4b69d6457b" /><Relationship Type="http://schemas.openxmlformats.org/officeDocument/2006/relationships/image" Target="/ppt/media/image2.png" Id="R4e77bfb540324b43" /><Relationship Type="http://schemas.openxmlformats.org/officeDocument/2006/relationships/notesSlide" Target="/ppt/notesSlides/notesSlide10.xml" Id="R9d41b8f07d8448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709e7434bae4a5f" /><Relationship Type="http://schemas.openxmlformats.org/officeDocument/2006/relationships/image" Target="/ppt/media/image3.png" Id="R3bafc87119cd457a" /><Relationship Type="http://schemas.openxmlformats.org/officeDocument/2006/relationships/notesSlide" Target="/ppt/notesSlides/notesSlide11.xml" Id="Rba8a6645b4a844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de5158551d44d71" /><Relationship Type="http://schemas.openxmlformats.org/officeDocument/2006/relationships/image" Target="/ppt/media/image4.png" Id="R7f53552bcf9f43f7" /><Relationship Type="http://schemas.openxmlformats.org/officeDocument/2006/relationships/notesSlide" Target="/ppt/notesSlides/notesSlide12.xml" Id="Ra133a4fefbfb41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735ac340e0f48f9" /><Relationship Type="http://schemas.openxmlformats.org/officeDocument/2006/relationships/image" Target="/ppt/media/image5.png" Id="R5ff9b6e351d542d0" /><Relationship Type="http://schemas.openxmlformats.org/officeDocument/2006/relationships/notesSlide" Target="/ppt/notesSlides/notesSlide13.xml" Id="R8a39bb08ed5a434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dfb0f3869f34016" /><Relationship Type="http://schemas.openxmlformats.org/officeDocument/2006/relationships/image" Target="/ppt/media/image6.png" Id="Rf2f4bef8667a4ed2" /><Relationship Type="http://schemas.openxmlformats.org/officeDocument/2006/relationships/notesSlide" Target="/ppt/notesSlides/notesSlide14.xml" Id="R4b1cddba0c3349a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f07fe3b39d14176" /><Relationship Type="http://schemas.openxmlformats.org/officeDocument/2006/relationships/notesSlide" Target="/ppt/notesSlides/notesSlide15.xml" Id="R8cd9fe6ede1d47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a55f445ebb14476" /><Relationship Type="http://schemas.openxmlformats.org/officeDocument/2006/relationships/notesSlide" Target="/ppt/notesSlides/notesSlide16.xml" Id="R600b859612d7489c" /></Relationships>
</file>

<file path=ppt/slides/charts/chart1.xml><?xml version="1.0" encoding="utf-8"?>
<c:chartSpace xmlns:c="http://schemas.openxmlformats.org/drawingml/2006/chart">
  <c:lang val="en-US"/>
  <c:chart>
    <c:plotArea>
      <c:scatterChart>
        <c:scatterStyle val="lineMarker"/>
        <c:ser>
          <c:idx val="0"/>
          <c:order val="0"/>
          <c:tx>
            <c:v>lr = 10⁻⁴</c:v>
          </c:tx>
          <c:spPr>
            <a:ln xmlns:a="http://schemas.openxmlformats.org/drawingml/2006/main" w="28575">
              <a:solidFill>
                <a:srgbClr val="156082"/>
              </a:solidFill>
            </a:ln>
          </c:spPr>
          <c:marker>
            <c:symbol val="circle"/>
            <c:size val="7"/>
            <c:spPr>
              <a:solidFill xmlns:a="http://schemas.openxmlformats.org/drawingml/2006/main">
                <a:srgbClr val="156082"/>
              </a:solidFill>
            </c:spPr>
          </c:marker>
          <c:xVal>
            <c:numLit>
              <c:formatCode>General</c:formatCode>
              <c:ptCount val="5"/>
              <c:pt idx="0">
                <c:v>0</c:v>
              </c:pt>
              <c:pt idx="1">
                <c:v>500</c:v>
              </c:pt>
              <c:pt idx="2">
                <c:v>750</c:v>
              </c:pt>
              <c:pt idx="3">
                <c:v>1000</c:v>
              </c:pt>
              <c:pt idx="4">
                <c:v>1250</c:v>
              </c:pt>
            </c:numLit>
          </c:xVal>
          <c:yVal>
            <c:numLit>
              <c:formatCode>0.0</c:formatCode>
              <c:ptCount val="5"/>
              <c:pt idx="0">
                <c:v>12.839760691336435</c:v>
              </c:pt>
              <c:pt idx="1">
                <c:v>11.624405144694535</c:v>
              </c:pt>
              <c:pt idx="2">
                <c:v>11.338520900321543</c:v>
              </c:pt>
              <c:pt idx="3">
                <c:v>11.162604501607715</c:v>
              </c:pt>
              <c:pt idx="4">
                <c:v>11.035980707395499</c:v>
              </c:pt>
            </c:numLit>
          </c:yVal>
        </c:ser>
        <c:ser>
          <c:idx val="1"/>
          <c:order val="1"/>
          <c:tx>
            <c:v>lr = 10⁻³</c:v>
          </c:tx>
          <c:spPr>
            <a:ln xmlns:a="http://schemas.openxmlformats.org/drawingml/2006/main" w="28575">
              <a:solidFill>
                <a:srgbClr val="E97132"/>
              </a:solidFill>
            </a:ln>
          </c:spPr>
          <c:marker>
            <c:symbol val="diamond"/>
            <c:size val="7"/>
            <c:spPr>
              <a:solidFill xmlns:a="http://schemas.openxmlformats.org/drawingml/2006/main">
                <a:srgbClr val="E97132"/>
              </a:solidFill>
            </c:spPr>
          </c:marker>
          <c:xVal>
            <c:numLit>
              <c:formatCode>General</c:formatCode>
              <c:ptCount val="5"/>
              <c:pt idx="0">
                <c:v>0</c:v>
              </c:pt>
              <c:pt idx="1">
                <c:v>750</c:v>
              </c:pt>
              <c:pt idx="2">
                <c:v>1000</c:v>
              </c:pt>
              <c:pt idx="3">
                <c:v>1250</c:v>
              </c:pt>
              <c:pt idx="4">
                <c:v>1500</c:v>
              </c:pt>
            </c:numLit>
          </c:xVal>
          <c:yVal>
            <c:numLit>
              <c:formatCode>0.0</c:formatCode>
              <c:ptCount val="5"/>
              <c:pt idx="0">
                <c:v>12.839760691336435</c:v>
              </c:pt>
              <c:pt idx="1">
                <c:v>10.566012861736334</c:v>
              </c:pt>
              <c:pt idx="2">
                <c:v>10.51652733118971</c:v>
              </c:pt>
              <c:pt idx="3">
                <c:v>10.487491961414792</c:v>
              </c:pt>
              <c:pt idx="4">
                <c:v>10.45305466237942</c:v>
              </c:pt>
            </c:numLit>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3.2"/>
          <c:min val="10"/>
        </c:scaling>
        <c:delete val="0"/>
        <c:axPos val="l"/>
        <c:title>
          <c:tx>
            <c:rich>
              <a:bodyPr xmlns:a="http://schemas.openxmlformats.org/drawingml/2006/main"/>
              <a:lstStyle xmlns:a="http://schemas.openxmlformats.org/drawingml/2006/main"/>
              <a:p xmlns:a="http://schemas.openxmlformats.org/drawingml/2006/main">
                <a:r>
                  <a:rPr sz="1050" b="1">
                    <a:solidFill>
                      <a:srgbClr val="0E2841"/>
                    </a:solidFill>
                    <a:latin typeface="Helvetica Neue"/>
                    <a:ea typeface="Helvetica Neue"/>
                    <a:cs typeface="Helvetica Neue"/>
                  </a:rPr>
                  <a:t>Mean NME (%)</a:t>
                </a:r>
              </a:p>
            </c:rich>
          </c:tx>
          <c:overlay val="0"/>
          <c:txPr>
            <a:bodyPr xmlns:a="http://schemas.openxmlformats.org/drawingml/2006/main" anchorCtr="1"/>
            <a:lstStyle xmlns:a="http://schemas.openxmlformats.org/drawingml/2006/main"/>
            <a:p xmlns:a="http://schemas.openxmlformats.org/drawingml/2006/main">
              <a:pPr>
                <a:defRPr sz="1050" b="1">
                  <a:solidFill>
                    <a:srgbClr val="0E2841"/>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b="0">
                <a:solidFill>
                  <a:srgbClr val="0E2841"/>
                </a:solidFill>
                <a:latin typeface="Helvetica Neue"/>
                <a:ea typeface="Helvetica Neue"/>
                <a:cs typeface="Helvetica Neue"/>
              </a:defRPr>
            </a:pPr>
          </a:p>
        </c:txPr>
        <c:crossAx val="48650112"/>
      </c:valAx>
      <c:valAx>
        <c:axId val="48650112"/>
        <c:scaling>
          <c:orientation val="minMax"/>
          <c:max val="1500"/>
          <c:min val="0"/>
        </c:scaling>
        <c:delete val="0"/>
        <c:axPos val="b"/>
        <c:title>
          <c:tx>
            <c:rich>
              <a:bodyPr xmlns:a="http://schemas.openxmlformats.org/drawingml/2006/main"/>
              <a:lstStyle xmlns:a="http://schemas.openxmlformats.org/drawingml/2006/main"/>
              <a:p xmlns:a="http://schemas.openxmlformats.org/drawingml/2006/main">
                <a:r>
                  <a:rPr sz="1050" b="1">
                    <a:solidFill>
                      <a:srgbClr val="0E2841"/>
                    </a:solidFill>
                    <a:latin typeface="Helvetica Neue"/>
                    <a:ea typeface="Helvetica Neue"/>
                    <a:cs typeface="Helvetica Neue"/>
                  </a:rPr>
                  <a:t>TTA updates per image</a:t>
                </a:r>
              </a:p>
            </c:rich>
          </c:tx>
          <c:overlay val="0"/>
          <c:txPr>
            <a:bodyPr xmlns:a="http://schemas.openxmlformats.org/drawingml/2006/main" anchorCtr="1"/>
            <a:lstStyle xmlns:a="http://schemas.openxmlformats.org/drawingml/2006/main"/>
            <a:p xmlns:a="http://schemas.openxmlformats.org/drawingml/2006/main">
              <a:pPr>
                <a:defRPr sz="1050" b="1">
                  <a:solidFill>
                    <a:srgbClr val="0E2841"/>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b="0">
                <a:solidFill>
                  <a:srgbClr val="0E2841"/>
                </a:solidFill>
                <a:latin typeface="Helvetica Neue"/>
                <a:ea typeface="Helvetica Neue"/>
                <a:cs typeface="Helvetica Neue"/>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75" b="0">
              <a:solidFill>
                <a:srgbClr val="0E2841"/>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lr = 10⁻⁴</c:v>
          </c:tx>
          <c:spPr>
            <a:ln xmlns:a="http://schemas.openxmlformats.org/drawingml/2006/main" w="28575">
              <a:solidFill>
                <a:srgbClr val="156082"/>
              </a:solidFill>
            </a:ln>
          </c:spPr>
          <c:marker>
            <c:symbol val="circle"/>
            <c:size val="7"/>
            <c:spPr>
              <a:solidFill xmlns:a="http://schemas.openxmlformats.org/drawingml/2006/main">
                <a:srgbClr val="156082"/>
              </a:solidFill>
            </c:spPr>
          </c:marker>
          <c:xVal>
            <c:numLit>
              <c:formatCode>General</c:formatCode>
              <c:ptCount val="5"/>
              <c:pt idx="0">
                <c:v>0</c:v>
              </c:pt>
              <c:pt idx="1">
                <c:v>500</c:v>
              </c:pt>
              <c:pt idx="2">
                <c:v>750</c:v>
              </c:pt>
              <c:pt idx="3">
                <c:v>1000</c:v>
              </c:pt>
              <c:pt idx="4">
                <c:v>1250</c:v>
              </c:pt>
            </c:numLit>
          </c:xVal>
          <c:yVal>
            <c:numLit>
              <c:formatCode>0.0</c:formatCode>
              <c:ptCount val="5"/>
              <c:pt idx="0">
                <c:v>23.07</c:v>
              </c:pt>
              <c:pt idx="1">
                <c:v>21.5048231511254</c:v>
              </c:pt>
              <c:pt idx="2">
                <c:v>21.104051446945338</c:v>
              </c:pt>
              <c:pt idx="3">
                <c:v>20.764565916398713</c:v>
              </c:pt>
              <c:pt idx="4">
                <c:v>20.581414790996785</c:v>
              </c:pt>
            </c:numLit>
          </c:yVal>
        </c:ser>
        <c:ser>
          <c:idx val="1"/>
          <c:order val="1"/>
          <c:tx>
            <c:v>lr = 10⁻³</c:v>
          </c:tx>
          <c:spPr>
            <a:ln xmlns:a="http://schemas.openxmlformats.org/drawingml/2006/main" w="28575">
              <a:solidFill>
                <a:srgbClr val="E97132"/>
              </a:solidFill>
            </a:ln>
          </c:spPr>
          <c:marker>
            <c:symbol val="diamond"/>
            <c:size val="7"/>
            <c:spPr>
              <a:solidFill xmlns:a="http://schemas.openxmlformats.org/drawingml/2006/main">
                <a:srgbClr val="E97132"/>
              </a:solidFill>
            </c:spPr>
          </c:marker>
          <c:xVal>
            <c:numLit>
              <c:formatCode>General</c:formatCode>
              <c:ptCount val="5"/>
              <c:pt idx="0">
                <c:v>0</c:v>
              </c:pt>
              <c:pt idx="1">
                <c:v>750</c:v>
              </c:pt>
              <c:pt idx="2">
                <c:v>1000</c:v>
              </c:pt>
              <c:pt idx="3">
                <c:v>1250</c:v>
              </c:pt>
              <c:pt idx="4">
                <c:v>1500</c:v>
              </c:pt>
            </c:numLit>
          </c:xVal>
          <c:yVal>
            <c:numLit>
              <c:formatCode>0.0</c:formatCode>
              <c:ptCount val="5"/>
              <c:pt idx="0">
                <c:v>23.07</c:v>
              </c:pt>
              <c:pt idx="1">
                <c:v>19.95048231511254</c:v>
              </c:pt>
              <c:pt idx="2">
                <c:v>19.896720257234726</c:v>
              </c:pt>
              <c:pt idx="3">
                <c:v>19.87807073954984</c:v>
              </c:pt>
              <c:pt idx="4">
                <c:v>19.865594855305467</c:v>
              </c:pt>
            </c:numLit>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23.5"/>
          <c:min val="19.2"/>
        </c:scaling>
        <c:delete val="0"/>
        <c:axPos val="l"/>
        <c:title>
          <c:tx>
            <c:rich>
              <a:bodyPr xmlns:a="http://schemas.openxmlformats.org/drawingml/2006/main"/>
              <a:lstStyle xmlns:a="http://schemas.openxmlformats.org/drawingml/2006/main"/>
              <a:p xmlns:a="http://schemas.openxmlformats.org/drawingml/2006/main">
                <a:r>
                  <a:rPr sz="1050" b="1">
                    <a:solidFill>
                      <a:srgbClr val="0E2841"/>
                    </a:solidFill>
                    <a:latin typeface="Helvetica Neue"/>
                    <a:ea typeface="Helvetica Neue"/>
                    <a:cs typeface="Helvetica Neue"/>
                  </a:rPr>
                  <a:t>Mean normalized HD (%)</a:t>
                </a:r>
              </a:p>
            </c:rich>
          </c:tx>
          <c:overlay val="0"/>
          <c:txPr>
            <a:bodyPr xmlns:a="http://schemas.openxmlformats.org/drawingml/2006/main" anchorCtr="1"/>
            <a:lstStyle xmlns:a="http://schemas.openxmlformats.org/drawingml/2006/main"/>
            <a:p xmlns:a="http://schemas.openxmlformats.org/drawingml/2006/main">
              <a:pPr>
                <a:defRPr sz="1050" b="1">
                  <a:solidFill>
                    <a:srgbClr val="0E2841"/>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b="0">
                <a:solidFill>
                  <a:srgbClr val="0E2841"/>
                </a:solidFill>
                <a:latin typeface="Helvetica Neue"/>
                <a:ea typeface="Helvetica Neue"/>
                <a:cs typeface="Helvetica Neue"/>
              </a:defRPr>
            </a:pPr>
          </a:p>
        </c:txPr>
        <c:crossAx val="48650112"/>
      </c:valAx>
      <c:valAx>
        <c:axId val="48650112"/>
        <c:scaling>
          <c:orientation val="minMax"/>
          <c:max val="1500"/>
          <c:min val="0"/>
        </c:scaling>
        <c:delete val="0"/>
        <c:axPos val="b"/>
        <c:title>
          <c:tx>
            <c:rich>
              <a:bodyPr xmlns:a="http://schemas.openxmlformats.org/drawingml/2006/main"/>
              <a:lstStyle xmlns:a="http://schemas.openxmlformats.org/drawingml/2006/main"/>
              <a:p xmlns:a="http://schemas.openxmlformats.org/drawingml/2006/main">
                <a:r>
                  <a:rPr sz="1050" b="1">
                    <a:solidFill>
                      <a:srgbClr val="0E2841"/>
                    </a:solidFill>
                    <a:latin typeface="Helvetica Neue"/>
                    <a:ea typeface="Helvetica Neue"/>
                    <a:cs typeface="Helvetica Neue"/>
                  </a:rPr>
                  <a:t>TTA updates per image</a:t>
                </a:r>
              </a:p>
            </c:rich>
          </c:tx>
          <c:overlay val="0"/>
          <c:txPr>
            <a:bodyPr xmlns:a="http://schemas.openxmlformats.org/drawingml/2006/main" anchorCtr="1"/>
            <a:lstStyle xmlns:a="http://schemas.openxmlformats.org/drawingml/2006/main"/>
            <a:p xmlns:a="http://schemas.openxmlformats.org/drawingml/2006/main">
              <a:pPr>
                <a:defRPr sz="1050" b="1">
                  <a:solidFill>
                    <a:srgbClr val="0E2841"/>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b="0">
                <a:solidFill>
                  <a:srgbClr val="0E2841"/>
                </a:solidFill>
                <a:latin typeface="Helvetica Neue"/>
                <a:ea typeface="Helvetica Neue"/>
                <a:cs typeface="Helvetica Neue"/>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75" b="0">
              <a:solidFill>
                <a:srgbClr val="0E2841"/>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Left</c:v>
          </c:tx>
          <c:spPr>
            <a:ln xmlns:a="http://schemas.openxmlformats.org/drawingml/2006/main" w="28575">
              <a:solidFill>
                <a:srgbClr val="156082"/>
              </a:solidFill>
            </a:ln>
          </c:spPr>
          <c:marker>
            <c:symbol val="circle"/>
            <c:size val="7"/>
            <c:spPr>
              <a:solidFill xmlns:a="http://schemas.openxmlformats.org/drawingml/2006/main">
                <a:srgbClr val="156082"/>
              </a:solidFill>
            </c:spPr>
          </c:marker>
          <c:xVal>
            <c:numLit>
              <c:formatCode>General</c:formatCode>
              <c:ptCount val="5"/>
              <c:pt idx="0">
                <c:v>0</c:v>
              </c:pt>
              <c:pt idx="1">
                <c:v>750</c:v>
              </c:pt>
              <c:pt idx="2">
                <c:v>1000</c:v>
              </c:pt>
              <c:pt idx="3">
                <c:v>1250</c:v>
              </c:pt>
              <c:pt idx="4">
                <c:v>1500</c:v>
              </c:pt>
            </c:numLit>
          </c:xVal>
          <c:yVal>
            <c:numLit>
              <c:formatCode>0.0</c:formatCode>
              <c:ptCount val="5"/>
              <c:pt idx="0">
                <c:v>19.41737200957459</c:v>
              </c:pt>
              <c:pt idx="1">
                <c:v>15.310000000000002</c:v>
              </c:pt>
              <c:pt idx="2">
                <c:v>15.190000000000001</c:v>
              </c:pt>
              <c:pt idx="3">
                <c:v>15.129999999999999</c:v>
              </c:pt>
              <c:pt idx="4">
                <c:v>15.03</c:v>
              </c:pt>
            </c:numLit>
          </c:yVal>
        </c:ser>
        <c:ser>
          <c:idx val="1"/>
          <c:order val="1"/>
          <c:tx>
            <c:v>Right</c:v>
          </c:tx>
          <c:spPr>
            <a:ln xmlns:a="http://schemas.openxmlformats.org/drawingml/2006/main" w="28575">
              <a:solidFill>
                <a:srgbClr val="E97132"/>
              </a:solidFill>
            </a:ln>
          </c:spPr>
          <c:marker>
            <c:symbol val="diamond"/>
            <c:size val="7"/>
            <c:spPr>
              <a:solidFill xmlns:a="http://schemas.openxmlformats.org/drawingml/2006/main">
                <a:srgbClr val="E97132"/>
              </a:solidFill>
            </c:spPr>
          </c:marker>
          <c:xVal>
            <c:numLit>
              <c:formatCode>General</c:formatCode>
              <c:ptCount val="5"/>
              <c:pt idx="0">
                <c:v>0</c:v>
              </c:pt>
              <c:pt idx="1">
                <c:v>750</c:v>
              </c:pt>
              <c:pt idx="2">
                <c:v>1000</c:v>
              </c:pt>
              <c:pt idx="3">
                <c:v>1250</c:v>
              </c:pt>
              <c:pt idx="4">
                <c:v>1500</c:v>
              </c:pt>
            </c:numLit>
          </c:xVal>
          <c:yVal>
            <c:numLit>
              <c:formatCode>0.0</c:formatCode>
              <c:ptCount val="5"/>
              <c:pt idx="0">
                <c:v>18.702342153191466</c:v>
              </c:pt>
              <c:pt idx="1">
                <c:v>14.899999999999999</c:v>
              </c:pt>
              <c:pt idx="2">
                <c:v>14.84</c:v>
              </c:pt>
              <c:pt idx="3">
                <c:v>14.790000000000001</c:v>
              </c:pt>
              <c:pt idx="4">
                <c:v>14.77</c:v>
              </c:pt>
            </c:numLit>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20"/>
          <c:min val="14"/>
        </c:scaling>
        <c:delete val="0"/>
        <c:axPos val="l"/>
        <c:title>
          <c:tx>
            <c:rich>
              <a:bodyPr xmlns:a="http://schemas.openxmlformats.org/drawingml/2006/main"/>
              <a:lstStyle xmlns:a="http://schemas.openxmlformats.org/drawingml/2006/main"/>
              <a:p xmlns:a="http://schemas.openxmlformats.org/drawingml/2006/main">
                <a:r>
                  <a:rPr sz="1050" b="1">
                    <a:solidFill>
                      <a:srgbClr val="0E2841"/>
                    </a:solidFill>
                    <a:latin typeface="Helvetica Neue"/>
                    <a:ea typeface="Helvetica Neue"/>
                    <a:cs typeface="Helvetica Neue"/>
                  </a:rPr>
                  <a:t>Mean NME (%)</a:t>
                </a:r>
              </a:p>
            </c:rich>
          </c:tx>
          <c:overlay val="0"/>
          <c:txPr>
            <a:bodyPr xmlns:a="http://schemas.openxmlformats.org/drawingml/2006/main" anchorCtr="1"/>
            <a:lstStyle xmlns:a="http://schemas.openxmlformats.org/drawingml/2006/main"/>
            <a:p xmlns:a="http://schemas.openxmlformats.org/drawingml/2006/main">
              <a:pPr>
                <a:defRPr sz="1050" b="1">
                  <a:solidFill>
                    <a:srgbClr val="0E2841"/>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b="0">
                <a:solidFill>
                  <a:srgbClr val="0E2841"/>
                </a:solidFill>
                <a:latin typeface="Helvetica Neue"/>
                <a:ea typeface="Helvetica Neue"/>
                <a:cs typeface="Helvetica Neue"/>
              </a:defRPr>
            </a:pPr>
          </a:p>
        </c:txPr>
        <c:crossAx val="48650112"/>
      </c:valAx>
      <c:valAx>
        <c:axId val="48650112"/>
        <c:scaling>
          <c:orientation val="minMax"/>
          <c:max val="1500"/>
          <c:min val="0"/>
        </c:scaling>
        <c:delete val="0"/>
        <c:axPos val="b"/>
        <c:title>
          <c:tx>
            <c:rich>
              <a:bodyPr xmlns:a="http://schemas.openxmlformats.org/drawingml/2006/main"/>
              <a:lstStyle xmlns:a="http://schemas.openxmlformats.org/drawingml/2006/main"/>
              <a:p xmlns:a="http://schemas.openxmlformats.org/drawingml/2006/main">
                <a:r>
                  <a:rPr sz="1050" b="1">
                    <a:solidFill>
                      <a:srgbClr val="0E2841"/>
                    </a:solidFill>
                    <a:latin typeface="Helvetica Neue"/>
                    <a:ea typeface="Helvetica Neue"/>
                    <a:cs typeface="Helvetica Neue"/>
                  </a:rPr>
                  <a:t>TTA updates per image</a:t>
                </a:r>
              </a:p>
            </c:rich>
          </c:tx>
          <c:overlay val="0"/>
          <c:txPr>
            <a:bodyPr xmlns:a="http://schemas.openxmlformats.org/drawingml/2006/main" anchorCtr="1"/>
            <a:lstStyle xmlns:a="http://schemas.openxmlformats.org/drawingml/2006/main"/>
            <a:p xmlns:a="http://schemas.openxmlformats.org/drawingml/2006/main">
              <a:pPr>
                <a:defRPr sz="1050" b="1">
                  <a:solidFill>
                    <a:srgbClr val="0E2841"/>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b="0">
                <a:solidFill>
                  <a:srgbClr val="0E2841"/>
                </a:solidFill>
                <a:latin typeface="Helvetica Neue"/>
                <a:ea typeface="Helvetica Neue"/>
                <a:cs typeface="Helvetica Neue"/>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75" b="0">
              <a:solidFill>
                <a:srgbClr val="0E2841"/>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Quarter left</c:v>
          </c:tx>
          <c:spPr>
            <a:ln xmlns:a="http://schemas.openxmlformats.org/drawingml/2006/main" w="28575">
              <a:solidFill>
                <a:srgbClr val="156082"/>
              </a:solidFill>
            </a:ln>
          </c:spPr>
          <c:marker>
            <c:symbol val="circle"/>
            <c:size val="7"/>
            <c:spPr>
              <a:solidFill xmlns:a="http://schemas.openxmlformats.org/drawingml/2006/main">
                <a:srgbClr val="156082"/>
              </a:solidFill>
            </c:spPr>
          </c:marker>
          <c:xVal>
            <c:numLit>
              <c:formatCode>General</c:formatCode>
              <c:ptCount val="5"/>
              <c:pt idx="0">
                <c:v>0</c:v>
              </c:pt>
              <c:pt idx="1">
                <c:v>750</c:v>
              </c:pt>
              <c:pt idx="2">
                <c:v>1000</c:v>
              </c:pt>
              <c:pt idx="3">
                <c:v>1250</c:v>
              </c:pt>
              <c:pt idx="4">
                <c:v>1500</c:v>
              </c:pt>
            </c:numLit>
          </c:xVal>
          <c:yVal>
            <c:numLit>
              <c:formatCode>0.0</c:formatCode>
              <c:ptCount val="5"/>
              <c:pt idx="0">
                <c:v>5.260001559567756</c:v>
              </c:pt>
              <c:pt idx="1">
                <c:v>5</c:v>
              </c:pt>
              <c:pt idx="2">
                <c:v>5</c:v>
              </c:pt>
              <c:pt idx="3">
                <c:v>5.01</c:v>
              </c:pt>
              <c:pt idx="4">
                <c:v>5.01</c:v>
              </c:pt>
            </c:numLit>
          </c:yVal>
        </c:ser>
        <c:ser>
          <c:idx val="1"/>
          <c:order val="1"/>
          <c:tx>
            <c:v>Frontal</c:v>
          </c:tx>
          <c:spPr>
            <a:ln xmlns:a="http://schemas.openxmlformats.org/drawingml/2006/main" w="28575">
              <a:solidFill>
                <a:srgbClr val="196B24"/>
              </a:solidFill>
            </a:ln>
          </c:spPr>
          <c:marker>
            <c:symbol val="square"/>
            <c:size val="7"/>
            <c:spPr>
              <a:solidFill xmlns:a="http://schemas.openxmlformats.org/drawingml/2006/main">
                <a:srgbClr val="196B24"/>
              </a:solidFill>
            </c:spPr>
          </c:marker>
          <c:xVal>
            <c:numLit>
              <c:formatCode>General</c:formatCode>
              <c:ptCount val="5"/>
              <c:pt idx="0">
                <c:v>0</c:v>
              </c:pt>
              <c:pt idx="1">
                <c:v>750</c:v>
              </c:pt>
              <c:pt idx="2">
                <c:v>1000</c:v>
              </c:pt>
              <c:pt idx="3">
                <c:v>1250</c:v>
              </c:pt>
              <c:pt idx="4">
                <c:v>1500</c:v>
              </c:pt>
            </c:numLit>
          </c:xVal>
          <c:yVal>
            <c:numLit>
              <c:formatCode>0.0</c:formatCode>
              <c:ptCount val="5"/>
              <c:pt idx="0">
                <c:v>4.730543839917397</c:v>
              </c:pt>
              <c:pt idx="1">
                <c:v>4.61</c:v>
              </c:pt>
              <c:pt idx="2">
                <c:v>4.61</c:v>
              </c:pt>
              <c:pt idx="3">
                <c:v>4.61</c:v>
              </c:pt>
              <c:pt idx="4">
                <c:v>4.61</c:v>
              </c:pt>
            </c:numLit>
          </c:yVal>
        </c:ser>
        <c:ser>
          <c:idx val="2"/>
          <c:order val="2"/>
          <c:tx>
            <c:v>Quarter right</c:v>
          </c:tx>
          <c:spPr>
            <a:ln xmlns:a="http://schemas.openxmlformats.org/drawingml/2006/main" w="28575">
              <a:solidFill>
                <a:srgbClr val="E97132"/>
              </a:solidFill>
            </a:ln>
          </c:spPr>
          <c:marker>
            <c:symbol val="diamond"/>
            <c:size val="7"/>
            <c:spPr>
              <a:solidFill xmlns:a="http://schemas.openxmlformats.org/drawingml/2006/main">
                <a:srgbClr val="E97132"/>
              </a:solidFill>
            </c:spPr>
          </c:marker>
          <c:xVal>
            <c:numLit>
              <c:formatCode>General</c:formatCode>
              <c:ptCount val="5"/>
              <c:pt idx="0">
                <c:v>0</c:v>
              </c:pt>
              <c:pt idx="1">
                <c:v>750</c:v>
              </c:pt>
              <c:pt idx="2">
                <c:v>1000</c:v>
              </c:pt>
              <c:pt idx="3">
                <c:v>1250</c:v>
              </c:pt>
              <c:pt idx="4">
                <c:v>1500</c:v>
              </c:pt>
            </c:numLit>
          </c:xVal>
          <c:yVal>
            <c:numLit>
              <c:formatCode>0.0</c:formatCode>
              <c:ptCount val="5"/>
              <c:pt idx="0">
                <c:v>5.262787482352248</c:v>
              </c:pt>
              <c:pt idx="1">
                <c:v>5.19</c:v>
              </c:pt>
              <c:pt idx="2">
                <c:v>5.2</c:v>
              </c:pt>
              <c:pt idx="3">
                <c:v>5.21</c:v>
              </c:pt>
              <c:pt idx="4">
                <c:v>5.2</c:v>
              </c:pt>
            </c:numLit>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5.4"/>
          <c:min val="4.4"/>
        </c:scaling>
        <c:delete val="0"/>
        <c:axPos val="l"/>
        <c:title>
          <c:tx>
            <c:rich>
              <a:bodyPr xmlns:a="http://schemas.openxmlformats.org/drawingml/2006/main"/>
              <a:lstStyle xmlns:a="http://schemas.openxmlformats.org/drawingml/2006/main"/>
              <a:p xmlns:a="http://schemas.openxmlformats.org/drawingml/2006/main">
                <a:r>
                  <a:rPr sz="1050" b="1">
                    <a:solidFill>
                      <a:srgbClr val="0E2841"/>
                    </a:solidFill>
                    <a:latin typeface="Helvetica Neue"/>
                    <a:ea typeface="Helvetica Neue"/>
                    <a:cs typeface="Helvetica Neue"/>
                  </a:rPr>
                  <a:t>Mean NME (%)</a:t>
                </a:r>
              </a:p>
            </c:rich>
          </c:tx>
          <c:overlay val="0"/>
          <c:txPr>
            <a:bodyPr xmlns:a="http://schemas.openxmlformats.org/drawingml/2006/main" anchorCtr="1"/>
            <a:lstStyle xmlns:a="http://schemas.openxmlformats.org/drawingml/2006/main"/>
            <a:p xmlns:a="http://schemas.openxmlformats.org/drawingml/2006/main">
              <a:pPr>
                <a:defRPr sz="1050" b="1">
                  <a:solidFill>
                    <a:srgbClr val="0E2841"/>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b="0">
                <a:solidFill>
                  <a:srgbClr val="0E2841"/>
                </a:solidFill>
                <a:latin typeface="Helvetica Neue"/>
                <a:ea typeface="Helvetica Neue"/>
                <a:cs typeface="Helvetica Neue"/>
              </a:defRPr>
            </a:pPr>
          </a:p>
        </c:txPr>
        <c:crossAx val="48650112"/>
      </c:valAx>
      <c:valAx>
        <c:axId val="48650112"/>
        <c:scaling>
          <c:orientation val="minMax"/>
          <c:max val="1500"/>
          <c:min val="0"/>
        </c:scaling>
        <c:delete val="0"/>
        <c:axPos val="b"/>
        <c:title>
          <c:tx>
            <c:rich>
              <a:bodyPr xmlns:a="http://schemas.openxmlformats.org/drawingml/2006/main"/>
              <a:lstStyle xmlns:a="http://schemas.openxmlformats.org/drawingml/2006/main"/>
              <a:p xmlns:a="http://schemas.openxmlformats.org/drawingml/2006/main">
                <a:r>
                  <a:rPr sz="1050" b="1">
                    <a:solidFill>
                      <a:srgbClr val="0E2841"/>
                    </a:solidFill>
                    <a:latin typeface="Helvetica Neue"/>
                    <a:ea typeface="Helvetica Neue"/>
                    <a:cs typeface="Helvetica Neue"/>
                  </a:rPr>
                  <a:t>TTA updates per image</a:t>
                </a:r>
              </a:p>
            </c:rich>
          </c:tx>
          <c:overlay val="0"/>
          <c:txPr>
            <a:bodyPr xmlns:a="http://schemas.openxmlformats.org/drawingml/2006/main" anchorCtr="1"/>
            <a:lstStyle xmlns:a="http://schemas.openxmlformats.org/drawingml/2006/main"/>
            <a:p xmlns:a="http://schemas.openxmlformats.org/drawingml/2006/main">
              <a:pPr>
                <a:defRPr sz="1050" b="1">
                  <a:solidFill>
                    <a:srgbClr val="0E2841"/>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b="0">
                <a:solidFill>
                  <a:srgbClr val="0E2841"/>
                </a:solidFill>
                <a:latin typeface="Helvetica Neue"/>
                <a:ea typeface="Helvetica Neue"/>
                <a:cs typeface="Helvetica Neue"/>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75" b="0">
              <a:solidFill>
                <a:srgbClr val="0E2841"/>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roundedCorners val="1"/>
  <c:style val="2"/>
  <c:chart>
    <c:autoTitleDeleted val="1"/>
    <c:plotArea>
      <c:barChart>
        <c:barDir val="col"/>
        <c:grouping val="clustered"/>
        <c:varyColors val="0"/>
        <c:ser>
          <c:idx val="0"/>
          <c:order val="0"/>
          <c:tx>
            <c:v>Paper baseline</c:v>
          </c:tx>
          <c:spPr>
            <a:solidFill xmlns:a="http://schemas.openxmlformats.org/drawingml/2006/main">
              <a:srgbClr val="91A4BC"/>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a:solidFill>
                      <a:srgbClr val="25313B"/>
                    </a:solidFill>
                  </a:defRPr>
                </a:pPr>
              </a:p>
            </c:txPr>
            <c:dLblPos val="outEnd"/>
            <c:showLegendKey val="0"/>
            <c:showVal val="1"/>
            <c:showCatName val="0"/>
            <c:showSerName val="0"/>
            <c:showPercent val="0"/>
            <c:showBubbleSize val="0"/>
            <c:showLeaderLines val="0"/>
          </c:dLbls>
          <c:cat>
            <c:strLit>
              <c:ptCount val="5"/>
              <c:pt idx="0">
                <c:v>Left
(n=7)</c:v>
              </c:pt>
              <c:pt idx="1">
                <c:v>Quarter left
(n=124)</c:v>
              </c:pt>
              <c:pt idx="2">
                <c:v>Frontal
(n=157)</c:v>
              </c:pt>
              <c:pt idx="3">
                <c:v>Quarter right
(n=104)</c:v>
              </c:pt>
              <c:pt idx="4">
                <c:v>Right
(n=13)</c:v>
              </c:pt>
            </c:strLit>
          </c:cat>
          <c:val>
            <c:numLit>
              <c:formatCode>0.0</c:formatCode>
              <c:ptCount val="5"/>
              <c:pt idx="0">
                <c:v>12.12</c:v>
              </c:pt>
              <c:pt idx="1">
                <c:v>10.02</c:v>
              </c:pt>
              <c:pt idx="2">
                <c:v>6.58</c:v>
              </c:pt>
              <c:pt idx="3">
                <c:v>8.9</c:v>
              </c:pt>
              <c:pt idx="4">
                <c:v>13.74</c:v>
              </c:pt>
            </c:numLit>
          </c:val>
        </c:ser>
        <c:ser>
          <c:idx val="1"/>
          <c:order val="1"/>
          <c:tx>
            <c:v>TTA step 0</c:v>
          </c:tx>
          <c:spPr>
            <a:solidFill xmlns:a="http://schemas.openxmlformats.org/drawingml/2006/main">
              <a:srgbClr val="E97132"/>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a:solidFill>
                      <a:srgbClr val="25313B"/>
                    </a:solidFill>
                  </a:defRPr>
                </a:pPr>
              </a:p>
            </c:txPr>
            <c:dLblPos val="outEnd"/>
            <c:showLegendKey val="0"/>
            <c:showVal val="1"/>
            <c:showCatName val="0"/>
            <c:showSerName val="0"/>
            <c:showPercent val="0"/>
            <c:showBubbleSize val="0"/>
            <c:showLeaderLines val="0"/>
          </c:dLbls>
          <c:cat>
            <c:strLit>
              <c:ptCount val="5"/>
              <c:pt idx="0">
                <c:v>Left
(n=7)</c:v>
              </c:pt>
              <c:pt idx="1">
                <c:v>Quarter left
(n=124)</c:v>
              </c:pt>
              <c:pt idx="2">
                <c:v>Frontal
(n=157)</c:v>
              </c:pt>
              <c:pt idx="3">
                <c:v>Quarter right
(n=104)</c:v>
              </c:pt>
              <c:pt idx="4">
                <c:v>Right
(n=13)</c:v>
              </c:pt>
            </c:strLit>
          </c:cat>
          <c:val>
            <c:numLit>
              <c:formatCode>0.0</c:formatCode>
              <c:ptCount val="5"/>
              <c:pt idx="0">
                <c:v>12.45</c:v>
              </c:pt>
              <c:pt idx="1">
                <c:v>10.08</c:v>
              </c:pt>
              <c:pt idx="2">
                <c:v>6.44</c:v>
              </c:pt>
              <c:pt idx="3">
                <c:v>9.02</c:v>
              </c:pt>
              <c:pt idx="4">
                <c:v>15.51</c:v>
              </c:pt>
            </c:numLit>
          </c:val>
        </c:ser>
        <c:ser>
          <c:idx val="2"/>
          <c:order val="2"/>
          <c:tx>
            <c:v>TTA step 1500</c:v>
          </c:tx>
          <c:spPr>
            <a:solidFill xmlns:a="http://schemas.openxmlformats.org/drawingml/2006/main">
              <a:srgbClr val="15989A"/>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a:solidFill>
                      <a:srgbClr val="25313B"/>
                    </a:solidFill>
                  </a:defRPr>
                </a:pPr>
              </a:p>
            </c:txPr>
            <c:dLblPos val="outEnd"/>
            <c:showLegendKey val="0"/>
            <c:showVal val="1"/>
            <c:showCatName val="0"/>
            <c:showSerName val="0"/>
            <c:showPercent val="0"/>
            <c:showBubbleSize val="0"/>
            <c:showLeaderLines val="0"/>
          </c:dLbls>
          <c:cat>
            <c:strLit>
              <c:ptCount val="5"/>
              <c:pt idx="0">
                <c:v>Left
(n=7)</c:v>
              </c:pt>
              <c:pt idx="1">
                <c:v>Quarter left
(n=124)</c:v>
              </c:pt>
              <c:pt idx="2">
                <c:v>Frontal
(n=157)</c:v>
              </c:pt>
              <c:pt idx="3">
                <c:v>Quarter right
(n=104)</c:v>
              </c:pt>
              <c:pt idx="4">
                <c:v>Right
(n=13)</c:v>
              </c:pt>
            </c:strLit>
          </c:cat>
          <c:val>
            <c:numLit>
              <c:formatCode>0.0</c:formatCode>
              <c:ptCount val="5"/>
              <c:pt idx="0">
                <c:v>9.84</c:v>
              </c:pt>
              <c:pt idx="1">
                <c:v>9.45</c:v>
              </c:pt>
              <c:pt idx="2">
                <c:v>6.12</c:v>
              </c:pt>
              <c:pt idx="3">
                <c:v>8.39</c:v>
              </c:pt>
              <c:pt idx="4">
                <c:v>11.27</c:v>
              </c:pt>
            </c:numLit>
          </c:val>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78858E"/>
            </a:solidFill>
            <a:prstDash val="solid"/>
          </a:ln>
        </c:spPr>
        <c:txPr>
          <a:bodyPr xmlns:a="http://schemas.openxmlformats.org/drawingml/2006/main" anchorCtr="1"/>
          <a:lstStyle xmlns:a="http://schemas.openxmlformats.org/drawingml/2006/main"/>
          <a:p xmlns:a="http://schemas.openxmlformats.org/drawingml/2006/main">
            <a:pPr>
              <a:defRPr sz="1050">
                <a:solidFill>
                  <a:srgbClr val="25313B"/>
                </a:solidFill>
              </a:defRPr>
            </a:pPr>
          </a:p>
        </c:txPr>
        <c:crossAx val="48672768"/>
        <c:crosses val="autoZero"/>
        <c:lblOffset val="100"/>
      </c:catAx>
      <c:valAx>
        <c:axId val="48672768"/>
        <c:scaling>
          <c:orientation val="minMax"/>
          <c:max val="18"/>
          <c:min val="0"/>
        </c:scaling>
        <c:delete val="0"/>
        <c:axPos val="l"/>
        <c:majorGridlines>
          <c:spPr>
            <a:ln xmlns:a="http://schemas.openxmlformats.org/drawingml/2006/main" w="9525">
              <a:solidFill>
                <a:srgbClr val="D9E1E6"/>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25313B"/>
                    </a:solidFill>
                  </a:rPr>
                  <a:t>Mean NME (%)</a:t>
                </a:r>
              </a:p>
            </c:rich>
          </c:tx>
          <c:overlay val="0"/>
          <c:txPr>
            <a:bodyPr xmlns:a="http://schemas.openxmlformats.org/drawingml/2006/main" anchorCtr="1"/>
            <a:lstStyle xmlns:a="http://schemas.openxmlformats.org/drawingml/2006/main"/>
            <a:p xmlns:a="http://schemas.openxmlformats.org/drawingml/2006/main">
              <a:pPr>
                <a:defRPr sz="1200">
                  <a:solidFill>
                    <a:srgbClr val="25313B"/>
                  </a:solidFill>
                </a:defRPr>
              </a:pPr>
            </a:p>
          </c:txPr>
        </c:title>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25313B"/>
                </a:solidFill>
              </a:defRPr>
            </a:pPr>
          </a:p>
        </c:txPr>
        <c:crossAx val="48650112"/>
        <c:crosses val="autoZero"/>
        <c:crossBetween val="between"/>
        <c:majorUnit val="3"/>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25313B"/>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6.xml><?xml version="1.0" encoding="utf-8"?>
<c:chartSpace xmlns:c="http://schemas.openxmlformats.org/drawingml/2006/chart">
  <c:lang val="en-US"/>
  <c:chart>
    <c:plotArea>
      <c:scatterChart>
        <c:scatterStyle val="lineMarker"/>
        <c:ser>
          <c:idx val="0"/>
          <c:order val="0"/>
          <c:tx>
            <c:v>P25</c:v>
          </c:tx>
          <c:spPr>
            <a:ln xmlns:a="http://schemas.openxmlformats.org/drawingml/2006/main" w="19050">
              <a:solidFill>
                <a:srgbClr val="9BC2D3"/>
              </a:solidFill>
            </a:ln>
          </c:spPr>
          <c:marker>
            <c:symbol val="none"/>
            <c:size val="2"/>
          </c:marker>
          <c:xVal>
            <c:numLit>
              <c:formatCode>General</c:formatCode>
              <c:ptCount val="9"/>
              <c:pt idx="0">
                <c:v>0</c:v>
              </c:pt>
              <c:pt idx="1">
                <c:v>50</c:v>
              </c:pt>
              <c:pt idx="2">
                <c:v>100</c:v>
              </c:pt>
              <c:pt idx="3">
                <c:v>250</c:v>
              </c:pt>
              <c:pt idx="4">
                <c:v>500</c:v>
              </c:pt>
              <c:pt idx="5">
                <c:v>750</c:v>
              </c:pt>
              <c:pt idx="6">
                <c:v>1000</c:v>
              </c:pt>
              <c:pt idx="7">
                <c:v>1250</c:v>
              </c:pt>
              <c:pt idx="8">
                <c:v>1500</c:v>
              </c:pt>
            </c:numLit>
          </c:xVal>
          <c:yVal>
            <c:numLit>
              <c:formatCode>0.0</c:formatCode>
              <c:ptCount val="9"/>
              <c:pt idx="0">
                <c:v>0</c:v>
              </c:pt>
              <c:pt idx="1">
                <c:v>26.41266940867752</c:v>
              </c:pt>
              <c:pt idx="2">
                <c:v>41.401702286075206</c:v>
              </c:pt>
              <c:pt idx="3">
                <c:v>60.7451867817259</c:v>
              </c:pt>
              <c:pt idx="4">
                <c:v>71.51098475466367</c:v>
              </c:pt>
              <c:pt idx="5">
                <c:v>75.6935813941121</c:v>
              </c:pt>
              <c:pt idx="6">
                <c:v>78.14911377510731</c:v>
              </c:pt>
              <c:pt idx="7">
                <c:v>80.13917873752645</c:v>
              </c:pt>
              <c:pt idx="8">
                <c:v>81.44509610669945</c:v>
              </c:pt>
            </c:numLit>
          </c:yVal>
        </c:ser>
        <c:ser>
          <c:idx val="1"/>
          <c:order val="1"/>
          <c:tx>
            <c:v>Median</c:v>
          </c:tx>
          <c:spPr>
            <a:ln xmlns:a="http://schemas.openxmlformats.org/drawingml/2006/main" w="38100">
              <a:solidFill>
                <a:srgbClr val="156082"/>
              </a:solidFill>
            </a:ln>
          </c:spPr>
          <c:marker>
            <c:symbol val="circle"/>
            <c:size val="7"/>
            <c:spPr>
              <a:solidFill xmlns:a="http://schemas.openxmlformats.org/drawingml/2006/main">
                <a:srgbClr val="156082"/>
              </a:solidFill>
            </c:spPr>
          </c:marker>
          <c:xVal>
            <c:numLit>
              <c:formatCode>General</c:formatCode>
              <c:ptCount val="9"/>
              <c:pt idx="0">
                <c:v>0</c:v>
              </c:pt>
              <c:pt idx="1">
                <c:v>50</c:v>
              </c:pt>
              <c:pt idx="2">
                <c:v>100</c:v>
              </c:pt>
              <c:pt idx="3">
                <c:v>250</c:v>
              </c:pt>
              <c:pt idx="4">
                <c:v>500</c:v>
              </c:pt>
              <c:pt idx="5">
                <c:v>750</c:v>
              </c:pt>
              <c:pt idx="6">
                <c:v>1000</c:v>
              </c:pt>
              <c:pt idx="7">
                <c:v>1250</c:v>
              </c:pt>
              <c:pt idx="8">
                <c:v>1500</c:v>
              </c:pt>
            </c:numLit>
          </c:xVal>
          <c:yVal>
            <c:numLit>
              <c:formatCode>0.0</c:formatCode>
              <c:ptCount val="9"/>
              <c:pt idx="0">
                <c:v>0</c:v>
              </c:pt>
              <c:pt idx="1">
                <c:v>39.3215289307086</c:v>
              </c:pt>
              <c:pt idx="2">
                <c:v>55.320129391675785</c:v>
              </c:pt>
              <c:pt idx="3">
                <c:v>72.19122218239862</c:v>
              </c:pt>
              <c:pt idx="4">
                <c:v>80.00845472716867</c:v>
              </c:pt>
              <c:pt idx="5">
                <c:v>84.1086066766298</c:v>
              </c:pt>
              <c:pt idx="6">
                <c:v>86.32538285753424</c:v>
              </c:pt>
              <c:pt idx="7">
                <c:v>87.60396866332107</c:v>
              </c:pt>
              <c:pt idx="8">
                <c:v>88.76110225517868</c:v>
              </c:pt>
            </c:numLit>
          </c:yVal>
        </c:ser>
        <c:ser>
          <c:idx val="2"/>
          <c:order val="2"/>
          <c:tx>
            <c:v>P75</c:v>
          </c:tx>
          <c:spPr>
            <a:ln xmlns:a="http://schemas.openxmlformats.org/drawingml/2006/main" w="19050">
              <a:solidFill>
                <a:srgbClr val="5B9DB8"/>
              </a:solidFill>
            </a:ln>
          </c:spPr>
          <c:marker>
            <c:symbol val="none"/>
            <c:size val="2"/>
          </c:marker>
          <c:xVal>
            <c:numLit>
              <c:formatCode>General</c:formatCode>
              <c:ptCount val="9"/>
              <c:pt idx="0">
                <c:v>0</c:v>
              </c:pt>
              <c:pt idx="1">
                <c:v>50</c:v>
              </c:pt>
              <c:pt idx="2">
                <c:v>100</c:v>
              </c:pt>
              <c:pt idx="3">
                <c:v>250</c:v>
              </c:pt>
              <c:pt idx="4">
                <c:v>500</c:v>
              </c:pt>
              <c:pt idx="5">
                <c:v>750</c:v>
              </c:pt>
              <c:pt idx="6">
                <c:v>1000</c:v>
              </c:pt>
              <c:pt idx="7">
                <c:v>1250</c:v>
              </c:pt>
              <c:pt idx="8">
                <c:v>1500</c:v>
              </c:pt>
            </c:numLit>
          </c:xVal>
          <c:yVal>
            <c:numLit>
              <c:formatCode>0.0</c:formatCode>
              <c:ptCount val="9"/>
              <c:pt idx="0">
                <c:v>0</c:v>
              </c:pt>
              <c:pt idx="1">
                <c:v>52.79431543698417</c:v>
              </c:pt>
              <c:pt idx="2">
                <c:v>68.50054246523126</c:v>
              </c:pt>
              <c:pt idx="3">
                <c:v>82.69622449217022</c:v>
              </c:pt>
              <c:pt idx="4">
                <c:v>88.6386584202917</c:v>
              </c:pt>
              <c:pt idx="5">
                <c:v>91.10798763100729</c:v>
              </c:pt>
              <c:pt idx="6">
                <c:v>92.58888565266548</c:v>
              </c:pt>
              <c:pt idx="7">
                <c:v>93.49617008621794</c:v>
              </c:pt>
              <c:pt idx="8">
                <c:v>94.09657544082236</c:v>
              </c:pt>
            </c:numLit>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title>
          <c:tx>
            <c:rich>
              <a:bodyPr xmlns:a="http://schemas.openxmlformats.org/drawingml/2006/main"/>
              <a:lstStyle xmlns:a="http://schemas.openxmlformats.org/drawingml/2006/main"/>
              <a:p xmlns:a="http://schemas.openxmlformats.org/drawingml/2006/main">
                <a:r>
                  <a:rPr sz="1050" b="1">
                    <a:solidFill>
                      <a:srgbClr val="0E2841"/>
                    </a:solidFill>
                    <a:latin typeface="Helvetica Neue"/>
                    <a:ea typeface="Helvetica Neue"/>
                    <a:cs typeface="Helvetica Neue"/>
                  </a:rPr>
                  <a:t>Relative reduction (%)</a:t>
                </a:r>
              </a:p>
            </c:rich>
          </c:tx>
          <c:overlay val="0"/>
          <c:txPr>
            <a:bodyPr xmlns:a="http://schemas.openxmlformats.org/drawingml/2006/main" anchorCtr="1"/>
            <a:lstStyle xmlns:a="http://schemas.openxmlformats.org/drawingml/2006/main"/>
            <a:p xmlns:a="http://schemas.openxmlformats.org/drawingml/2006/main">
              <a:pPr>
                <a:defRPr sz="1050" b="1">
                  <a:solidFill>
                    <a:srgbClr val="0E2841"/>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b="0">
                <a:solidFill>
                  <a:srgbClr val="0E2841"/>
                </a:solidFill>
                <a:latin typeface="Helvetica Neue"/>
                <a:ea typeface="Helvetica Neue"/>
                <a:cs typeface="Helvetica Neue"/>
              </a:defRPr>
            </a:pPr>
          </a:p>
        </c:txPr>
        <c:crossAx val="48650112"/>
      </c:valAx>
      <c:valAx>
        <c:axId val="48650112"/>
        <c:scaling>
          <c:orientation val="minMax"/>
          <c:max val="1500"/>
          <c:min val="0"/>
        </c:scaling>
        <c:delete val="0"/>
        <c:axPos val="b"/>
        <c:title>
          <c:tx>
            <c:rich>
              <a:bodyPr xmlns:a="http://schemas.openxmlformats.org/drawingml/2006/main"/>
              <a:lstStyle xmlns:a="http://schemas.openxmlformats.org/drawingml/2006/main"/>
              <a:p xmlns:a="http://schemas.openxmlformats.org/drawingml/2006/main">
                <a:r>
                  <a:rPr sz="1050" b="1">
                    <a:solidFill>
                      <a:srgbClr val="0E2841"/>
                    </a:solidFill>
                    <a:latin typeface="Helvetica Neue"/>
                    <a:ea typeface="Helvetica Neue"/>
                    <a:cs typeface="Helvetica Neue"/>
                  </a:rPr>
                  <a:t>TTA updates per image</a:t>
                </a:r>
              </a:p>
            </c:rich>
          </c:tx>
          <c:overlay val="0"/>
          <c:txPr>
            <a:bodyPr xmlns:a="http://schemas.openxmlformats.org/drawingml/2006/main" anchorCtr="1"/>
            <a:lstStyle xmlns:a="http://schemas.openxmlformats.org/drawingml/2006/main"/>
            <a:p xmlns:a="http://schemas.openxmlformats.org/drawingml/2006/main">
              <a:pPr>
                <a:defRPr sz="1050" b="1">
                  <a:solidFill>
                    <a:srgbClr val="0E2841"/>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b="0">
                <a:solidFill>
                  <a:srgbClr val="0E2841"/>
                </a:solidFill>
                <a:latin typeface="Helvetica Neue"/>
                <a:ea typeface="Helvetica Neue"/>
                <a:cs typeface="Helvetica Neue"/>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75" b="0">
              <a:solidFill>
                <a:srgbClr val="0E2841"/>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chartSpace>
</file>

<file path=ppt/slides/charts/chart7.xml><?xml version="1.0" encoding="utf-8"?>
<c:chartSpace xmlns:c="http://schemas.openxmlformats.org/drawingml/2006/chart">
  <c:lang val="en-US"/>
  <c:chart>
    <c:plotArea>
      <c:scatterChart>
        <c:scatterStyle val="lineMarker"/>
        <c:ser>
          <c:idx val="0"/>
          <c:order val="0"/>
          <c:tx>
            <c:v>P25</c:v>
          </c:tx>
          <c:spPr>
            <a:ln xmlns:a="http://schemas.openxmlformats.org/drawingml/2006/main" w="19050">
              <a:solidFill>
                <a:srgbClr val="F4B183"/>
              </a:solidFill>
            </a:ln>
          </c:spPr>
          <c:marker>
            <c:symbol val="none"/>
            <c:size val="2"/>
          </c:marker>
          <c:xVal>
            <c:numLit>
              <c:formatCode>General</c:formatCode>
              <c:ptCount val="9"/>
              <c:pt idx="0">
                <c:v>0</c:v>
              </c:pt>
              <c:pt idx="1">
                <c:v>50</c:v>
              </c:pt>
              <c:pt idx="2">
                <c:v>100</c:v>
              </c:pt>
              <c:pt idx="3">
                <c:v>250</c:v>
              </c:pt>
              <c:pt idx="4">
                <c:v>500</c:v>
              </c:pt>
              <c:pt idx="5">
                <c:v>750</c:v>
              </c:pt>
              <c:pt idx="6">
                <c:v>1000</c:v>
              </c:pt>
              <c:pt idx="7">
                <c:v>1250</c:v>
              </c:pt>
              <c:pt idx="8">
                <c:v>1500</c:v>
              </c:pt>
            </c:numLit>
          </c:xVal>
          <c:yVal>
            <c:numLit>
              <c:formatCode>0.0</c:formatCode>
              <c:ptCount val="9"/>
              <c:pt idx="0">
                <c:v>0</c:v>
              </c:pt>
              <c:pt idx="1">
                <c:v>0.8984715342521667</c:v>
              </c:pt>
              <c:pt idx="2">
                <c:v>1.3129859864711761</c:v>
              </c:pt>
              <c:pt idx="3">
                <c:v>1.8615836799144745</c:v>
              </c:pt>
              <c:pt idx="4">
                <c:v>2.215450406074524</c:v>
              </c:pt>
              <c:pt idx="5">
                <c:v>2.3711817860603333</c:v>
              </c:pt>
              <c:pt idx="6">
                <c:v>2.4710042476654053</c:v>
              </c:pt>
              <c:pt idx="7">
                <c:v>2.5344106554985046</c:v>
              </c:pt>
              <c:pt idx="8">
                <c:v>2.589367926120758</c:v>
              </c:pt>
            </c:numLit>
          </c:yVal>
        </c:ser>
        <c:ser>
          <c:idx val="1"/>
          <c:order val="1"/>
          <c:tx>
            <c:v>Median</c:v>
          </c:tx>
          <c:spPr>
            <a:ln xmlns:a="http://schemas.openxmlformats.org/drawingml/2006/main" w="38100">
              <a:solidFill>
                <a:srgbClr val="E97132"/>
              </a:solidFill>
            </a:ln>
          </c:spPr>
          <c:marker>
            <c:symbol val="diamond"/>
            <c:size val="7"/>
            <c:spPr>
              <a:solidFill xmlns:a="http://schemas.openxmlformats.org/drawingml/2006/main">
                <a:srgbClr val="E97132"/>
              </a:solidFill>
            </c:spPr>
          </c:marker>
          <c:xVal>
            <c:numLit>
              <c:formatCode>General</c:formatCode>
              <c:ptCount val="9"/>
              <c:pt idx="0">
                <c:v>0</c:v>
              </c:pt>
              <c:pt idx="1">
                <c:v>50</c:v>
              </c:pt>
              <c:pt idx="2">
                <c:v>100</c:v>
              </c:pt>
              <c:pt idx="3">
                <c:v>250</c:v>
              </c:pt>
              <c:pt idx="4">
                <c:v>500</c:v>
              </c:pt>
              <c:pt idx="5">
                <c:v>750</c:v>
              </c:pt>
              <c:pt idx="6">
                <c:v>1000</c:v>
              </c:pt>
              <c:pt idx="7">
                <c:v>1250</c:v>
              </c:pt>
              <c:pt idx="8">
                <c:v>1500</c:v>
              </c:pt>
            </c:numLit>
          </c:xVal>
          <c:yVal>
            <c:numLit>
              <c:formatCode>0.0</c:formatCode>
              <c:ptCount val="9"/>
              <c:pt idx="0">
                <c:v>0</c:v>
              </c:pt>
              <c:pt idx="1">
                <c:v>2.12143075466156</c:v>
              </c:pt>
              <c:pt idx="2">
                <c:v>2.9823999404907227</c:v>
              </c:pt>
              <c:pt idx="3">
                <c:v>3.8474079370498657</c:v>
              </c:pt>
              <c:pt idx="4">
                <c:v>4.365616083145142</c:v>
              </c:pt>
              <c:pt idx="5">
                <c:v>4.654478549957275</c:v>
              </c:pt>
              <c:pt idx="6">
                <c:v>4.829845428466797</c:v>
              </c:pt>
              <c:pt idx="7">
                <c:v>4.887903213500977</c:v>
              </c:pt>
              <c:pt idx="8">
                <c:v>4.901157379150391</c:v>
              </c:pt>
            </c:numLit>
          </c:yVal>
        </c:ser>
        <c:ser>
          <c:idx val="2"/>
          <c:order val="2"/>
          <c:tx>
            <c:v>P75</c:v>
          </c:tx>
          <c:spPr>
            <a:ln xmlns:a="http://schemas.openxmlformats.org/drawingml/2006/main" w="19050">
              <a:solidFill>
                <a:srgbClr val="C65911"/>
              </a:solidFill>
            </a:ln>
          </c:spPr>
          <c:marker>
            <c:symbol val="none"/>
            <c:size val="2"/>
          </c:marker>
          <c:xVal>
            <c:numLit>
              <c:formatCode>General</c:formatCode>
              <c:ptCount val="9"/>
              <c:pt idx="0">
                <c:v>0</c:v>
              </c:pt>
              <c:pt idx="1">
                <c:v>50</c:v>
              </c:pt>
              <c:pt idx="2">
                <c:v>100</c:v>
              </c:pt>
              <c:pt idx="3">
                <c:v>250</c:v>
              </c:pt>
              <c:pt idx="4">
                <c:v>500</c:v>
              </c:pt>
              <c:pt idx="5">
                <c:v>750</c:v>
              </c:pt>
              <c:pt idx="6">
                <c:v>1000</c:v>
              </c:pt>
              <c:pt idx="7">
                <c:v>1250</c:v>
              </c:pt>
              <c:pt idx="8">
                <c:v>1500</c:v>
              </c:pt>
            </c:numLit>
          </c:xVal>
          <c:yVal>
            <c:numLit>
              <c:formatCode>0.0</c:formatCode>
              <c:ptCount val="9"/>
              <c:pt idx="0">
                <c:v>0</c:v>
              </c:pt>
              <c:pt idx="1">
                <c:v>6.780035138130188</c:v>
              </c:pt>
              <c:pt idx="2">
                <c:v>9.940429210662842</c:v>
              </c:pt>
              <c:pt idx="3">
                <c:v>12.939229726791382</c:v>
              </c:pt>
              <c:pt idx="4">
                <c:v>14.00959849357605</c:v>
              </c:pt>
              <c:pt idx="5">
                <c:v>14.235477209091187</c:v>
              </c:pt>
              <c:pt idx="6">
                <c:v>14.691163301467896</c:v>
              </c:pt>
              <c:pt idx="7">
                <c:v>14.997794151306152</c:v>
              </c:pt>
              <c:pt idx="8">
                <c:v>15.101289510726929</c:v>
              </c:pt>
            </c:numLit>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title>
          <c:tx>
            <c:rich>
              <a:bodyPr xmlns:a="http://schemas.openxmlformats.org/drawingml/2006/main"/>
              <a:lstStyle xmlns:a="http://schemas.openxmlformats.org/drawingml/2006/main"/>
              <a:p xmlns:a="http://schemas.openxmlformats.org/drawingml/2006/main">
                <a:r>
                  <a:rPr sz="1050" b="1">
                    <a:solidFill>
                      <a:srgbClr val="0E2841"/>
                    </a:solidFill>
                    <a:latin typeface="Helvetica Neue"/>
                    <a:ea typeface="Helvetica Neue"/>
                    <a:cs typeface="Helvetica Neue"/>
                  </a:rPr>
                  <a:t>Mean drift (pixels)</a:t>
                </a:r>
              </a:p>
            </c:rich>
          </c:tx>
          <c:overlay val="0"/>
          <c:txPr>
            <a:bodyPr xmlns:a="http://schemas.openxmlformats.org/drawingml/2006/main" anchorCtr="1"/>
            <a:lstStyle xmlns:a="http://schemas.openxmlformats.org/drawingml/2006/main"/>
            <a:p xmlns:a="http://schemas.openxmlformats.org/drawingml/2006/main">
              <a:pPr>
                <a:defRPr sz="1050" b="1">
                  <a:solidFill>
                    <a:srgbClr val="0E2841"/>
                  </a:solidFill>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b="0">
                <a:solidFill>
                  <a:srgbClr val="0E2841"/>
                </a:solidFill>
                <a:latin typeface="Helvetica Neue"/>
                <a:ea typeface="Helvetica Neue"/>
                <a:cs typeface="Helvetica Neue"/>
              </a:defRPr>
            </a:pPr>
          </a:p>
        </c:txPr>
        <c:crossAx val="48650112"/>
      </c:valAx>
      <c:valAx>
        <c:axId val="48650112"/>
        <c:scaling>
          <c:orientation val="minMax"/>
          <c:max val="1500"/>
          <c:min val="0"/>
        </c:scaling>
        <c:delete val="0"/>
        <c:axPos val="b"/>
        <c:title>
          <c:tx>
            <c:rich>
              <a:bodyPr xmlns:a="http://schemas.openxmlformats.org/drawingml/2006/main"/>
              <a:lstStyle xmlns:a="http://schemas.openxmlformats.org/drawingml/2006/main"/>
              <a:p xmlns:a="http://schemas.openxmlformats.org/drawingml/2006/main">
                <a:r>
                  <a:rPr sz="1050" b="1">
                    <a:solidFill>
                      <a:srgbClr val="0E2841"/>
                    </a:solidFill>
                    <a:latin typeface="Helvetica Neue"/>
                    <a:ea typeface="Helvetica Neue"/>
                    <a:cs typeface="Helvetica Neue"/>
                  </a:rPr>
                  <a:t>TTA updates per image</a:t>
                </a:r>
              </a:p>
            </c:rich>
          </c:tx>
          <c:overlay val="0"/>
          <c:txPr>
            <a:bodyPr xmlns:a="http://schemas.openxmlformats.org/drawingml/2006/main" anchorCtr="1"/>
            <a:lstStyle xmlns:a="http://schemas.openxmlformats.org/drawingml/2006/main"/>
            <a:p xmlns:a="http://schemas.openxmlformats.org/drawingml/2006/main">
              <a:pPr>
                <a:defRPr sz="1050" b="1">
                  <a:solidFill>
                    <a:srgbClr val="0E2841"/>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b="0">
                <a:solidFill>
                  <a:srgbClr val="0E2841"/>
                </a:solidFill>
                <a:latin typeface="Helvetica Neue"/>
                <a:ea typeface="Helvetica Neue"/>
                <a:cs typeface="Helvetica Neue"/>
              </a:defRPr>
            </a:pPr>
          </a:p>
        </c:txPr>
        <c:crossAx val="48672768"/>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975" b="0">
              <a:solidFill>
                <a:srgbClr val="0E2841"/>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6A2B487C-2810-664A-5608-250C3C5C5DBE}"/>
              </a:ext>
            </a:extLst>
          </p:cNvPr>
          <p:cNvSpPr>
            <a:spLocks xmlns:a="http://schemas.openxmlformats.org/drawingml/2006/main" noGrp="1"/>
          </p:cNvSpPr>
          <p:nvPr/>
        </p:nvSpPr>
        <p:spPr>
          <a:xfrm xmlns:a="http://schemas.openxmlformats.org/drawingml/2006/main">
            <a:off x="0" y="2644170"/>
            <a:ext cx="7315201" cy="15696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4350" b="1"/>
            </a:pPr>
            <a:r>
              <a:rPr sz="4800" b="1">
                <a:solidFill>
                  <a:srgbClr val="505050"/>
                </a:solidFill>
                <a:latin typeface="Segoe UI Semibold"/>
                <a:ea typeface="Segoe UI Semibold"/>
                <a:cs typeface="Segoe UI Semibold"/>
              </a:rPr>
              <a:t>PCA-guided</a:t>
            </a:r>
          </a:p>
          <a:p xmlns:a="http://schemas.openxmlformats.org/drawingml/2006/main">
            <a:pPr>
              <a:buNone/>
              <a:defRPr sz="4350" b="1"/>
            </a:pPr>
            <a:r>
              <a:rPr sz="4800" b="1">
                <a:solidFill>
                  <a:srgbClr val="203764"/>
                </a:solidFill>
                <a:latin typeface="Segoe UI Semibold"/>
                <a:ea typeface="Segoe UI Semibold"/>
                <a:cs typeface="Segoe UI Semibold"/>
              </a:rPr>
              <a:t>TTA Findings</a:t>
            </a:r>
            <a:endParaRPr sz="11500" b="1">
              <a:solidFill>
                <a:srgbClr val="203764"/>
              </a:solidFill>
              <a:latin typeface="Segoe UI Semibold"/>
              <a:ea typeface="Segoe UI Semibold"/>
              <a:cs typeface="Segoe UI Semibold"/>
            </a:endParaRPr>
          </a:p>
        </p:txBody>
      </p:sp>
      <p:sp>
        <p:nvSpPr>
          <p:cNvPr id="5" name="TextBox 4">
            <a:extLst xmlns:a="http://schemas.openxmlformats.org/drawingml/2006/main">
              <a:ext uri="{FF2B5EF4-FFF2-40B4-BE49-F238E27FC236}">
                <a16:creationId xmlns:a16="http://schemas.microsoft.com/office/drawing/2014/main" id="{4E83F3AF-7E68-B612-C9EE-2F47572D97F1}"/>
              </a:ext>
            </a:extLst>
          </p:cNvPr>
          <p:cNvSpPr>
            <a:spLocks xmlns:a="http://schemas.openxmlformats.org/drawingml/2006/main" noGrp="1"/>
          </p:cNvSpPr>
          <p:nvPr/>
        </p:nvSpPr>
        <p:spPr>
          <a:xfrm xmlns:a="http://schemas.openxmlformats.org/drawingml/2006/main">
            <a:off x="0" y="6488668"/>
            <a:ext cx="5058137" cy="646589"/>
          </a:xfrm>
          <a:prstGeom xmlns:a="http://schemas.openxmlformats.org/drawingml/2006/main" prst="rect">
            <a:avLst/>
          </a:prstGeom>
          <a:noFill xmlns:a="http://schemas.openxmlformats.org/drawingml/2006/main"/>
        </p:spPr>
        <p:txBody>
          <a:bodyPr xmlns:a="http://schemas.openxmlformats.org/drawingml/2006/main" wrap="square" lIns="91440" tIns="45721" rIns="91440" bIns="45721" anchor="t">
            <a:spAutoFit/>
          </a:bodyPr>
          <a:lstStyle xmlns:a="http://schemas.openxmlformats.org/drawingml/2006/main"/>
          <a:p xmlns:a="http://schemas.openxmlformats.org/drawingml/2006/main">
            <a:r>
              <a:rPr sz="1801" b="1">
                <a:solidFill>
                  <a:srgbClr val="505050"/>
                </a:solidFill>
                <a:latin typeface="Segoe UI Semibold"/>
                <a:ea typeface="Segoe UI Semibold"/>
                <a:cs typeface="Segoe UI Semibold"/>
              </a:rPr>
              <a:t>Barcelona, Spain. </a:t>
            </a:r>
            <a:r>
              <a:rPr sz="1801" b="1">
                <a:solidFill>
                  <a:srgbClr val="505050"/>
                </a:solidFill>
                <a:latin typeface="Segoe UI Semibold"/>
                <a:ea typeface="Segoe UI Semibold"/>
                <a:cs typeface="Segoe UI Semibold"/>
              </a:rPr>
              <a:t>16/09/2026</a:t>
            </a:r>
          </a:p>
          <a:p xmlns:a="http://schemas.openxmlformats.org/drawingml/2006/main">
            <a:endParaRPr sz="1801" b="1">
              <a:solidFill>
                <a:srgbClr val="505050"/>
              </a:solidFill>
              <a:latin typeface="Segoe UI Semibold"/>
              <a:ea typeface="Segoe UI Semibold"/>
              <a:cs typeface="Segoe UI Semibold"/>
            </a:endParaRPr>
          </a:p>
        </p:txBody>
      </p:sp>
      <p:pic>
        <p:nvPicPr>
          <p:cNvPr id="10" name="Picture 4"/>
          <p:cNvPicPr>
            <a:picLocks xmlns:a="http://schemas.openxmlformats.org/drawingml/2006/main" noChangeAspect="1"/>
          </p:cNvPicPr>
          <p:nvPr/>
        </p:nvPicPr>
        <p:blipFill>
          <a:blip xmlns:r="http://schemas.openxmlformats.org/officeDocument/2006/relationships" xmlns:a="http://schemas.openxmlformats.org/drawingml/2006/main" r:embed="Rf982a7564ee846b7">
            <a:clrChange>
              <a:clrFrom>
                <a:srgbClr val="FFFFFF"/>
              </a:clrFrom>
              <a:clrTo>
                <a:srgbClr val="FFFFFF">
                  <a:alpha val="0"/>
                </a:srgbClr>
              </a:clrTo>
            </a:clrChange>
          </a:blip>
          <a:srcRect xmlns:a="http://schemas.openxmlformats.org/drawingml/2006/main" l="0" t="0" r="0" b="0"/>
          <a:stretch xmlns:a="http://schemas.openxmlformats.org/drawingml/2006/main">
            <a:fillRect l="0" t="0" r="0" b="0"/>
          </a:stretch>
        </p:blipFill>
        <p:spPr>
          <a:xfrm xmlns:a="http://schemas.openxmlformats.org/drawingml/2006/main">
            <a:off x="6096000" y="1113182"/>
            <a:ext cx="6080459" cy="4631636"/>
          </a:xfrm>
          <a:prstGeom xmlns:a="http://schemas.openxmlformats.org/drawingml/2006/main" prst="rect">
            <a:avLst/>
          </a:prstGeom>
        </p:spPr>
      </p:pic>
      <p:pic>
        <p:nvPicPr>
          <p:cNvPr id="11"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2d33059d21fe41df">
            <a:clrChange>
              <a:clrFrom>
                <a:srgbClr val="FFFFFF"/>
              </a:clrFrom>
              <a:clrTo>
                <a:srgbClr val="FFFFFF">
                  <a:alpha val="0"/>
                </a:srgbClr>
              </a:clrTo>
            </a:clrChange>
          </a:blip>
          <a:srcRect xmlns:a="http://schemas.openxmlformats.org/drawingml/2006/main" l="0" t="28029" r="0" b="29602"/>
          <a:stretch xmlns:a="http://schemas.openxmlformats.org/drawingml/2006/main"/>
        </p:blipFill>
        <p:spPr>
          <a:xfrm xmlns:a="http://schemas.openxmlformats.org/drawingml/2006/main">
            <a:off x="9228221" y="87707"/>
            <a:ext cx="2948238" cy="912498"/>
          </a:xfrm>
          <a:prstGeom xmlns:a="http://schemas.openxmlformats.org/drawingml/2006/main" prst="rect">
            <a:avLst/>
          </a:prstGeom>
        </p:spPr>
      </p:pic>
    </p:spTree>
    <p:extLst>
      <p:ext uri="{BB962C8B-B14F-4D97-AF65-F5344CB8AC3E}">
        <p14:creationId xmlns:p14="http://schemas.microsoft.com/office/powerpoint/2010/main" val="991915267"/>
      </p:ext>
    </p:extLst>
  </p:cSld>
</p:sld>
</file>

<file path=ppt/slides/slide2.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2" name="Title">
            <a:extLst xmlns:a="http://schemas.openxmlformats.org/drawingml/2006/main">
              <a:ext uri="{FF2B5EF4-FFF2-40B4-BE49-F238E27FC236}">
                <a16:creationId xmlns:a16="http://schemas.microsoft.com/office/drawing/2014/main" id="{739ABF54-2E3C-4E32-BC88-D352EFAE4A6B}"/>
              </a:ext>
            </a:extLst>
          </p:cNvPr>
          <p:cNvSpPr>
            <a:spLocks xmlns:a="http://schemas.openxmlformats.org/drawingml/2006/main" noGrp="1"/>
          </p:cNvSpPr>
          <p:nvPr/>
        </p:nvSpPr>
        <p:spPr>
          <a:xfrm xmlns:a="http://schemas.openxmlformats.org/drawingml/2006/main">
            <a:off x="493776" y="274320"/>
            <a:ext cx="11201400" cy="502920"/>
          </a:xfrm>
          <a:prstGeom xmlns:a="http://schemas.openxmlformats.org/drawingml/2006/main" prst="rect">
            <a:avLst/>
          </a:prstGeom>
        </p:spPr>
        <p:txBody>
          <a:bodyPr xmlns:a="http://schemas.openxmlformats.org/drawingml/2006/main" wrap="square" anchor="t"/>
          <a:lstStyle xmlns:a="http://schemas.openxmlformats.org/drawingml/2006/main"/>
          <a:p xmlns:a="http://schemas.openxmlformats.org/drawingml/2006/main">
            <a:pPr algn="l">
              <a:buNone/>
            </a:pPr>
            <a:r>
              <a:rPr sz="2600" b="1">
                <a:solidFill>
                  <a:srgbClr val="156082"/>
                </a:solidFill>
                <a:latin typeface="Helvetica Neue"/>
                <a:ea typeface="Helvetica Neue"/>
                <a:cs typeface="Helvetica Neue"/>
              </a:rPr>
              <a:t>Experimental Protocol</a:t>
            </a:r>
          </a:p>
        </p:txBody>
      </p:sp>
      <p:graphicFrame>
        <p:nvGraphicFramePr>
          <p:cNvPr id="107" name="Table 105"/>
          <p:cNvGraphicFramePr/>
          <p:nvPr/>
        </p:nvGraphicFramePr>
        <p:xfrm>
          <a:off xmlns:a="http://schemas.openxmlformats.org/drawingml/2006/main" x="590550" y="1200150"/>
          <a:ext xmlns:a="http://schemas.openxmlformats.org/drawingml/2006/main" cx="11010900" cy="4591050"/>
        </p:xfrm>
        <a:graphic xmlns:a="http://schemas.openxmlformats.org/drawingml/2006/main">
          <a:graphicData uri="http://schemas.openxmlformats.org/drawingml/2006/table">
            <a:tbl>
              <a:tblPr/>
              <a:tblGrid>
                <a:gridCol w="2714625"/>
                <a:gridCol w="8296275"/>
              </a:tblGrid>
              <a:tr h="476250">
                <a:tc>
                  <a:txBody>
                    <a:bodyPr/>
                    <a:lstStyle/>
                    <a:p>
                      <a:pPr algn="ctr">
                        <a:buNone/>
                      </a:pPr>
                      <a:r>
                        <a:rPr sz="1350" b="1">
                          <a:solidFill>
                            <a:srgbClr val="FFFFFF"/>
                          </a:solidFill>
                        </a:rPr>
                        <a:t>Component</a:t>
                      </a:r>
                    </a:p>
                  </a:txBody>
                  <a:tcPr marL="66675" marR="66675" marT="47625" marB="47625" anchor="ctr">
                    <a:solidFill>
                      <a:srgbClr val="156082"/>
                    </a:solidFill>
                  </a:tcPr>
                </a:tc>
                <a:tc>
                  <a:txBody>
                    <a:bodyPr/>
                    <a:lstStyle/>
                    <a:p>
                      <a:pPr algn="ctr">
                        <a:buNone/>
                      </a:pPr>
                      <a:r>
                        <a:rPr sz="1350" b="1">
                          <a:solidFill>
                            <a:srgbClr val="FFFFFF"/>
                          </a:solidFill>
                        </a:rPr>
                        <a:t>Configuration</a:t>
                      </a:r>
                    </a:p>
                  </a:txBody>
                  <a:tcPr marL="66675" marR="66675" marT="47625" marB="47625" anchor="ctr">
                    <a:solidFill>
                      <a:srgbClr val="156082"/>
                    </a:solidFill>
                  </a:tcPr>
                </a:tc>
              </a:tr>
              <a:tr h="514350">
                <a:tc>
                  <a:txBody>
                    <a:bodyPr/>
                    <a:lstStyle/>
                    <a:p>
                      <a:r>
                        <a:rPr sz="1350" b="1">
                          <a:solidFill>
                            <a:srgbClr val="FFFFFF"/>
                          </a:solidFill>
                        </a:rPr>
                        <a:t>Source supervision</a:t>
                      </a:r>
                    </a:p>
                  </a:txBody>
                  <a:tcPr marL="66675" marR="66675" marT="47625" marB="47625" anchor="ctr">
                    <a:solidFill>
                      <a:srgbClr val="0E2841"/>
                    </a:solidFill>
                  </a:tcPr>
                </a:tc>
                <a:tc>
                  <a:txBody>
                    <a:bodyPr/>
                    <a:lstStyle/>
                    <a:p>
                      <a:r>
                        <a:rPr sz="1400">
                          <a:solidFill>
                            <a:srgbClr val="25313B"/>
                          </a:solidFill>
                        </a:rPr>
                        <a:t>Synthetic-only training on SynBaby-72</a:t>
                      </a:r>
                    </a:p>
                  </a:txBody>
                  <a:tcPr marL="66675" marR="66675" marT="47625" marB="47625" anchor="ctr">
                    <a:solidFill>
                      <a:srgbClr val="F4F7F9"/>
                    </a:solidFill>
                  </a:tcPr>
                </a:tc>
              </a:tr>
              <a:tr h="514350">
                <a:tc>
                  <a:txBody>
                    <a:bodyPr/>
                    <a:lstStyle/>
                    <a:p>
                      <a:r>
                        <a:rPr sz="1350" b="1">
                          <a:solidFill>
                            <a:srgbClr val="FFFFFF"/>
                          </a:solidFill>
                        </a:rPr>
                        <a:t>Adapted parameters</a:t>
                      </a:r>
                    </a:p>
                  </a:txBody>
                  <a:tcPr marL="66675" marR="66675" marT="47625" marB="47625" anchor="ctr">
                    <a:solidFill>
                      <a:srgbClr val="0E2841"/>
                    </a:solidFill>
                  </a:tcPr>
                </a:tc>
                <a:tc>
                  <a:txBody>
                    <a:bodyPr/>
                    <a:lstStyle/>
                    <a:p>
                      <a:r>
                        <a:rPr sz="1400">
                          <a:solidFill>
                            <a:srgbClr val="25313B"/>
                          </a:solidFill>
                        </a:rPr>
                        <a:t>External image-normalization network</a:t>
                      </a:r>
                    </a:p>
                  </a:txBody>
                  <a:tcPr marL="66675" marR="66675" marT="47625" marB="47625" anchor="ctr">
                    <a:solidFill>
                      <a:srgbClr val="FFFFFF"/>
                    </a:solidFill>
                  </a:tcPr>
                </a:tc>
              </a:tr>
              <a:tr h="514350">
                <a:tc>
                  <a:txBody>
                    <a:bodyPr/>
                    <a:lstStyle/>
                    <a:p>
                      <a:r>
                        <a:rPr sz="1350" b="1">
                          <a:solidFill>
                            <a:srgbClr val="FFFFFF"/>
                          </a:solidFill>
                        </a:rPr>
                        <a:t>Frozen parameters</a:t>
                      </a:r>
                    </a:p>
                  </a:txBody>
                  <a:tcPr marL="66675" marR="66675" marT="47625" marB="47625" anchor="ctr">
                    <a:solidFill>
                      <a:srgbClr val="0E2841"/>
                    </a:solidFill>
                  </a:tcPr>
                </a:tc>
                <a:tc>
                  <a:txBody>
                    <a:bodyPr/>
                    <a:lstStyle/>
                    <a:p>
                      <a:r>
                        <a:rPr sz="1400">
                          <a:solidFill>
                            <a:srgbClr val="25313B"/>
                          </a:solidFill>
                        </a:rPr>
                        <a:t>Complete BabyLand-72 landmark detector</a:t>
                      </a:r>
                    </a:p>
                  </a:txBody>
                  <a:tcPr marL="66675" marR="66675" marT="47625" marB="47625" anchor="ctr">
                    <a:solidFill>
                      <a:srgbClr val="F4F7F9"/>
                    </a:solidFill>
                  </a:tcPr>
                </a:tc>
              </a:tr>
              <a:tr h="514350">
                <a:tc>
                  <a:txBody>
                    <a:bodyPr/>
                    <a:lstStyle/>
                    <a:p>
                      <a:r>
                        <a:rPr sz="1350" b="1">
                          <a:solidFill>
                            <a:srgbClr val="FFFFFF"/>
                          </a:solidFill>
                        </a:rPr>
                        <a:t>TTA signal</a:t>
                      </a:r>
                    </a:p>
                  </a:txBody>
                  <a:tcPr marL="66675" marR="66675" marT="47625" marB="47625" anchor="ctr">
                    <a:solidFill>
                      <a:srgbClr val="0E2841"/>
                    </a:solidFill>
                  </a:tcPr>
                </a:tc>
                <a:tc>
                  <a:txBody>
                    <a:bodyPr/>
                    <a:lstStyle/>
                    <a:p>
                      <a:r>
                        <a:rPr sz="1400">
                          <a:solidFill>
                            <a:srgbClr val="25313B"/>
                          </a:solidFill>
                        </a:rPr>
                        <a:t>PCA shape reconstruction loss only</a:t>
                      </a:r>
                    </a:p>
                  </a:txBody>
                  <a:tcPr marL="66675" marR="66675" marT="47625" marB="47625" anchor="ctr">
                    <a:solidFill>
                      <a:srgbClr val="FFFFFF"/>
                    </a:solidFill>
                  </a:tcPr>
                </a:tc>
              </a:tr>
              <a:tr h="514350">
                <a:tc>
                  <a:txBody>
                    <a:bodyPr/>
                    <a:lstStyle/>
                    <a:p>
                      <a:r>
                        <a:rPr sz="1350" b="1">
                          <a:solidFill>
                            <a:srgbClr val="FFFFFF"/>
                          </a:solidFill>
                        </a:rPr>
                        <a:t>Adaptation mode</a:t>
                      </a:r>
                    </a:p>
                  </a:txBody>
                  <a:tcPr marL="66675" marR="66675" marT="47625" marB="47625" anchor="ctr">
                    <a:solidFill>
                      <a:srgbClr val="0E2841"/>
                    </a:solidFill>
                  </a:tcPr>
                </a:tc>
                <a:tc>
                  <a:txBody>
                    <a:bodyPr/>
                    <a:lstStyle/>
                    <a:p>
                      <a:r>
                        <a:rPr sz="1400">
                          <a:solidFill>
                            <a:srgbClr val="25313B"/>
                          </a:solidFill>
                        </a:rPr>
                        <a:t>Episodic: normalizer reinitialized for every test image</a:t>
                      </a:r>
                    </a:p>
                  </a:txBody>
                  <a:tcPr marL="66675" marR="66675" marT="47625" marB="47625" anchor="ctr">
                    <a:solidFill>
                      <a:srgbClr val="F4F7F9"/>
                    </a:solidFill>
                  </a:tcPr>
                </a:tc>
              </a:tr>
              <a:tr h="514350">
                <a:tc>
                  <a:txBody>
                    <a:bodyPr/>
                    <a:lstStyle/>
                    <a:p>
                      <a:r>
                        <a:rPr sz="1350" b="1">
                          <a:solidFill>
                            <a:srgbClr val="FFFFFF"/>
                          </a:solidFill>
                        </a:rPr>
                        <a:t>Learning rate</a:t>
                      </a:r>
                    </a:p>
                  </a:txBody>
                  <a:tcPr marL="66675" marR="66675" marT="47625" marB="47625" anchor="ctr">
                    <a:solidFill>
                      <a:srgbClr val="0E2841"/>
                    </a:solidFill>
                  </a:tcPr>
                </a:tc>
                <a:tc>
                  <a:txBody>
                    <a:bodyPr/>
                    <a:lstStyle/>
                    <a:p>
                      <a:r>
                        <a:rPr sz="1400">
                          <a:solidFill>
                            <a:srgbClr val="25313B"/>
                          </a:solidFill>
                        </a:rPr>
                        <a:t>1 × 10⁻⁴ and 1 × 10⁻³</a:t>
                      </a:r>
                    </a:p>
                  </a:txBody>
                  <a:tcPr marL="66675" marR="66675" marT="47625" marB="47625" anchor="ctr">
                    <a:solidFill>
                      <a:srgbClr val="FFFFFF"/>
                    </a:solidFill>
                  </a:tcPr>
                </a:tc>
              </a:tr>
              <a:tr h="514350">
                <a:tc>
                  <a:txBody>
                    <a:bodyPr/>
                    <a:lstStyle/>
                    <a:p>
                      <a:r>
                        <a:rPr sz="1350" b="1">
                          <a:solidFill>
                            <a:srgbClr val="FFFFFF"/>
                          </a:solidFill>
                        </a:rPr>
                        <a:t>TTA updates</a:t>
                      </a:r>
                    </a:p>
                  </a:txBody>
                  <a:tcPr marL="66675" marR="66675" marT="47625" marB="47625" anchor="ctr">
                    <a:solidFill>
                      <a:srgbClr val="0E2841"/>
                    </a:solidFill>
                  </a:tcPr>
                </a:tc>
                <a:tc>
                  <a:txBody>
                    <a:bodyPr/>
                    <a:lstStyle/>
                    <a:p>
                      <a:r>
                        <a:rPr sz="1400">
                          <a:solidFill>
                            <a:srgbClr val="25313B"/>
                          </a:solidFill>
                        </a:rPr>
                        <a:t>BabyLand: 0–1250 at 10⁻⁴; 0–1500 at 10⁻³; InfAnFace: 0 and 1500 at 10⁻³</a:t>
                      </a:r>
                    </a:p>
                  </a:txBody>
                  <a:tcPr marL="66675" marR="66675" marT="47625" marB="47625" anchor="ctr">
                    <a:solidFill>
                      <a:srgbClr val="F4F7F9"/>
                    </a:solidFill>
                  </a:tcPr>
                </a:tc>
              </a:tr>
              <a:tr h="514350">
                <a:tc>
                  <a:txBody>
                    <a:bodyPr/>
                    <a:lstStyle/>
                    <a:p>
                      <a:r>
                        <a:rPr sz="1350" b="1">
                          <a:solidFill>
                            <a:srgbClr val="FFFFFF"/>
                          </a:solidFill>
                        </a:rPr>
                        <a:t>Evaluation</a:t>
                      </a:r>
                    </a:p>
                  </a:txBody>
                  <a:tcPr marL="66675" marR="66675" marT="47625" marB="47625" anchor="ctr">
                    <a:solidFill>
                      <a:srgbClr val="0E2841"/>
                    </a:solidFill>
                  </a:tcPr>
                </a:tc>
                <a:tc>
                  <a:txBody>
                    <a:bodyPr/>
                    <a:lstStyle/>
                    <a:p>
                      <a:r>
                        <a:rPr sz="1400">
                          <a:solidFill>
                            <a:srgbClr val="25313B"/>
                          </a:solidFill>
                        </a:rPr>
                        <a:t>Predictions on crops are reprojected; ground truth is used only for metrics</a:t>
                      </a:r>
                    </a:p>
                  </a:txBody>
                  <a:tcPr marL="66675" marR="66675" marT="47625" marB="47625" anchor="ctr">
                    <a:solidFill>
                      <a:srgbClr val="FFFFFF"/>
                    </a:solidFill>
                  </a:tcPr>
                </a:tc>
              </a:tr>
            </a:tbl>
          </a:graphicData>
        </a:graphic>
      </p:graphicFrame>
      <p:sp>
        <p:nvSpPr>
          <p:cNvPr id="104" name="protocol-footnote">
            <a:extLst xmlns:a="http://schemas.openxmlformats.org/drawingml/2006/main">
              <a:ext uri="{FF2B5EF4-FFF2-40B4-BE49-F238E27FC236}">
                <a16:creationId xmlns:a16="http://schemas.microsoft.com/office/drawing/2014/main" id="{E4D2E227-8B84-40FC-A151-D456CE6DF4E6}"/>
              </a:ext>
            </a:extLst>
          </p:cNvPr>
          <p:cNvSpPr>
            <a:spLocks xmlns:a="http://schemas.openxmlformats.org/drawingml/2006/main" noGrp="1"/>
          </p:cNvSpPr>
          <p:nvPr/>
        </p:nvSpPr>
        <p:spPr>
          <a:xfrm xmlns:a="http://schemas.openxmlformats.org/drawingml/2006/main">
            <a:off x="590550" y="5943600"/>
            <a:ext cx="11010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i="1">
                <a:solidFill>
                  <a:srgbClr val="5A6770"/>
                </a:solidFill>
              </a:defRPr>
            </a:pPr>
            <a:r>
              <a:rPr sz="1125" i="1">
                <a:solidFill>
                  <a:srgbClr val="5A6770"/>
                </a:solidFill>
              </a:rPr>
              <a:t>All reported natural-image labels remain outside the adaptation loop.</a:t>
            </a:r>
          </a:p>
        </p:txBody>
      </p:sp>
    </p:spTree>
    <p:extLst>
      <p:ext uri="{BB962C8B-B14F-4D97-AF65-F5344CB8AC3E}">
        <p14:creationId xmlns:p14="http://schemas.microsoft.com/office/powerpoint/2010/main" val="2974715249"/>
      </p:ext>
    </p:extLst>
  </p:cSld>
</p:sld>
</file>

<file path=ppt/slides/slide3.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2" name="Title">
            <a:extLst xmlns:a="http://schemas.openxmlformats.org/drawingml/2006/main">
              <a:ext uri="{FF2B5EF4-FFF2-40B4-BE49-F238E27FC236}">
                <a16:creationId xmlns:a16="http://schemas.microsoft.com/office/drawing/2014/main" id="{739ABF54-2E3C-4E32-BC88-D352EFAE4A6B}"/>
              </a:ext>
            </a:extLst>
          </p:cNvPr>
          <p:cNvSpPr>
            <a:spLocks xmlns:a="http://schemas.openxmlformats.org/drawingml/2006/main" noGrp="1"/>
          </p:cNvSpPr>
          <p:nvPr/>
        </p:nvSpPr>
        <p:spPr>
          <a:xfrm xmlns:a="http://schemas.openxmlformats.org/drawingml/2006/main">
            <a:off x="493776" y="274320"/>
            <a:ext cx="11201400" cy="502920"/>
          </a:xfrm>
          <a:prstGeom xmlns:a="http://schemas.openxmlformats.org/drawingml/2006/main" prst="rect">
            <a:avLst/>
          </a:prstGeom>
        </p:spPr>
        <p:txBody>
          <a:bodyPr xmlns:a="http://schemas.openxmlformats.org/drawingml/2006/main" wrap="square" anchor="t"/>
          <a:lstStyle xmlns:a="http://schemas.openxmlformats.org/drawingml/2006/main"/>
          <a:p xmlns:a="http://schemas.openxmlformats.org/drawingml/2006/main">
            <a:pPr algn="l">
              <a:buNone/>
            </a:pPr>
            <a:r>
              <a:rPr sz="2600" b="1">
                <a:solidFill>
                  <a:srgbClr val="156082"/>
                </a:solidFill>
                <a:latin typeface="Helvetica Neue"/>
                <a:ea typeface="Helvetica Neue"/>
                <a:cs typeface="Helvetica Neue"/>
              </a:rPr>
              <a:t>TTA Restores BabyLand and Improves InfantFace</a:t>
            </a:r>
          </a:p>
        </p:txBody>
      </p:sp>
      <p:graphicFrame>
        <p:nvGraphicFramePr>
          <p:cNvPr id="107" name="Table 105"/>
          <p:cNvGraphicFramePr/>
          <p:nvPr/>
        </p:nvGraphicFramePr>
        <p:xfrm>
          <a:off xmlns:a="http://schemas.openxmlformats.org/drawingml/2006/main" x="409575" y="1352550"/>
          <a:ext xmlns:a="http://schemas.openxmlformats.org/drawingml/2006/main" cx="11372850" cy="3638550"/>
        </p:xfrm>
        <a:graphic xmlns:a="http://schemas.openxmlformats.org/drawingml/2006/main">
          <a:graphicData uri="http://schemas.openxmlformats.org/drawingml/2006/table">
            <a:tbl>
              <a:tblPr/>
              <a:tblGrid>
                <a:gridCol w="1619250"/>
                <a:gridCol w="1905000"/>
                <a:gridCol w="1952625"/>
                <a:gridCol w="1857375"/>
                <a:gridCol w="2095500"/>
                <a:gridCol w="1943100"/>
              </a:tblGrid>
              <a:tr h="552450">
                <a:tc>
                  <a:txBody>
                    <a:bodyPr/>
                    <a:lstStyle/>
                    <a:p>
                      <a:pPr algn="ctr">
                        <a:buNone/>
                      </a:pPr>
                      <a:r>
                        <a:rPr sz="1275" b="1">
                          <a:solidFill>
                            <a:srgbClr val="FFFFFF"/>
                          </a:solidFill>
                        </a:rPr>
                        <a:t>Dataset</a:t>
                      </a:r>
                    </a:p>
                  </a:txBody>
                  <a:tcPr marL="66675" marR="66675" marT="47625" marB="47625" anchor="ctr">
                    <a:solidFill>
                      <a:srgbClr val="156082"/>
                    </a:solidFill>
                  </a:tcPr>
                </a:tc>
                <a:tc>
                  <a:txBody>
                    <a:bodyPr/>
                    <a:lstStyle/>
                    <a:p>
                      <a:pPr algn="ctr">
                        <a:buNone/>
                      </a:pPr>
                      <a:r>
                        <a:rPr sz="1275" b="1">
                          <a:solidFill>
                            <a:srgbClr val="FFFFFF"/>
                          </a:solidFill>
                        </a:rPr>
                        <a:t>Metric ↓</a:t>
                      </a:r>
                    </a:p>
                  </a:txBody>
                  <a:tcPr marL="66675" marR="66675" marT="47625" marB="47625" anchor="ctr">
                    <a:solidFill>
                      <a:srgbClr val="156082"/>
                    </a:solidFill>
                  </a:tcPr>
                </a:tc>
                <a:tc>
                  <a:txBody>
                    <a:bodyPr/>
                    <a:lstStyle/>
                    <a:p>
                      <a:pPr algn="ctr">
                        <a:buNone/>
                      </a:pPr>
                      <a:r>
                        <a:rPr sz="1275" b="1">
                          <a:solidFill>
                            <a:srgbClr val="FFFFFF"/>
                          </a:solidFill>
                        </a:rPr>
                        <a:t>Paper baseline</a:t>
                      </a:r>
                    </a:p>
                  </a:txBody>
                  <a:tcPr marL="66675" marR="66675" marT="47625" marB="47625" anchor="ctr">
                    <a:solidFill>
                      <a:srgbClr val="156082"/>
                    </a:solidFill>
                  </a:tcPr>
                </a:tc>
                <a:tc>
                  <a:txBody>
                    <a:bodyPr/>
                    <a:lstStyle/>
                    <a:p>
                      <a:pPr algn="ctr">
                        <a:buNone/>
                      </a:pPr>
                      <a:r>
                        <a:rPr sz="1275" b="1">
                          <a:solidFill>
                            <a:srgbClr val="FFFFFF"/>
                          </a:solidFill>
                        </a:rPr>
                        <a:t>TTA step 0</a:t>
                      </a:r>
                    </a:p>
                  </a:txBody>
                  <a:tcPr marL="66675" marR="66675" marT="47625" marB="47625" anchor="ctr">
                    <a:solidFill>
                      <a:srgbClr val="156082"/>
                    </a:solidFill>
                  </a:tcPr>
                </a:tc>
                <a:tc>
                  <a:txBody>
                    <a:bodyPr/>
                    <a:lstStyle/>
                    <a:p>
                      <a:pPr algn="ctr">
                        <a:buNone/>
                      </a:pPr>
                      <a:r>
                        <a:rPr sz="1275" b="1">
                          <a:solidFill>
                            <a:srgbClr val="FFFFFF"/>
                          </a:solidFill>
                        </a:rPr>
                        <a:t>TTA 1500</a:t>
                      </a:r>
                    </a:p>
                    <a:p>
                      <a:pPr algn="ctr">
                        <a:buNone/>
                      </a:pPr>
                      <a:r>
                        <a:rPr sz="1275" b="1">
                          <a:solidFill>
                            <a:srgbClr val="FFFFFF"/>
                          </a:solidFill>
                        </a:rPr>
                        <a:t>(10⁻³)</a:t>
                      </a:r>
                    </a:p>
                  </a:txBody>
                  <a:tcPr marL="66675" marR="66675" marT="47625" marB="47625" anchor="ctr">
                    <a:solidFill>
                      <a:srgbClr val="156082"/>
                    </a:solidFill>
                  </a:tcPr>
                </a:tc>
                <a:tc>
                  <a:txBody>
                    <a:bodyPr/>
                    <a:lstStyle/>
                    <a:p>
                      <a:pPr algn="ctr">
                        <a:buNone/>
                      </a:pPr>
                      <a:r>
                        <a:rPr sz="1275" b="1">
                          <a:solidFill>
                            <a:srgbClr val="FFFFFF"/>
                          </a:solidFill>
                        </a:rPr>
                        <a:t>Δ</a:t>
                      </a:r>
                      <a:r>
                        <a:rPr sz="1275" b="1">
                          <a:solidFill>
                            <a:srgbClr val="FFFFFF"/>
                          </a:solidFill>
                        </a:rPr>
                        <a:t> vs paper</a:t>
                      </a:r>
                    </a:p>
                  </a:txBody>
                  <a:tcPr marL="66675" marR="66675" marT="47625" marB="47625" anchor="ctr">
                    <a:solidFill>
                      <a:srgbClr val="156082"/>
                    </a:solidFill>
                  </a:tcPr>
                </a:tc>
              </a:tr>
              <a:tr h="514350">
                <a:tc rowSpan="3">
                  <a:txBody>
                    <a:bodyPr/>
                    <a:lstStyle/>
                    <a:p>
                      <a:r>
                        <a:rPr sz="1275" b="1">
                          <a:solidFill>
                            <a:srgbClr val="FFFFFF"/>
                          </a:solidFill>
                        </a:rPr>
                        <a:t>BabyLand</a:t>
                      </a:r>
                    </a:p>
                  </a:txBody>
                  <a:tcPr marL="66675" marR="66675" marT="47625" marB="47625" anchor="ctr">
                    <a:solidFill>
                      <a:srgbClr val="0E2841"/>
                    </a:solidFill>
                  </a:tcPr>
                </a:tc>
                <a:tc>
                  <a:txBody>
                    <a:bodyPr/>
                    <a:lstStyle/>
                    <a:p>
                      <a:r>
                        <a:rPr sz="1400">
                          <a:solidFill>
                            <a:srgbClr val="25313B"/>
                          </a:solidFill>
                        </a:rPr>
                        <a:t>Mean NME</a:t>
                      </a:r>
                    </a:p>
                  </a:txBody>
                  <a:tcPr marL="66675" marR="66675" marT="47625" marB="47625" anchor="ctr">
                    <a:solidFill>
                      <a:srgbClr val="F4F7F9"/>
                    </a:solidFill>
                  </a:tcPr>
                </a:tc>
                <a:tc>
                  <a:txBody>
                    <a:bodyPr/>
                    <a:lstStyle/>
                    <a:p>
                      <a:pPr algn="r">
                        <a:buNone/>
                      </a:pPr>
                      <a:r>
                        <a:rPr sz="1400">
                          <a:solidFill>
                            <a:srgbClr val="25313B"/>
                          </a:solidFill>
                        </a:rPr>
                        <a:t>10.41%</a:t>
                      </a:r>
                    </a:p>
                  </a:txBody>
                  <a:tcPr marL="66675" marR="66675" marT="47625" marB="47625" anchor="ctr">
                    <a:solidFill>
                      <a:srgbClr val="F4F7F9"/>
                    </a:solidFill>
                  </a:tcPr>
                </a:tc>
                <a:tc>
                  <a:txBody>
                    <a:bodyPr/>
                    <a:lstStyle/>
                    <a:p>
                      <a:pPr algn="r">
                        <a:buNone/>
                      </a:pPr>
                      <a:r>
                        <a:rPr sz="1400">
                          <a:solidFill>
                            <a:srgbClr val="25313B"/>
                          </a:solidFill>
                        </a:rPr>
                        <a:t>12.84%</a:t>
                      </a:r>
                    </a:p>
                  </a:txBody>
                  <a:tcPr marL="66675" marR="66675" marT="47625" marB="47625" anchor="ctr">
                    <a:solidFill>
                      <a:srgbClr val="F4F7F9"/>
                    </a:solidFill>
                  </a:tcPr>
                </a:tc>
                <a:tc>
                  <a:txBody>
                    <a:bodyPr/>
                    <a:lstStyle/>
                    <a:p>
                      <a:pPr algn="r">
                        <a:buNone/>
                      </a:pPr>
                      <a:r>
                        <a:rPr sz="1400">
                          <a:solidFill>
                            <a:srgbClr val="25313B"/>
                          </a:solidFill>
                        </a:rPr>
                        <a:t>10.45%</a:t>
                      </a:r>
                    </a:p>
                  </a:txBody>
                  <a:tcPr marL="66675" marR="66675" marT="47625" marB="47625" anchor="ctr">
                    <a:solidFill>
                      <a:srgbClr val="F4F7F9"/>
                    </a:solidFill>
                  </a:tcPr>
                </a:tc>
                <a:tc>
                  <a:txBody>
                    <a:bodyPr/>
                    <a:lstStyle/>
                    <a:p>
                      <a:pPr algn="r">
                        <a:buNone/>
                      </a:pPr>
                      <a:r>
                        <a:rPr sz="1400" b="1">
                          <a:solidFill>
                            <a:srgbClr val="B64035"/>
                          </a:solidFill>
                        </a:rPr>
                        <a:t>+0.04 pp</a:t>
                      </a:r>
                    </a:p>
                  </a:txBody>
                  <a:tcPr marL="66675" marR="66675" marT="47625" marB="47625" anchor="ctr">
                    <a:solidFill>
                      <a:srgbClr val="F8DEDB"/>
                    </a:solidFill>
                  </a:tcPr>
                </a:tc>
              </a:tr>
              <a:tr h="514350">
                <a:tc vMerge="1">
                  <a:txBody>
                    <a:bodyPr/>
                    <a:lstStyle/>
                    <a:p>
                      <a:endParaRPr/>
                    </a:p>
                  </a:txBody>
                  <a:tcPr marL="66675" marR="66675" marT="47625" marB="47625" anchor="ctr">
                    <a:solidFill>
                      <a:srgbClr val="0E2841"/>
                    </a:solidFill>
                  </a:tcPr>
                </a:tc>
                <a:tc>
                  <a:txBody>
                    <a:bodyPr/>
                    <a:lstStyle/>
                    <a:p>
                      <a:r>
                        <a:rPr sz="1400">
                          <a:solidFill>
                            <a:srgbClr val="25313B"/>
                          </a:solidFill>
                        </a:rPr>
                        <a:t>Median NME</a:t>
                      </a:r>
                    </a:p>
                  </a:txBody>
                  <a:tcPr marL="66675" marR="66675" marT="47625" marB="47625" anchor="ctr">
                    <a:solidFill>
                      <a:srgbClr val="FFFFFF"/>
                    </a:solidFill>
                  </a:tcPr>
                </a:tc>
                <a:tc>
                  <a:txBody>
                    <a:bodyPr/>
                    <a:lstStyle/>
                    <a:p>
                      <a:pPr algn="r">
                        <a:buNone/>
                      </a:pPr>
                      <a:r>
                        <a:rPr sz="1400">
                          <a:solidFill>
                            <a:srgbClr val="25313B"/>
                          </a:solidFill>
                        </a:rPr>
                        <a:t>6.27%</a:t>
                      </a:r>
                    </a:p>
                  </a:txBody>
                  <a:tcPr marL="66675" marR="66675" marT="47625" marB="47625" anchor="ctr">
                    <a:solidFill>
                      <a:srgbClr val="FFFFFF"/>
                    </a:solidFill>
                  </a:tcPr>
                </a:tc>
                <a:tc>
                  <a:txBody>
                    <a:bodyPr/>
                    <a:lstStyle/>
                    <a:p>
                      <a:pPr algn="r">
                        <a:buNone/>
                      </a:pPr>
                      <a:r>
                        <a:rPr sz="1400">
                          <a:solidFill>
                            <a:srgbClr val="25313B"/>
                          </a:solidFill>
                        </a:rPr>
                        <a:t>6.93%</a:t>
                      </a:r>
                    </a:p>
                  </a:txBody>
                  <a:tcPr marL="66675" marR="66675" marT="47625" marB="47625" anchor="ctr">
                    <a:solidFill>
                      <a:srgbClr val="FFFFFF"/>
                    </a:solidFill>
                  </a:tcPr>
                </a:tc>
                <a:tc>
                  <a:txBody>
                    <a:bodyPr/>
                    <a:lstStyle/>
                    <a:p>
                      <a:pPr algn="r">
                        <a:buNone/>
                      </a:pPr>
                      <a:r>
                        <a:rPr sz="1400">
                          <a:solidFill>
                            <a:srgbClr val="25313B"/>
                          </a:solidFill>
                        </a:rPr>
                        <a:t>5.92%</a:t>
                      </a:r>
                    </a:p>
                  </a:txBody>
                  <a:tcPr marL="66675" marR="66675" marT="47625" marB="47625" anchor="ctr">
                    <a:solidFill>
                      <a:srgbClr val="FFFFFF"/>
                    </a:solidFill>
                  </a:tcPr>
                </a:tc>
                <a:tc>
                  <a:txBody>
                    <a:bodyPr/>
                    <a:lstStyle/>
                    <a:p>
                      <a:pPr algn="r">
                        <a:buNone/>
                      </a:pPr>
                      <a:r>
                        <a:rPr sz="1400" b="1">
                          <a:solidFill>
                            <a:srgbClr val="146B4A"/>
                          </a:solidFill>
                        </a:rPr>
                        <a:t>−0.35 pp</a:t>
                      </a:r>
                    </a:p>
                  </a:txBody>
                  <a:tcPr marL="66675" marR="66675" marT="47625" marB="47625" anchor="ctr">
                    <a:solidFill>
                      <a:srgbClr val="DCEFE6"/>
                    </a:solidFill>
                  </a:tcPr>
                </a:tc>
              </a:tr>
              <a:tr h="514350">
                <a:tc vMerge="1">
                  <a:txBody>
                    <a:bodyPr/>
                    <a:lstStyle/>
                    <a:p>
                      <a:endParaRPr/>
                    </a:p>
                  </a:txBody>
                  <a:tcPr marL="66675" marR="66675" marT="47625" marB="47625" anchor="ctr">
                    <a:solidFill>
                      <a:srgbClr val="0E2841"/>
                    </a:solidFill>
                  </a:tcPr>
                </a:tc>
                <a:tc>
                  <a:txBody>
                    <a:bodyPr/>
                    <a:lstStyle/>
                    <a:p>
                      <a:r>
                        <a:rPr sz="1400">
                          <a:solidFill>
                            <a:srgbClr val="25313B"/>
                          </a:solidFill>
                        </a:rPr>
                        <a:t>Mean HD</a:t>
                      </a:r>
                    </a:p>
                  </a:txBody>
                  <a:tcPr marL="66675" marR="66675" marT="47625" marB="47625" anchor="ctr">
                    <a:solidFill>
                      <a:srgbClr val="F4F7F9"/>
                    </a:solidFill>
                  </a:tcPr>
                </a:tc>
                <a:tc>
                  <a:txBody>
                    <a:bodyPr/>
                    <a:lstStyle/>
                    <a:p>
                      <a:pPr algn="r">
                        <a:buNone/>
                      </a:pPr>
                      <a:r>
                        <a:rPr sz="1400">
                          <a:solidFill>
                            <a:srgbClr val="25313B"/>
                          </a:solidFill>
                        </a:rPr>
                        <a:t>20.43%</a:t>
                      </a:r>
                    </a:p>
                  </a:txBody>
                  <a:tcPr marL="66675" marR="66675" marT="47625" marB="47625" anchor="ctr">
                    <a:solidFill>
                      <a:srgbClr val="F4F7F9"/>
                    </a:solidFill>
                  </a:tcPr>
                </a:tc>
                <a:tc>
                  <a:txBody>
                    <a:bodyPr/>
                    <a:lstStyle/>
                    <a:p>
                      <a:pPr algn="r">
                        <a:buNone/>
                      </a:pPr>
                      <a:r>
                        <a:rPr sz="1400">
                          <a:solidFill>
                            <a:srgbClr val="25313B"/>
                          </a:solidFill>
                        </a:rPr>
                        <a:t>23.07%</a:t>
                      </a:r>
                    </a:p>
                  </a:txBody>
                  <a:tcPr marL="66675" marR="66675" marT="47625" marB="47625" anchor="ctr">
                    <a:solidFill>
                      <a:srgbClr val="F4F7F9"/>
                    </a:solidFill>
                  </a:tcPr>
                </a:tc>
                <a:tc>
                  <a:txBody>
                    <a:bodyPr/>
                    <a:lstStyle/>
                    <a:p>
                      <a:pPr algn="r">
                        <a:buNone/>
                      </a:pPr>
                      <a:r>
                        <a:rPr sz="1400">
                          <a:solidFill>
                            <a:srgbClr val="25313B"/>
                          </a:solidFill>
                        </a:rPr>
                        <a:t>19.87%</a:t>
                      </a:r>
                    </a:p>
                  </a:txBody>
                  <a:tcPr marL="66675" marR="66675" marT="47625" marB="47625" anchor="ctr">
                    <a:solidFill>
                      <a:srgbClr val="F4F7F9"/>
                    </a:solidFill>
                  </a:tcPr>
                </a:tc>
                <a:tc>
                  <a:txBody>
                    <a:bodyPr/>
                    <a:lstStyle/>
                    <a:p>
                      <a:pPr algn="r">
                        <a:buNone/>
                      </a:pPr>
                      <a:r>
                        <a:rPr sz="1400" b="1">
                          <a:solidFill>
                            <a:srgbClr val="146B4A"/>
                          </a:solidFill>
                        </a:rPr>
                        <a:t>−0.56 pp</a:t>
                      </a:r>
                    </a:p>
                  </a:txBody>
                  <a:tcPr marL="66675" marR="66675" marT="47625" marB="47625" anchor="ctr">
                    <a:solidFill>
                      <a:srgbClr val="DCEFE6"/>
                    </a:solidFill>
                  </a:tcPr>
                </a:tc>
              </a:tr>
              <a:tr h="514350">
                <a:tc rowSpan="3">
                  <a:txBody>
                    <a:bodyPr/>
                    <a:lstStyle/>
                    <a:p>
                      <a:r>
                        <a:rPr sz="1275" b="1">
                          <a:solidFill>
                            <a:srgbClr val="FFFFFF"/>
                          </a:solidFill>
                        </a:rPr>
                        <a:t>InfAnFace</a:t>
                      </a:r>
                    </a:p>
                  </a:txBody>
                  <a:tcPr marL="66675" marR="66675" marT="47625" marB="47625" anchor="ctr">
                    <a:solidFill>
                      <a:srgbClr val="0E2841"/>
                    </a:solidFill>
                  </a:tcPr>
                </a:tc>
                <a:tc>
                  <a:txBody>
                    <a:bodyPr/>
                    <a:lstStyle/>
                    <a:p>
                      <a:r>
                        <a:rPr sz="1400">
                          <a:solidFill>
                            <a:srgbClr val="25313B"/>
                          </a:solidFill>
                        </a:rPr>
                        <a:t>Mean NME</a:t>
                      </a:r>
                    </a:p>
                  </a:txBody>
                  <a:tcPr marL="66675" marR="66675" marT="47625" marB="47625" anchor="ctr">
                    <a:solidFill>
                      <a:srgbClr val="FFFFFF"/>
                    </a:solidFill>
                  </a:tcPr>
                </a:tc>
                <a:tc>
                  <a:txBody>
                    <a:bodyPr/>
                    <a:lstStyle/>
                    <a:p>
                      <a:pPr algn="r">
                        <a:buNone/>
                      </a:pPr>
                      <a:r>
                        <a:rPr sz="1400">
                          <a:solidFill>
                            <a:srgbClr val="25313B"/>
                          </a:solidFill>
                        </a:rPr>
                        <a:t>8.56%</a:t>
                      </a:r>
                    </a:p>
                  </a:txBody>
                  <a:tcPr marL="66675" marR="66675" marT="47625" marB="47625" anchor="ctr">
                    <a:solidFill>
                      <a:srgbClr val="FFFFFF"/>
                    </a:solidFill>
                  </a:tcPr>
                </a:tc>
                <a:tc>
                  <a:txBody>
                    <a:bodyPr/>
                    <a:lstStyle/>
                    <a:p>
                      <a:pPr algn="r">
                        <a:buNone/>
                      </a:pPr>
                      <a:r>
                        <a:rPr sz="1400">
                          <a:solidFill>
                            <a:srgbClr val="25313B"/>
                          </a:solidFill>
                        </a:rPr>
                        <a:t>8.61%</a:t>
                      </a:r>
                    </a:p>
                  </a:txBody>
                  <a:tcPr marL="66675" marR="66675" marT="47625" marB="47625" anchor="ctr">
                    <a:solidFill>
                      <a:srgbClr val="FFFFFF"/>
                    </a:solidFill>
                  </a:tcPr>
                </a:tc>
                <a:tc>
                  <a:txBody>
                    <a:bodyPr/>
                    <a:lstStyle/>
                    <a:p>
                      <a:pPr algn="r">
                        <a:buNone/>
                      </a:pPr>
                      <a:r>
                        <a:rPr sz="1400">
                          <a:solidFill>
                            <a:srgbClr val="25313B"/>
                          </a:solidFill>
                        </a:rPr>
                        <a:t>7.95%</a:t>
                      </a:r>
                    </a:p>
                  </a:txBody>
                  <a:tcPr marL="66675" marR="66675" marT="47625" marB="47625" anchor="ctr">
                    <a:solidFill>
                      <a:srgbClr val="FFFFFF"/>
                    </a:solidFill>
                  </a:tcPr>
                </a:tc>
                <a:tc>
                  <a:txBody>
                    <a:bodyPr/>
                    <a:lstStyle/>
                    <a:p>
                      <a:pPr algn="r">
                        <a:buNone/>
                      </a:pPr>
                      <a:r>
                        <a:rPr sz="1400" b="1">
                          <a:solidFill>
                            <a:srgbClr val="146B4A"/>
                          </a:solidFill>
                        </a:rPr>
                        <a:t>−0.61 pp</a:t>
                      </a:r>
                    </a:p>
                  </a:txBody>
                  <a:tcPr marL="66675" marR="66675" marT="47625" marB="47625" anchor="ctr">
                    <a:solidFill>
                      <a:srgbClr val="DCEFE6"/>
                    </a:solidFill>
                  </a:tcPr>
                </a:tc>
              </a:tr>
              <a:tr h="514350">
                <a:tc vMerge="1">
                  <a:txBody>
                    <a:bodyPr/>
                    <a:lstStyle/>
                    <a:p>
                      <a:endParaRPr/>
                    </a:p>
                  </a:txBody>
                  <a:tcPr marL="66675" marR="66675" marT="47625" marB="47625" anchor="ctr">
                    <a:solidFill>
                      <a:srgbClr val="0E2841"/>
                    </a:solidFill>
                  </a:tcPr>
                </a:tc>
                <a:tc>
                  <a:txBody>
                    <a:bodyPr/>
                    <a:lstStyle/>
                    <a:p>
                      <a:r>
                        <a:rPr sz="1400">
                          <a:solidFill>
                            <a:srgbClr val="25313B"/>
                          </a:solidFill>
                        </a:rPr>
                        <a:t>Median NME</a:t>
                      </a:r>
                    </a:p>
                  </a:txBody>
                  <a:tcPr marL="66675" marR="66675" marT="47625" marB="47625" anchor="ctr">
                    <a:solidFill>
                      <a:srgbClr val="F4F7F9"/>
                    </a:solidFill>
                  </a:tcPr>
                </a:tc>
                <a:tc>
                  <a:txBody>
                    <a:bodyPr/>
                    <a:lstStyle/>
                    <a:p>
                      <a:pPr algn="r">
                        <a:buNone/>
                      </a:pPr>
                      <a:r>
                        <a:rPr sz="1400">
                          <a:solidFill>
                            <a:srgbClr val="25313B"/>
                          </a:solidFill>
                        </a:rPr>
                        <a:t>6.79%</a:t>
                      </a:r>
                    </a:p>
                  </a:txBody>
                  <a:tcPr marL="66675" marR="66675" marT="47625" marB="47625" anchor="ctr">
                    <a:solidFill>
                      <a:srgbClr val="F4F7F9"/>
                    </a:solidFill>
                  </a:tcPr>
                </a:tc>
                <a:tc>
                  <a:txBody>
                    <a:bodyPr/>
                    <a:lstStyle/>
                    <a:p>
                      <a:pPr algn="r">
                        <a:buNone/>
                      </a:pPr>
                      <a:r>
                        <a:rPr sz="1400">
                          <a:solidFill>
                            <a:srgbClr val="25313B"/>
                          </a:solidFill>
                        </a:rPr>
                        <a:t>6.75%</a:t>
                      </a:r>
                    </a:p>
                  </a:txBody>
                  <a:tcPr marL="66675" marR="66675" marT="47625" marB="47625" anchor="ctr">
                    <a:solidFill>
                      <a:srgbClr val="F4F7F9"/>
                    </a:solidFill>
                  </a:tcPr>
                </a:tc>
                <a:tc>
                  <a:txBody>
                    <a:bodyPr/>
                    <a:lstStyle/>
                    <a:p>
                      <a:pPr algn="r">
                        <a:buNone/>
                      </a:pPr>
                      <a:r>
                        <a:rPr sz="1400">
                          <a:solidFill>
                            <a:srgbClr val="25313B"/>
                          </a:solidFill>
                        </a:rPr>
                        <a:t>6.41%</a:t>
                      </a:r>
                    </a:p>
                  </a:txBody>
                  <a:tcPr marL="66675" marR="66675" marT="47625" marB="47625" anchor="ctr">
                    <a:solidFill>
                      <a:srgbClr val="F4F7F9"/>
                    </a:solidFill>
                  </a:tcPr>
                </a:tc>
                <a:tc>
                  <a:txBody>
                    <a:bodyPr/>
                    <a:lstStyle/>
                    <a:p>
                      <a:pPr algn="r">
                        <a:buNone/>
                      </a:pPr>
                      <a:r>
                        <a:rPr sz="1400" b="1">
                          <a:solidFill>
                            <a:srgbClr val="146B4A"/>
                          </a:solidFill>
                        </a:rPr>
                        <a:t>−0.38 pp</a:t>
                      </a:r>
                    </a:p>
                  </a:txBody>
                  <a:tcPr marL="66675" marR="66675" marT="47625" marB="47625" anchor="ctr">
                    <a:solidFill>
                      <a:srgbClr val="DCEFE6"/>
                    </a:solidFill>
                  </a:tcPr>
                </a:tc>
              </a:tr>
              <a:tr h="514350">
                <a:tc vMerge="1">
                  <a:txBody>
                    <a:bodyPr/>
                    <a:lstStyle/>
                    <a:p>
                      <a:endParaRPr/>
                    </a:p>
                  </a:txBody>
                  <a:tcPr marL="66675" marR="66675" marT="47625" marB="47625" anchor="ctr">
                    <a:solidFill>
                      <a:srgbClr val="0E2841"/>
                    </a:solidFill>
                  </a:tcPr>
                </a:tc>
                <a:tc>
                  <a:txBody>
                    <a:bodyPr/>
                    <a:lstStyle/>
                    <a:p>
                      <a:r>
                        <a:rPr sz="1400">
                          <a:solidFill>
                            <a:srgbClr val="25313B"/>
                          </a:solidFill>
                        </a:rPr>
                        <a:t>Mean HD</a:t>
                      </a:r>
                    </a:p>
                  </a:txBody>
                  <a:tcPr marL="66675" marR="66675" marT="47625" marB="47625" anchor="ctr">
                    <a:solidFill>
                      <a:srgbClr val="FFFFFF"/>
                    </a:solidFill>
                  </a:tcPr>
                </a:tc>
                <a:tc>
                  <a:txBody>
                    <a:bodyPr/>
                    <a:lstStyle/>
                    <a:p>
                      <a:pPr algn="r">
                        <a:buNone/>
                      </a:pPr>
                      <a:r>
                        <a:rPr sz="1400">
                          <a:solidFill>
                            <a:srgbClr val="25313B"/>
                          </a:solidFill>
                        </a:rPr>
                        <a:t>19.69%</a:t>
                      </a:r>
                    </a:p>
                  </a:txBody>
                  <a:tcPr marL="66675" marR="66675" marT="47625" marB="47625" anchor="ctr">
                    <a:solidFill>
                      <a:srgbClr val="FFFFFF"/>
                    </a:solidFill>
                  </a:tcPr>
                </a:tc>
                <a:tc>
                  <a:txBody>
                    <a:bodyPr/>
                    <a:lstStyle/>
                    <a:p>
                      <a:pPr algn="r">
                        <a:buNone/>
                      </a:pPr>
                      <a:r>
                        <a:rPr sz="1400">
                          <a:solidFill>
                            <a:srgbClr val="25313B"/>
                          </a:solidFill>
                        </a:rPr>
                        <a:t>19.78%</a:t>
                      </a:r>
                    </a:p>
                  </a:txBody>
                  <a:tcPr marL="66675" marR="66675" marT="47625" marB="47625" anchor="ctr">
                    <a:solidFill>
                      <a:srgbClr val="FFFFFF"/>
                    </a:solidFill>
                  </a:tcPr>
                </a:tc>
                <a:tc>
                  <a:txBody>
                    <a:bodyPr/>
                    <a:lstStyle/>
                    <a:p>
                      <a:pPr algn="r">
                        <a:buNone/>
                      </a:pPr>
                      <a:r>
                        <a:rPr sz="1400">
                          <a:solidFill>
                            <a:srgbClr val="25313B"/>
                          </a:solidFill>
                        </a:rPr>
                        <a:t>18.21%</a:t>
                      </a:r>
                    </a:p>
                  </a:txBody>
                  <a:tcPr marL="66675" marR="66675" marT="47625" marB="47625" anchor="ctr">
                    <a:solidFill>
                      <a:srgbClr val="FFFFFF"/>
                    </a:solidFill>
                  </a:tcPr>
                </a:tc>
                <a:tc>
                  <a:txBody>
                    <a:bodyPr/>
                    <a:lstStyle/>
                    <a:p>
                      <a:pPr algn="r">
                        <a:buNone/>
                      </a:pPr>
                      <a:r>
                        <a:rPr sz="1400" b="1">
                          <a:solidFill>
                            <a:srgbClr val="146B4A"/>
                          </a:solidFill>
                        </a:rPr>
                        <a:t>−1.48 pp</a:t>
                      </a:r>
                    </a:p>
                  </a:txBody>
                  <a:tcPr marL="66675" marR="66675" marT="47625" marB="47625" anchor="ctr">
                    <a:solidFill>
                      <a:srgbClr val="DCEFE6"/>
                    </a:solidFill>
                  </a:tcPr>
                </a:tc>
              </a:tr>
            </a:tbl>
          </a:graphicData>
        </a:graphic>
      </p:graphicFrame>
      <p:sp>
        <p:nvSpPr>
          <p:cNvPr id="104" name="finding-strip">
            <a:extLst xmlns:a="http://schemas.openxmlformats.org/drawingml/2006/main">
              <a:ext uri="{FF2B5EF4-FFF2-40B4-BE49-F238E27FC236}">
                <a16:creationId xmlns:a16="http://schemas.microsoft.com/office/drawing/2014/main" id="{A1678E46-D9E0-4575-8395-1FF35AE69615}"/>
              </a:ext>
            </a:extLst>
          </p:cNvPr>
          <p:cNvSpPr>
            <a:spLocks xmlns:a="http://schemas.openxmlformats.org/drawingml/2006/main" noGrp="1"/>
          </p:cNvSpPr>
          <p:nvPr/>
        </p:nvSpPr>
        <p:spPr>
          <a:xfrm xmlns:a="http://schemas.openxmlformats.org/drawingml/2006/main">
            <a:off x="590550" y="5334000"/>
            <a:ext cx="11010900" cy="552450"/>
          </a:xfrm>
          <a:prstGeom xmlns:a="http://schemas.openxmlformats.org/drawingml/2006/main" prst="roundRect">
            <a:avLst>
              <a:gd name="adj" fmla="val 13793"/>
            </a:avLst>
          </a:prstGeom>
          <a:solidFill xmlns:a="http://schemas.openxmlformats.org/drawingml/2006/main">
            <a:srgbClr val="EAF3F7"/>
          </a:solidFill>
          <a:ln xmlns:a="http://schemas.openxmlformats.org/drawingml/2006/main" w="9525">
            <a:solidFill>
              <a:srgbClr val="B8D5E2"/>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E2841"/>
                </a:solidFill>
              </a:defRPr>
            </a:pPr>
            <a:r>
              <a:rPr sz="1350" b="1">
                <a:solidFill>
                  <a:srgbClr val="0E2841"/>
                </a:solidFill>
              </a:rPr>
              <a:t>At 10⁻³, BabyLand recovers the paper-level mean NME while improving median NME and HD. InfAnFace improves all three aggregate metrics.</a:t>
            </a:r>
          </a:p>
        </p:txBody>
      </p:sp>
    </p:spTree>
    <p:extLst>
      <p:ext uri="{BB962C8B-B14F-4D97-AF65-F5344CB8AC3E}">
        <p14:creationId xmlns:p14="http://schemas.microsoft.com/office/powerpoint/2010/main" val="2974715249"/>
      </p:ext>
    </p:extLst>
  </p:cSld>
</p:sld>
</file>

<file path=ppt/slides/slide4.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6CA99C-3420-49E9-B710-7758EA702D1E}"/>
              </a:ext>
            </a:extLst>
          </p:cNvPr>
          <p:cNvSpPr>
            <a:spLocks xmlns:a="http://schemas.openxmlformats.org/drawingml/2006/main" noGrp="1"/>
          </p:cNvSpPr>
          <p:nvPr/>
        </p:nvSpPr>
        <p:spPr>
          <a:xfrm xmlns:a="http://schemas.openxmlformats.org/drawingml/2006/main">
            <a:off x="495300" y="276225"/>
            <a:ext cx="11201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i="0">
                <a:solidFill>
                  <a:srgbClr val="156082"/>
                </a:solidFill>
                <a:latin typeface="Helvetica Neue"/>
                <a:ea typeface="Helvetica Neue"/>
                <a:cs typeface="Helvetica Neue"/>
              </a:defRPr>
            </a:pPr>
            <a:r>
              <a:rPr sz="1950" b="1" i="0">
                <a:solidFill>
                  <a:srgbClr val="156082"/>
                </a:solidFill>
                <a:latin typeface="Helvetica Neue"/>
                <a:ea typeface="Helvetica Neue"/>
                <a:cs typeface="Helvetica Neue"/>
              </a:rPr>
              <a:t>A Higher Learning Rate Accelerates BabyLand Adaptation</a:t>
            </a:r>
          </a:p>
        </p:txBody>
      </p:sp>
      <p:sp>
        <p:nvSpPr>
          <p:cNvPr id="2" name="">
            <a:extLst xmlns:a="http://schemas.openxmlformats.org/drawingml/2006/main">
              <a:ext uri="{FF2B5EF4-FFF2-40B4-BE49-F238E27FC236}">
                <a16:creationId xmlns:a16="http://schemas.microsoft.com/office/drawing/2014/main" id="{91DFA919-EADA-443F-9172-22CC81A5E27C}"/>
              </a:ext>
            </a:extLst>
          </p:cNvPr>
          <p:cNvSpPr>
            <a:spLocks xmlns:a="http://schemas.openxmlformats.org/drawingml/2006/main" noGrp="1"/>
          </p:cNvSpPr>
          <p:nvPr/>
        </p:nvSpPr>
        <p:spPr>
          <a:xfrm xmlns:a="http://schemas.openxmlformats.org/drawingml/2006/main">
            <a:off x="666750" y="9906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i="0">
                <a:solidFill>
                  <a:srgbClr val="0E2841"/>
                </a:solidFill>
                <a:latin typeface="Helvetica Neue"/>
                <a:ea typeface="Helvetica Neue"/>
                <a:cs typeface="Helvetica Neue"/>
              </a:defRPr>
            </a:pPr>
            <a:r>
              <a:rPr sz="1350" b="1" i="0">
                <a:solidFill>
                  <a:srgbClr val="0E2841"/>
                </a:solidFill>
                <a:latin typeface="Helvetica Neue"/>
                <a:ea typeface="Helvetica Neue"/>
                <a:cs typeface="Helvetica Neue"/>
              </a:rPr>
              <a:t>Mean NME</a:t>
            </a:r>
          </a:p>
        </p:txBody>
      </p:sp>
      <p:sp>
        <p:nvSpPr>
          <p:cNvPr id="3" name="">
            <a:extLst xmlns:a="http://schemas.openxmlformats.org/drawingml/2006/main">
              <a:ext uri="{FF2B5EF4-FFF2-40B4-BE49-F238E27FC236}">
                <a16:creationId xmlns:a16="http://schemas.microsoft.com/office/drawing/2014/main" id="{C2A6836A-85E0-440B-AE60-196A82BAE5D1}"/>
              </a:ext>
            </a:extLst>
          </p:cNvPr>
          <p:cNvSpPr>
            <a:spLocks xmlns:a="http://schemas.openxmlformats.org/drawingml/2006/main" noGrp="1"/>
          </p:cNvSpPr>
          <p:nvPr/>
        </p:nvSpPr>
        <p:spPr>
          <a:xfrm xmlns:a="http://schemas.openxmlformats.org/drawingml/2006/main">
            <a:off x="6572250" y="9906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i="0">
                <a:solidFill>
                  <a:srgbClr val="0E2841"/>
                </a:solidFill>
                <a:latin typeface="Helvetica Neue"/>
                <a:ea typeface="Helvetica Neue"/>
                <a:cs typeface="Helvetica Neue"/>
              </a:defRPr>
            </a:pPr>
            <a:r>
              <a:rPr sz="1350" b="1" i="0">
                <a:solidFill>
                  <a:srgbClr val="0E2841"/>
                </a:solidFill>
                <a:latin typeface="Helvetica Neue"/>
                <a:ea typeface="Helvetica Neue"/>
                <a:cs typeface="Helvetica Neue"/>
              </a:rPr>
              <a:t>Mean normalized Hausdorff distance</a:t>
            </a:r>
          </a:p>
        </p:txBody>
      </p:sp>
      <p:graphicFrame>
        <p:nvGraphicFramePr>
          <p:cNvPr id="10" name="Chart"/>
          <p:cNvGraphicFramePr/>
          <p:nvPr/>
        </p:nvGraphicFramePr>
        <p:xfrm>
          <a:off xmlns:a="http://schemas.openxmlformats.org/drawingml/2006/main" x="523875" y="1333500"/>
          <a:ext xmlns:a="http://schemas.openxmlformats.org/drawingml/2006/main" cx="5429250" cy="4000500"/>
        </p:xfrm>
        <a:graphic xmlns:a="http://schemas.openxmlformats.org/drawingml/2006/main">
          <a:graphicData uri="http://schemas.openxmlformats.org/drawingml/2006/chart">
            <c:chart xmlns:r="http://schemas.openxmlformats.org/officeDocument/2006/relationships" xmlns:c="http://schemas.openxmlformats.org/drawingml/2006/chart" r:id="Re67e516842c745e3"/>
          </a:graphicData>
        </a:graphic>
      </p:graphicFrame>
      <p:graphicFrame>
        <p:nvGraphicFramePr>
          <p:cNvPr id="11" name="Chart"/>
          <p:cNvGraphicFramePr/>
          <p:nvPr/>
        </p:nvGraphicFramePr>
        <p:xfrm>
          <a:off xmlns:a="http://schemas.openxmlformats.org/drawingml/2006/main" x="6238875" y="1333500"/>
          <a:ext xmlns:a="http://schemas.openxmlformats.org/drawingml/2006/main" cx="5429250" cy="4000500"/>
        </p:xfrm>
        <a:graphic xmlns:a="http://schemas.openxmlformats.org/drawingml/2006/main">
          <a:graphicData uri="http://schemas.openxmlformats.org/drawingml/2006/chart">
            <c:chart xmlns:r="http://schemas.openxmlformats.org/officeDocument/2006/relationships" xmlns:c="http://schemas.openxmlformats.org/drawingml/2006/chart" r:id="R4199dd876b9443a1"/>
          </a:graphicData>
        </a:graphic>
      </p:graphicFrame>
      <p:sp>
        <p:nvSpPr>
          <p:cNvPr id="6" name="">
            <a:extLst xmlns:a="http://schemas.openxmlformats.org/drawingml/2006/main">
              <a:ext uri="{FF2B5EF4-FFF2-40B4-BE49-F238E27FC236}">
                <a16:creationId xmlns:a16="http://schemas.microsoft.com/office/drawing/2014/main" id="{28BE9A83-3624-4CD5-8339-BF938CF98955}"/>
              </a:ext>
            </a:extLst>
          </p:cNvPr>
          <p:cNvSpPr>
            <a:spLocks xmlns:a="http://schemas.openxmlformats.org/drawingml/2006/main" noGrp="1"/>
          </p:cNvSpPr>
          <p:nvPr/>
        </p:nvSpPr>
        <p:spPr>
          <a:xfrm xmlns:a="http://schemas.openxmlformats.org/drawingml/2006/main">
            <a:off x="590550" y="5619750"/>
            <a:ext cx="11010900" cy="552450"/>
          </a:xfrm>
          <a:prstGeom xmlns:a="http://schemas.openxmlformats.org/drawingml/2006/main" prst="roundRect">
            <a:avLst>
              <a:gd name="adj" fmla="val 13793"/>
            </a:avLst>
          </a:prstGeom>
          <a:solidFill xmlns:a="http://schemas.openxmlformats.org/drawingml/2006/main">
            <a:srgbClr val="EAF3F7"/>
          </a:solidFill>
          <a:ln xmlns:a="http://schemas.openxmlformats.org/drawingml/2006/main" w="9525">
            <a:solidFill>
              <a:srgbClr val="D5E8F0"/>
            </a:solidFill>
          </a:ln>
        </p:spPr>
        <p:txBody>
          <a:bodyPr xmlns:a="http://schemas.openxmlformats.org/drawingml/2006/main">
            <a:normAutofit fontScale="100000"/>
          </a:bodyPr>
          <a:lstStyle xmlns:a="http://schemas.openxmlformats.org/drawingml/2006/main"/>
          <a:p xmlns:a="http://schemas.openxmlformats.org/drawingml/2006/main">
            <a:pPr algn="ctr">
              <a:defRPr sz="1125" b="1" i="0">
                <a:solidFill>
                  <a:srgbClr val="0E2841"/>
                </a:solidFill>
                <a:latin typeface="Helvetica Neue"/>
                <a:ea typeface="Helvetica Neue"/>
                <a:cs typeface="Helvetica Neue"/>
              </a:defRPr>
            </a:pPr>
            <a:r>
              <a:rPr sz="1125" b="1" i="0">
                <a:solidFill>
                  <a:srgbClr val="0E2841"/>
                </a:solidFill>
                <a:latin typeface="Helvetica Neue"/>
                <a:ea typeface="Helvetica Neue"/>
                <a:cs typeface="Helvetica Neue"/>
              </a:rPr>
              <a:t>At 750 updates, lr = 10⁻³ reaches 10.57% NME, already below lr = 10⁻⁴ at 1250 updates (11.04%). The higher rate also lowers HD more quickly.</a:t>
            </a:r>
          </a:p>
        </p:txBody>
      </p:sp>
    </p:spTree>
    <p:extLst>
      <p:ext uri="{BB962C8B-B14F-4D97-AF65-F5344CB8AC3E}">
        <p14:creationId xmlns:p14="http://schemas.microsoft.com/office/powerpoint/2010/main" val="2974715249"/>
      </p:ext>
    </p:extLst>
  </p:cSld>
</p:sld>
</file>

<file path=ppt/slides/slide5.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F317BC-2843-4F1A-A94C-896D9B09A018}"/>
              </a:ext>
            </a:extLst>
          </p:cNvPr>
          <p:cNvSpPr>
            <a:spLocks xmlns:a="http://schemas.openxmlformats.org/drawingml/2006/main" noGrp="1"/>
          </p:cNvSpPr>
          <p:nvPr/>
        </p:nvSpPr>
        <p:spPr>
          <a:xfrm xmlns:a="http://schemas.openxmlformats.org/drawingml/2006/main">
            <a:off x="495300" y="276225"/>
            <a:ext cx="11201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i="0">
                <a:solidFill>
                  <a:srgbClr val="156082"/>
                </a:solidFill>
                <a:latin typeface="Helvetica Neue"/>
                <a:ea typeface="Helvetica Neue"/>
                <a:cs typeface="Helvetica Neue"/>
              </a:defRPr>
            </a:pPr>
            <a:r>
              <a:rPr sz="1950" b="1" i="0">
                <a:solidFill>
                  <a:srgbClr val="156082"/>
                </a:solidFill>
                <a:latin typeface="Helvetica Neue"/>
                <a:ea typeface="Helvetica Neue"/>
                <a:cs typeface="Helvetica Neue"/>
              </a:rPr>
              <a:t>Central Views Plateau by 750 Steps while Profiles Keep Improving</a:t>
            </a:r>
          </a:p>
        </p:txBody>
      </p:sp>
      <p:sp>
        <p:nvSpPr>
          <p:cNvPr id="2" name="">
            <a:extLst xmlns:a="http://schemas.openxmlformats.org/drawingml/2006/main">
              <a:ext uri="{FF2B5EF4-FFF2-40B4-BE49-F238E27FC236}">
                <a16:creationId xmlns:a16="http://schemas.microsoft.com/office/drawing/2014/main" id="{0C4FFBF3-ECBA-4DF3-87DA-0C6DD31D3E2A}"/>
              </a:ext>
            </a:extLst>
          </p:cNvPr>
          <p:cNvSpPr>
            <a:spLocks xmlns:a="http://schemas.openxmlformats.org/drawingml/2006/main" noGrp="1"/>
          </p:cNvSpPr>
          <p:nvPr/>
        </p:nvSpPr>
        <p:spPr>
          <a:xfrm xmlns:a="http://schemas.openxmlformats.org/drawingml/2006/main">
            <a:off x="666750" y="9906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i="0">
                <a:solidFill>
                  <a:srgbClr val="0E2841"/>
                </a:solidFill>
                <a:latin typeface="Helvetica Neue"/>
                <a:ea typeface="Helvetica Neue"/>
                <a:cs typeface="Helvetica Neue"/>
              </a:defRPr>
            </a:pPr>
            <a:r>
              <a:rPr sz="1350" b="1" i="0">
                <a:solidFill>
                  <a:srgbClr val="0E2841"/>
                </a:solidFill>
                <a:latin typeface="Helvetica Neue"/>
                <a:ea typeface="Helvetica Neue"/>
                <a:cs typeface="Helvetica Neue"/>
              </a:rPr>
              <a:t>Profile views</a:t>
            </a:r>
          </a:p>
        </p:txBody>
      </p:sp>
      <p:sp>
        <p:nvSpPr>
          <p:cNvPr id="3" name="">
            <a:extLst xmlns:a="http://schemas.openxmlformats.org/drawingml/2006/main">
              <a:ext uri="{FF2B5EF4-FFF2-40B4-BE49-F238E27FC236}">
                <a16:creationId xmlns:a16="http://schemas.microsoft.com/office/drawing/2014/main" id="{B939CAED-3B0C-42B3-B0DC-6A869D69F6FB}"/>
              </a:ext>
            </a:extLst>
          </p:cNvPr>
          <p:cNvSpPr>
            <a:spLocks xmlns:a="http://schemas.openxmlformats.org/drawingml/2006/main" noGrp="1"/>
          </p:cNvSpPr>
          <p:nvPr/>
        </p:nvSpPr>
        <p:spPr>
          <a:xfrm xmlns:a="http://schemas.openxmlformats.org/drawingml/2006/main">
            <a:off x="6572250" y="9906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i="0">
                <a:solidFill>
                  <a:srgbClr val="0E2841"/>
                </a:solidFill>
                <a:latin typeface="Helvetica Neue"/>
                <a:ea typeface="Helvetica Neue"/>
                <a:cs typeface="Helvetica Neue"/>
              </a:defRPr>
            </a:pPr>
            <a:r>
              <a:rPr sz="1350" b="1" i="0">
                <a:solidFill>
                  <a:srgbClr val="0E2841"/>
                </a:solidFill>
                <a:latin typeface="Helvetica Neue"/>
                <a:ea typeface="Helvetica Neue"/>
                <a:cs typeface="Helvetica Neue"/>
              </a:rPr>
              <a:t>Frontal and three-quarter views</a:t>
            </a:r>
          </a:p>
        </p:txBody>
      </p:sp>
      <p:graphicFrame>
        <p:nvGraphicFramePr>
          <p:cNvPr id="10" name="Chart"/>
          <p:cNvGraphicFramePr/>
          <p:nvPr/>
        </p:nvGraphicFramePr>
        <p:xfrm>
          <a:off xmlns:a="http://schemas.openxmlformats.org/drawingml/2006/main" x="523875" y="1333500"/>
          <a:ext xmlns:a="http://schemas.openxmlformats.org/drawingml/2006/main" cx="5429250" cy="4000500"/>
        </p:xfrm>
        <a:graphic xmlns:a="http://schemas.openxmlformats.org/drawingml/2006/main">
          <a:graphicData uri="http://schemas.openxmlformats.org/drawingml/2006/chart">
            <c:chart xmlns:r="http://schemas.openxmlformats.org/officeDocument/2006/relationships" xmlns:c="http://schemas.openxmlformats.org/drawingml/2006/chart" r:id="R372249569d7242ed"/>
          </a:graphicData>
        </a:graphic>
      </p:graphicFrame>
      <p:graphicFrame>
        <p:nvGraphicFramePr>
          <p:cNvPr id="11" name="Chart"/>
          <p:cNvGraphicFramePr/>
          <p:nvPr/>
        </p:nvGraphicFramePr>
        <p:xfrm>
          <a:off xmlns:a="http://schemas.openxmlformats.org/drawingml/2006/main" x="6238875" y="1333500"/>
          <a:ext xmlns:a="http://schemas.openxmlformats.org/drawingml/2006/main" cx="5429250" cy="4000500"/>
        </p:xfrm>
        <a:graphic xmlns:a="http://schemas.openxmlformats.org/drawingml/2006/main">
          <a:graphicData uri="http://schemas.openxmlformats.org/drawingml/2006/chart">
            <c:chart xmlns:r="http://schemas.openxmlformats.org/officeDocument/2006/relationships" xmlns:c="http://schemas.openxmlformats.org/drawingml/2006/chart" r:id="R1b2d1e586ef44fdc"/>
          </a:graphicData>
        </a:graphic>
      </p:graphicFrame>
      <p:sp>
        <p:nvSpPr>
          <p:cNvPr id="6" name="">
            <a:extLst xmlns:a="http://schemas.openxmlformats.org/drawingml/2006/main">
              <a:ext uri="{FF2B5EF4-FFF2-40B4-BE49-F238E27FC236}">
                <a16:creationId xmlns:a16="http://schemas.microsoft.com/office/drawing/2014/main" id="{8C2F71C6-A2B6-4BBF-A71E-C00C75F74838}"/>
              </a:ext>
            </a:extLst>
          </p:cNvPr>
          <p:cNvSpPr>
            <a:spLocks xmlns:a="http://schemas.openxmlformats.org/drawingml/2006/main" noGrp="1"/>
          </p:cNvSpPr>
          <p:nvPr/>
        </p:nvSpPr>
        <p:spPr>
          <a:xfrm xmlns:a="http://schemas.openxmlformats.org/drawingml/2006/main">
            <a:off x="590550" y="5619750"/>
            <a:ext cx="11010900" cy="552450"/>
          </a:xfrm>
          <a:prstGeom xmlns:a="http://schemas.openxmlformats.org/drawingml/2006/main" prst="roundRect">
            <a:avLst>
              <a:gd name="adj" fmla="val 13793"/>
            </a:avLst>
          </a:prstGeom>
          <a:solidFill xmlns:a="http://schemas.openxmlformats.org/drawingml/2006/main">
            <a:srgbClr val="EAF3F7"/>
          </a:solidFill>
          <a:ln xmlns:a="http://schemas.openxmlformats.org/drawingml/2006/main" w="9525">
            <a:solidFill>
              <a:srgbClr val="D5E8F0"/>
            </a:solidFill>
          </a:ln>
        </p:spPr>
        <p:txBody>
          <a:bodyPr xmlns:a="http://schemas.openxmlformats.org/drawingml/2006/main">
            <a:normAutofit fontScale="100000"/>
          </a:bodyPr>
          <a:lstStyle xmlns:a="http://schemas.openxmlformats.org/drawingml/2006/main"/>
          <a:p xmlns:a="http://schemas.openxmlformats.org/drawingml/2006/main">
            <a:pPr algn="ctr">
              <a:defRPr sz="1125" b="1" i="0">
                <a:solidFill>
                  <a:srgbClr val="0E2841"/>
                </a:solidFill>
                <a:latin typeface="Helvetica Neue"/>
                <a:ea typeface="Helvetica Neue"/>
                <a:cs typeface="Helvetica Neue"/>
              </a:defRPr>
            </a:pPr>
            <a:r>
              <a:rPr sz="1125" b="1" i="0">
                <a:solidFill>
                  <a:srgbClr val="0E2841"/>
                </a:solidFill>
                <a:latin typeface="Helvetica Neue"/>
                <a:ea typeface="Helvetica Neue"/>
                <a:cs typeface="Helvetica Neue"/>
              </a:rPr>
              <a:t>At lr = 10⁻³, 750 steps capture essentially all gains in frontal and three-quarter views. Both profile means continue decreasing through 1500 steps.</a:t>
            </a:r>
          </a:p>
        </p:txBody>
      </p:sp>
    </p:spTree>
    <p:extLst>
      <p:ext uri="{BB962C8B-B14F-4D97-AF65-F5344CB8AC3E}">
        <p14:creationId xmlns:p14="http://schemas.microsoft.com/office/powerpoint/2010/main" val="2974715249"/>
      </p:ext>
    </p:extLst>
  </p:cSld>
</p:sld>
</file>

<file path=ppt/slides/slide6.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102" name="Title">
            <a:extLst xmlns:a="http://schemas.openxmlformats.org/drawingml/2006/main">
              <a:ext uri="{FF2B5EF4-FFF2-40B4-BE49-F238E27FC236}">
                <a16:creationId xmlns:a16="http://schemas.microsoft.com/office/drawing/2014/main" id="{739ABF54-2E3C-4E32-BC88-D352EFAE4A6B}"/>
              </a:ext>
            </a:extLst>
          </p:cNvPr>
          <p:cNvSpPr>
            <a:spLocks xmlns:a="http://schemas.openxmlformats.org/drawingml/2006/main" noGrp="1"/>
          </p:cNvSpPr>
          <p:nvPr/>
        </p:nvSpPr>
        <p:spPr>
          <a:xfrm xmlns:a="http://schemas.openxmlformats.org/drawingml/2006/main">
            <a:off x="493776" y="274320"/>
            <a:ext cx="11201400" cy="502920"/>
          </a:xfrm>
          <a:prstGeom xmlns:a="http://schemas.openxmlformats.org/drawingml/2006/main" prst="rect">
            <a:avLst/>
          </a:prstGeom>
        </p:spPr>
        <p:txBody>
          <a:bodyPr xmlns:a="http://schemas.openxmlformats.org/drawingml/2006/main" wrap="square" anchor="t"/>
          <a:lstStyle xmlns:a="http://schemas.openxmlformats.org/drawingml/2006/main"/>
          <a:p xmlns:a="http://schemas.openxmlformats.org/drawingml/2006/main">
            <a:pPr algn="l">
              <a:buNone/>
            </a:pPr>
            <a:r>
              <a:rPr sz="2600" b="1">
                <a:solidFill>
                  <a:srgbClr val="156082"/>
                </a:solidFill>
                <a:latin typeface="Helvetica Neue"/>
                <a:ea typeface="Helvetica Neue"/>
                <a:cs typeface="Helvetica Neue"/>
              </a:rPr>
              <a:t>InFanFace: TTA Improves Every Orientation Group</a:t>
            </a:r>
          </a:p>
        </p:txBody>
      </p:sp>
      <p:graphicFrame>
        <p:nvGraphicFramePr>
          <p:cNvPr id="107" name="Chart"/>
          <p:cNvGraphicFramePr/>
          <p:nvPr/>
        </p:nvGraphicFramePr>
        <p:xfrm>
          <a:off xmlns:a="http://schemas.openxmlformats.org/drawingml/2006/main" x="590550" y="1200150"/>
          <a:ext xmlns:a="http://schemas.openxmlformats.org/drawingml/2006/main" cx="11010900" cy="4171950"/>
        </p:xfrm>
        <a:graphic xmlns:a="http://schemas.openxmlformats.org/drawingml/2006/main">
          <a:graphicData uri="http://schemas.openxmlformats.org/drawingml/2006/chart">
            <c:chart xmlns:r="http://schemas.openxmlformats.org/officeDocument/2006/relationships" xmlns:c="http://schemas.openxmlformats.org/drawingml/2006/chart" r:id="R36dcaf1ea4fc4741"/>
          </a:graphicData>
        </a:graphic>
      </p:graphicFrame>
      <p:sp>
        <p:nvSpPr>
          <p:cNvPr id="104" name="finding-strip">
            <a:extLst xmlns:a="http://schemas.openxmlformats.org/drawingml/2006/main">
              <a:ext uri="{FF2B5EF4-FFF2-40B4-BE49-F238E27FC236}">
                <a16:creationId xmlns:a16="http://schemas.microsoft.com/office/drawing/2014/main" id="{18E6C8BD-6A17-4DE7-B2D3-3D889CFEA4D8}"/>
              </a:ext>
            </a:extLst>
          </p:cNvPr>
          <p:cNvSpPr>
            <a:spLocks xmlns:a="http://schemas.openxmlformats.org/drawingml/2006/main" noGrp="1"/>
          </p:cNvSpPr>
          <p:nvPr/>
        </p:nvSpPr>
        <p:spPr>
          <a:xfrm xmlns:a="http://schemas.openxmlformats.org/drawingml/2006/main">
            <a:off x="590550" y="5562600"/>
            <a:ext cx="11010900" cy="552450"/>
          </a:xfrm>
          <a:prstGeom xmlns:a="http://schemas.openxmlformats.org/drawingml/2006/main" prst="roundRect">
            <a:avLst>
              <a:gd name="adj" fmla="val 13793"/>
            </a:avLst>
          </a:prstGeom>
          <a:solidFill xmlns:a="http://schemas.openxmlformats.org/drawingml/2006/main">
            <a:srgbClr val="EAF3F7"/>
          </a:solidFill>
          <a:ln xmlns:a="http://schemas.openxmlformats.org/drawingml/2006/main" w="9525">
            <a:solidFill>
              <a:srgbClr val="B8D5E2"/>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E2841"/>
                </a:solidFill>
              </a:defRPr>
            </a:pPr>
            <a:r>
              <a:rPr sz="1350" b="1">
                <a:solidFill>
                  <a:srgbClr val="0E2841"/>
                </a:solidFill>
              </a:rPr>
              <a:t>The largest absolute reductions occur in the profile bins, but those estimates have the smallest sample sizes; the three larger central bins also improve consistently.</a:t>
            </a:r>
          </a:p>
        </p:txBody>
      </p:sp>
    </p:spTree>
    <p:extLst>
      <p:ext uri="{BB962C8B-B14F-4D97-AF65-F5344CB8AC3E}">
        <p14:creationId xmlns:p14="http://schemas.microsoft.com/office/powerpoint/2010/main" val="2974715249"/>
      </p:ext>
    </p:extLst>
  </p:cSld>
</p:sld>
</file>

<file path=ppt/slides/slide7.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F243A9-DCDD-40F8-BFF3-5C4C0C912A36}"/>
              </a:ext>
            </a:extLst>
          </p:cNvPr>
          <p:cNvSpPr>
            <a:spLocks xmlns:a="http://schemas.openxmlformats.org/drawingml/2006/main" noGrp="1"/>
          </p:cNvSpPr>
          <p:nvPr/>
        </p:nvSpPr>
        <p:spPr>
          <a:xfrm xmlns:a="http://schemas.openxmlformats.org/drawingml/2006/main">
            <a:off x="495300" y="276225"/>
            <a:ext cx="11201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i="0">
                <a:solidFill>
                  <a:srgbClr val="156082"/>
                </a:solidFill>
                <a:latin typeface="Helvetica Neue"/>
                <a:ea typeface="Helvetica Neue"/>
                <a:cs typeface="Helvetica Neue"/>
              </a:defRPr>
            </a:pPr>
            <a:r>
              <a:rPr sz="1950" b="1" i="0">
                <a:solidFill>
                  <a:srgbClr val="156082"/>
                </a:solidFill>
                <a:latin typeface="Helvetica Neue"/>
                <a:ea typeface="Helvetica Neue"/>
                <a:cs typeface="Helvetica Neue"/>
              </a:rPr>
              <a:t>Aggregate PCA Convergence and Landmark Drift</a:t>
            </a:r>
          </a:p>
        </p:txBody>
      </p:sp>
      <p:sp>
        <p:nvSpPr>
          <p:cNvPr id="2" name="">
            <a:extLst xmlns:a="http://schemas.openxmlformats.org/drawingml/2006/main">
              <a:ext uri="{FF2B5EF4-FFF2-40B4-BE49-F238E27FC236}">
                <a16:creationId xmlns:a16="http://schemas.microsoft.com/office/drawing/2014/main" id="{CCCECD2E-F9FC-4BC4-BBF6-57CD7BF76C10}"/>
              </a:ext>
            </a:extLst>
          </p:cNvPr>
          <p:cNvSpPr>
            <a:spLocks xmlns:a="http://schemas.openxmlformats.org/drawingml/2006/main" noGrp="1"/>
          </p:cNvSpPr>
          <p:nvPr/>
        </p:nvSpPr>
        <p:spPr>
          <a:xfrm xmlns:a="http://schemas.openxmlformats.org/drawingml/2006/main">
            <a:off x="666750" y="9906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i="0">
                <a:solidFill>
                  <a:srgbClr val="0E2841"/>
                </a:solidFill>
                <a:latin typeface="Helvetica Neue"/>
                <a:ea typeface="Helvetica Neue"/>
                <a:cs typeface="Helvetica Neue"/>
              </a:defRPr>
            </a:pPr>
            <a:r>
              <a:rPr sz="1350" b="1" i="0">
                <a:solidFill>
                  <a:srgbClr val="0E2841"/>
                </a:solidFill>
                <a:latin typeface="Helvetica Neue"/>
                <a:ea typeface="Helvetica Neue"/>
                <a:cs typeface="Helvetica Neue"/>
              </a:rPr>
              <a:t>Median PCA-loss reduction</a:t>
            </a:r>
          </a:p>
        </p:txBody>
      </p:sp>
      <p:sp>
        <p:nvSpPr>
          <p:cNvPr id="3" name="">
            <a:extLst xmlns:a="http://schemas.openxmlformats.org/drawingml/2006/main">
              <a:ext uri="{FF2B5EF4-FFF2-40B4-BE49-F238E27FC236}">
                <a16:creationId xmlns:a16="http://schemas.microsoft.com/office/drawing/2014/main" id="{A321E80A-7544-4CB3-9E11-39EF4FD34C4D}"/>
              </a:ext>
            </a:extLst>
          </p:cNvPr>
          <p:cNvSpPr>
            <a:spLocks xmlns:a="http://schemas.openxmlformats.org/drawingml/2006/main" noGrp="1"/>
          </p:cNvSpPr>
          <p:nvPr/>
        </p:nvSpPr>
        <p:spPr>
          <a:xfrm xmlns:a="http://schemas.openxmlformats.org/drawingml/2006/main">
            <a:off x="6572250" y="9906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350" b="1" i="0">
                <a:solidFill>
                  <a:srgbClr val="0E2841"/>
                </a:solidFill>
                <a:latin typeface="Helvetica Neue"/>
                <a:ea typeface="Helvetica Neue"/>
                <a:cs typeface="Helvetica Neue"/>
              </a:defRPr>
            </a:pPr>
            <a:r>
              <a:rPr sz="1350" b="1" i="0">
                <a:solidFill>
                  <a:srgbClr val="0E2841"/>
                </a:solidFill>
                <a:latin typeface="Helvetica Neue"/>
                <a:ea typeface="Helvetica Neue"/>
                <a:cs typeface="Helvetica Neue"/>
              </a:rPr>
              <a:t>Mean landmark drift from step 0</a:t>
            </a:r>
          </a:p>
        </p:txBody>
      </p:sp>
      <p:graphicFrame>
        <p:nvGraphicFramePr>
          <p:cNvPr id="10" name="Chart"/>
          <p:cNvGraphicFramePr/>
          <p:nvPr/>
        </p:nvGraphicFramePr>
        <p:xfrm>
          <a:off xmlns:a="http://schemas.openxmlformats.org/drawingml/2006/main" x="523875" y="1333500"/>
          <a:ext xmlns:a="http://schemas.openxmlformats.org/drawingml/2006/main" cx="5429250" cy="4000500"/>
        </p:xfrm>
        <a:graphic xmlns:a="http://schemas.openxmlformats.org/drawingml/2006/main">
          <a:graphicData uri="http://schemas.openxmlformats.org/drawingml/2006/chart">
            <c:chart xmlns:r="http://schemas.openxmlformats.org/officeDocument/2006/relationships" xmlns:c="http://schemas.openxmlformats.org/drawingml/2006/chart" r:id="Rca3f4c531bc44afb"/>
          </a:graphicData>
        </a:graphic>
      </p:graphicFrame>
      <p:graphicFrame>
        <p:nvGraphicFramePr>
          <p:cNvPr id="11" name="Chart"/>
          <p:cNvGraphicFramePr/>
          <p:nvPr/>
        </p:nvGraphicFramePr>
        <p:xfrm>
          <a:off xmlns:a="http://schemas.openxmlformats.org/drawingml/2006/main" x="6238875" y="1333500"/>
          <a:ext xmlns:a="http://schemas.openxmlformats.org/drawingml/2006/main" cx="5429250" cy="4000500"/>
        </p:xfrm>
        <a:graphic xmlns:a="http://schemas.openxmlformats.org/drawingml/2006/main">
          <a:graphicData uri="http://schemas.openxmlformats.org/drawingml/2006/chart">
            <c:chart xmlns:r="http://schemas.openxmlformats.org/officeDocument/2006/relationships" xmlns:c="http://schemas.openxmlformats.org/drawingml/2006/chart" r:id="Rb0363fb9ba764e0c"/>
          </a:graphicData>
        </a:graphic>
      </p:graphicFrame>
      <p:sp>
        <p:nvSpPr>
          <p:cNvPr id="6" name="">
            <a:extLst xmlns:a="http://schemas.openxmlformats.org/drawingml/2006/main">
              <a:ext uri="{FF2B5EF4-FFF2-40B4-BE49-F238E27FC236}">
                <a16:creationId xmlns:a16="http://schemas.microsoft.com/office/drawing/2014/main" id="{D10EB49D-235B-4E0E-9DF3-8A457D4A4B2F}"/>
              </a:ext>
            </a:extLst>
          </p:cNvPr>
          <p:cNvSpPr>
            <a:spLocks xmlns:a="http://schemas.openxmlformats.org/drawingml/2006/main" noGrp="1"/>
          </p:cNvSpPr>
          <p:nvPr/>
        </p:nvSpPr>
        <p:spPr>
          <a:xfrm xmlns:a="http://schemas.openxmlformats.org/drawingml/2006/main">
            <a:off x="590550" y="5619750"/>
            <a:ext cx="11010900" cy="552450"/>
          </a:xfrm>
          <a:prstGeom xmlns:a="http://schemas.openxmlformats.org/drawingml/2006/main" prst="roundRect">
            <a:avLst>
              <a:gd name="adj" fmla="val 13793"/>
            </a:avLst>
          </a:prstGeom>
          <a:solidFill xmlns:a="http://schemas.openxmlformats.org/drawingml/2006/main">
            <a:srgbClr val="EAF3F7"/>
          </a:solidFill>
          <a:ln xmlns:a="http://schemas.openxmlformats.org/drawingml/2006/main" w="9525">
            <a:solidFill>
              <a:srgbClr val="D5E8F0"/>
            </a:solidFill>
          </a:ln>
        </p:spPr>
        <p:txBody>
          <a:bodyPr xmlns:a="http://schemas.openxmlformats.org/drawingml/2006/main">
            <a:normAutofit fontScale="100000"/>
          </a:bodyPr>
          <a:lstStyle xmlns:a="http://schemas.openxmlformats.org/drawingml/2006/main"/>
          <a:p xmlns:a="http://schemas.openxmlformats.org/drawingml/2006/main">
            <a:pPr algn="ctr">
              <a:defRPr sz="1125" b="1" i="0">
                <a:solidFill>
                  <a:srgbClr val="0E2841"/>
                </a:solidFill>
                <a:latin typeface="Helvetica Neue"/>
                <a:ea typeface="Helvetica Neue"/>
                <a:cs typeface="Helvetica Neue"/>
              </a:defRPr>
            </a:pPr>
            <a:r>
              <a:rPr sz="1125" b="1" i="0">
                <a:solidFill>
                  <a:srgbClr val="0E2841"/>
                </a:solidFill>
                <a:latin typeface="Helvetica Neue"/>
                <a:ea typeface="Helvetica Neue"/>
                <a:cs typeface="Helvetica Neue"/>
              </a:rPr>
              <a:t>By 750 steps, the median PCA loss falls 84.1% and median drift reaches 4.65 px. From 750 to 1500, loss reduction gains only 4.7 pp while drift rises to 4.90 px.</a:t>
            </a:r>
          </a:p>
        </p:txBody>
      </p:sp>
    </p:spTree>
    <p:extLst>
      <p:ext uri="{BB962C8B-B14F-4D97-AF65-F5344CB8AC3E}">
        <p14:creationId xmlns:p14="http://schemas.microsoft.com/office/powerpoint/2010/main" val="2974715249"/>
      </p:ext>
    </p:extLst>
  </p:cSld>
</p:sld>
</file>

<file path=ppt/slides/slide8.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3BF06D-A5FA-45B7-9782-7F98495AA7B0}"/>
              </a:ext>
            </a:extLst>
          </p:cNvPr>
          <p:cNvSpPr>
            <a:spLocks xmlns:a="http://schemas.openxmlformats.org/drawingml/2006/main" noGrp="1"/>
          </p:cNvSpPr>
          <p:nvPr/>
        </p:nvSpPr>
        <p:spPr>
          <a:xfrm xmlns:a="http://schemas.openxmlformats.org/drawingml/2006/main">
            <a:off x="495300" y="276225"/>
            <a:ext cx="11201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i="0">
                <a:solidFill>
                  <a:srgbClr val="156082"/>
                </a:solidFill>
                <a:latin typeface="Helvetica Neue"/>
                <a:ea typeface="Helvetica Neue"/>
                <a:cs typeface="Helvetica Neue"/>
              </a:defRPr>
            </a:pPr>
            <a:r>
              <a:rPr sz="1950" b="1" i="0">
                <a:solidFill>
                  <a:srgbClr val="156082"/>
                </a:solidFill>
                <a:latin typeface="Helvetica Neue"/>
                <a:ea typeface="Helvetica Neue"/>
                <a:cs typeface="Helvetica Neue"/>
              </a:rPr>
              <a:t>Qualitative Adaptation in a Successful Left-Profile Case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b4b70315b554d1d"/>
          <a:stretch xmlns:a="http://schemas.openxmlformats.org/drawingml/2006/main"/>
        </p:blipFill>
        <p:spPr>
          <a:xfrm xmlns:a="http://schemas.openxmlformats.org/drawingml/2006/main">
            <a:off x="597647" y="1066800"/>
            <a:ext cx="10996706" cy="21907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AB2A333-BF28-49BE-97D1-44376E4157BB}"/>
              </a:ext>
            </a:extLst>
          </p:cNvPr>
          <p:cNvSpPr>
            <a:spLocks xmlns:a="http://schemas.openxmlformats.org/drawingml/2006/main" noGrp="1"/>
          </p:cNvSpPr>
          <p:nvPr/>
        </p:nvSpPr>
        <p:spPr>
          <a:xfrm xmlns:a="http://schemas.openxmlformats.org/drawingml/2006/main">
            <a:off x="666750" y="357187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i="0">
                <a:solidFill>
                  <a:srgbClr val="156082"/>
                </a:solidFill>
                <a:latin typeface="Helvetica Neue"/>
                <a:ea typeface="Helvetica Neue"/>
                <a:cs typeface="Helvetica Neue"/>
              </a:defRPr>
            </a:pPr>
            <a:r>
              <a:rPr sz="1350" b="1" i="0">
                <a:solidFill>
                  <a:srgbClr val="156082"/>
                </a:solidFill>
                <a:latin typeface="Helvetica Neue"/>
                <a:ea typeface="Helvetica Neue"/>
                <a:cs typeface="Helvetica Neue"/>
              </a:rPr>
              <a:t>Observed change</a:t>
            </a:r>
          </a:p>
        </p:txBody>
      </p:sp>
      <p:sp>
        <p:nvSpPr>
          <p:cNvPr id="4" name="">
            <a:extLst xmlns:a="http://schemas.openxmlformats.org/drawingml/2006/main">
              <a:ext uri="{FF2B5EF4-FFF2-40B4-BE49-F238E27FC236}">
                <a16:creationId xmlns:a16="http://schemas.microsoft.com/office/drawing/2014/main" id="{B6E68671-9282-46AF-9197-D9CBFAF25781}"/>
              </a:ext>
            </a:extLst>
          </p:cNvPr>
          <p:cNvSpPr>
            <a:spLocks xmlns:a="http://schemas.openxmlformats.org/drawingml/2006/main" noGrp="1"/>
          </p:cNvSpPr>
          <p:nvPr/>
        </p:nvSpPr>
        <p:spPr>
          <a:xfrm xmlns:a="http://schemas.openxmlformats.org/drawingml/2006/main">
            <a:off x="666750" y="3905250"/>
            <a:ext cx="4953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00" b="0" i="0">
                <a:solidFill>
                  <a:srgbClr val="0E2841"/>
                </a:solidFill>
                <a:latin typeface="Helvetica Neue"/>
                <a:ea typeface="Helvetica Neue"/>
                <a:cs typeface="Helvetica Neue"/>
              </a:defRPr>
            </a:pPr>
            <a:r>
              <a:rPr sz="1200" b="0" i="0">
                <a:solidFill>
                  <a:srgbClr val="0E2841"/>
                </a:solidFill>
                <a:latin typeface="Helvetica Neue"/>
                <a:ea typeface="Helvetica Neue"/>
                <a:cs typeface="Helvetica Neue"/>
              </a:rPr>
              <a:t>The magenta landmarks move from a scattered profile prediction toward a coherent eye, nose, mouth, and jaw configuration. The input and normalized image remain visually similar, while the enhanced difference map reveals where the normalizer changes image evidence.</a:t>
            </a:r>
          </a:p>
        </p:txBody>
      </p:sp>
      <p:sp>
        <p:nvSpPr>
          <p:cNvPr id="5" name="">
            <a:extLst xmlns:a="http://schemas.openxmlformats.org/drawingml/2006/main">
              <a:ext uri="{FF2B5EF4-FFF2-40B4-BE49-F238E27FC236}">
                <a16:creationId xmlns:a16="http://schemas.microsoft.com/office/drawing/2014/main" id="{7E2F7ADA-3380-4E95-AFCE-5A3ADD2D9CA1}"/>
              </a:ext>
            </a:extLst>
          </p:cNvPr>
          <p:cNvSpPr>
            <a:spLocks xmlns:a="http://schemas.openxmlformats.org/drawingml/2006/main" noGrp="1"/>
          </p:cNvSpPr>
          <p:nvPr/>
        </p:nvSpPr>
        <p:spPr>
          <a:xfrm xmlns:a="http://schemas.openxmlformats.org/drawingml/2006/main">
            <a:off x="6429375" y="357187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350" b="1" i="0">
                <a:solidFill>
                  <a:srgbClr val="156082"/>
                </a:solidFill>
                <a:latin typeface="Helvetica Neue"/>
                <a:ea typeface="Helvetica Neue"/>
                <a:cs typeface="Helvetica Neue"/>
              </a:defRPr>
            </a:pPr>
            <a:r>
              <a:rPr sz="1350" b="1" i="0">
                <a:solidFill>
                  <a:srgbClr val="156082"/>
                </a:solidFill>
                <a:latin typeface="Helvetica Neue"/>
                <a:ea typeface="Helvetica Neue"/>
                <a:cs typeface="Helvetica Neue"/>
              </a:rPr>
              <a:t>Step 0 → step 1500</a:t>
            </a:r>
          </a:p>
        </p:txBody>
      </p:sp>
      <p:sp>
        <p:nvSpPr>
          <p:cNvPr id="6" name="">
            <a:extLst xmlns:a="http://schemas.openxmlformats.org/drawingml/2006/main">
              <a:ext uri="{FF2B5EF4-FFF2-40B4-BE49-F238E27FC236}">
                <a16:creationId xmlns:a16="http://schemas.microsoft.com/office/drawing/2014/main" id="{C7EC227A-A755-4251-9D98-BC4D1D062B09}"/>
              </a:ext>
            </a:extLst>
          </p:cNvPr>
          <p:cNvSpPr>
            <a:spLocks xmlns:a="http://schemas.openxmlformats.org/drawingml/2006/main" noGrp="1"/>
          </p:cNvSpPr>
          <p:nvPr/>
        </p:nvSpPr>
        <p:spPr>
          <a:xfrm xmlns:a="http://schemas.openxmlformats.org/drawingml/2006/main">
            <a:off x="6429375" y="3905250"/>
            <a:ext cx="4476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1" i="0">
                <a:solidFill>
                  <a:srgbClr val="0E2841"/>
                </a:solidFill>
                <a:latin typeface="Helvetica Neue"/>
                <a:ea typeface="Helvetica Neue"/>
                <a:cs typeface="Helvetica Neue"/>
              </a:defRPr>
            </a:pPr>
            <a:r>
              <a:rPr sz="1275" b="1" i="0">
                <a:solidFill>
                  <a:srgbClr val="0E2841"/>
                </a:solidFill>
                <a:latin typeface="Helvetica Neue"/>
                <a:ea typeface="Helvetica Neue"/>
                <a:cs typeface="Helvetica Neue"/>
              </a:rPr>
              <a:t>PCA loss: 1.43e-4 → 6.02e-6</a:t>
            </a:r>
          </a:p>
          <a:p xmlns:a="http://schemas.openxmlformats.org/drawingml/2006/main">
            <a:pPr algn="l">
              <a:defRPr sz="1275" b="1" i="0">
                <a:solidFill>
                  <a:srgbClr val="0E2841"/>
                </a:solidFill>
                <a:latin typeface="Helvetica Neue"/>
                <a:ea typeface="Helvetica Neue"/>
                <a:cs typeface="Helvetica Neue"/>
              </a:defRPr>
            </a:pPr>
            <a:r>
              <a:rPr sz="1275" b="1" i="0">
                <a:solidFill>
                  <a:srgbClr val="0E2841"/>
                </a:solidFill>
                <a:latin typeface="Helvetica Neue"/>
                <a:ea typeface="Helvetica Neue"/>
                <a:cs typeface="Helvetica Neue"/>
              </a:rPr>
              <a:t>NME: 12.31% → 4.75%</a:t>
            </a:r>
          </a:p>
          <a:p xmlns:a="http://schemas.openxmlformats.org/drawingml/2006/main">
            <a:pPr algn="l">
              <a:defRPr sz="1275" b="1" i="0">
                <a:solidFill>
                  <a:srgbClr val="0E2841"/>
                </a:solidFill>
                <a:latin typeface="Helvetica Neue"/>
                <a:ea typeface="Helvetica Neue"/>
                <a:cs typeface="Helvetica Neue"/>
              </a:defRPr>
            </a:pPr>
            <a:r>
              <a:rPr sz="1275" b="1" i="0">
                <a:solidFill>
                  <a:srgbClr val="0E2841"/>
                </a:solidFill>
                <a:latin typeface="Helvetica Neue"/>
                <a:ea typeface="Helvetica Neue"/>
                <a:cs typeface="Helvetica Neue"/>
              </a:rPr>
              <a:t>Hausdorff: 30.14% → 19.63%</a:t>
            </a:r>
          </a:p>
          <a:p xmlns:a="http://schemas.openxmlformats.org/drawingml/2006/main">
            <a:pPr algn="l">
              <a:defRPr sz="1275" b="1" i="0">
                <a:solidFill>
                  <a:srgbClr val="0E2841"/>
                </a:solidFill>
                <a:latin typeface="Helvetica Neue"/>
                <a:ea typeface="Helvetica Neue"/>
                <a:cs typeface="Helvetica Neue"/>
              </a:defRPr>
            </a:pPr>
            <a:r>
              <a:rPr sz="1275" b="1" i="0">
                <a:solidFill>
                  <a:srgbClr val="0E2841"/>
                </a:solidFill>
                <a:latin typeface="Helvetica Neue"/>
                <a:ea typeface="Helvetica Neue"/>
                <a:cs typeface="Helvetica Neue"/>
              </a:rPr>
              <a:t>Mean landmark drift: 15.58 px</a:t>
            </a:r>
          </a:p>
        </p:txBody>
      </p:sp>
      <p:sp>
        <p:nvSpPr>
          <p:cNvPr id="7" name="">
            <a:extLst xmlns:a="http://schemas.openxmlformats.org/drawingml/2006/main">
              <a:ext uri="{FF2B5EF4-FFF2-40B4-BE49-F238E27FC236}">
                <a16:creationId xmlns:a16="http://schemas.microsoft.com/office/drawing/2014/main" id="{6BD6923A-E16A-4F31-B2EE-102E441DCD33}"/>
              </a:ext>
            </a:extLst>
          </p:cNvPr>
          <p:cNvSpPr>
            <a:spLocks xmlns:a="http://schemas.openxmlformats.org/drawingml/2006/main" noGrp="1"/>
          </p:cNvSpPr>
          <p:nvPr/>
        </p:nvSpPr>
        <p:spPr>
          <a:xfrm xmlns:a="http://schemas.openxmlformats.org/drawingml/2006/main">
            <a:off x="590550" y="5619750"/>
            <a:ext cx="11010900" cy="552450"/>
          </a:xfrm>
          <a:prstGeom xmlns:a="http://schemas.openxmlformats.org/drawingml/2006/main" prst="roundRect">
            <a:avLst>
              <a:gd name="adj" fmla="val 13793"/>
            </a:avLst>
          </a:prstGeom>
          <a:solidFill xmlns:a="http://schemas.openxmlformats.org/drawingml/2006/main">
            <a:srgbClr val="EAF3F7"/>
          </a:solidFill>
          <a:ln xmlns:a="http://schemas.openxmlformats.org/drawingml/2006/main" w="9525">
            <a:solidFill>
              <a:srgbClr val="D5E8F0"/>
            </a:solidFill>
          </a:ln>
        </p:spPr>
        <p:txBody>
          <a:bodyPr xmlns:a="http://schemas.openxmlformats.org/drawingml/2006/main">
            <a:normAutofit fontScale="100000"/>
          </a:bodyPr>
          <a:lstStyle xmlns:a="http://schemas.openxmlformats.org/drawingml/2006/main"/>
          <a:p xmlns:a="http://schemas.openxmlformats.org/drawingml/2006/main">
            <a:pPr algn="ctr">
              <a:defRPr sz="1125" b="1" i="0">
                <a:solidFill>
                  <a:srgbClr val="0E2841"/>
                </a:solidFill>
                <a:latin typeface="Helvetica Neue"/>
                <a:ea typeface="Helvetica Neue"/>
                <a:cs typeface="Helvetica Neue"/>
              </a:defRPr>
            </a:pPr>
            <a:r>
              <a:rPr sz="1125" b="1" i="0">
                <a:solidFill>
                  <a:srgbClr val="0E2841"/>
                </a:solidFill>
                <a:latin typeface="Helvetica Neue"/>
                <a:ea typeface="Helvetica Neue"/>
                <a:cs typeface="Helvetica Neue"/>
              </a:rPr>
              <a:t>The GIF plays in slideshow mode. It is a selected successful example, not a representative estimate. Enhanced-difference colors are rescaled per frame and should not be compared as absolute magnitudes.</a:t>
            </a:r>
          </a:p>
        </p:txBody>
      </p:sp>
    </p:spTree>
    <p:extLst>
      <p:ext uri="{BB962C8B-B14F-4D97-AF65-F5344CB8AC3E}">
        <p14:creationId xmlns:p14="http://schemas.microsoft.com/office/powerpoint/2010/main" val="297471524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15a99d6323ef4ce5"/>
          <a:stretch xmlns:a="http://schemas.openxmlformats.org/drawingml/2006/main">
            <a:fillRect l="0" t="0" r="0" b="0"/>
          </a:stretch>
        </p:blipFill>
        <p:spPr>
          <a:xfrm xmlns:a="http://schemas.openxmlformats.org/drawingml/2006/main">
            <a:off x="1306032" y="13465"/>
            <a:ext cx="9579935" cy="6844535"/>
          </a:xfrm>
          <a:prstGeom xmlns:a="http://schemas.openxmlformats.org/drawingml/2006/main" prst="rect">
            <a:avLst/>
          </a:prstGeom>
        </p:spPr>
      </p:pic>
    </p:spTree>
    <p:extLst>
      <p:ext uri="{BB962C8B-B14F-4D97-AF65-F5344CB8AC3E}">
        <p14:creationId xmlns:p14="http://schemas.microsoft.com/office/powerpoint/2010/main" val="129556421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Picture 9"/>
          <p:cNvPicPr>
            <a:picLocks xmlns:a="http://schemas.openxmlformats.org/drawingml/2006/main" noChangeAspect="1"/>
          </p:cNvPicPr>
          <p:nvPr/>
        </p:nvPicPr>
        <p:blipFill>
          <a:blip xmlns:r="http://schemas.openxmlformats.org/officeDocument/2006/relationships" xmlns:a="http://schemas.openxmlformats.org/drawingml/2006/main" r:embed="R4e77bfb540324b43"/>
          <a:stretch xmlns:a="http://schemas.openxmlformats.org/drawingml/2006/main">
            <a:fillRect l="0" t="0" r="0" b="0"/>
          </a:stretch>
        </p:blipFill>
        <p:spPr>
          <a:xfrm xmlns:a="http://schemas.openxmlformats.org/drawingml/2006/main">
            <a:off x="2209800" y="812139"/>
            <a:ext cx="7772400" cy="5233722"/>
          </a:xfrm>
          <a:prstGeom xmlns:a="http://schemas.openxmlformats.org/drawingml/2006/main" prst="rect">
            <a:avLst/>
          </a:prstGeom>
        </p:spPr>
      </p:pic>
    </p:spTree>
    <p:extLst>
      <p:ext uri="{BB962C8B-B14F-4D97-AF65-F5344CB8AC3E}">
        <p14:creationId xmlns:p14="http://schemas.microsoft.com/office/powerpoint/2010/main" val="149635766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Picture 2"/>
          <p:cNvPicPr>
            <a:picLocks xmlns:a="http://schemas.openxmlformats.org/drawingml/2006/main" noChangeAspect="1"/>
          </p:cNvPicPr>
          <p:nvPr/>
        </p:nvPicPr>
        <p:blipFill>
          <a:blip xmlns:r="http://schemas.openxmlformats.org/officeDocument/2006/relationships" xmlns:a="http://schemas.openxmlformats.org/drawingml/2006/main" r:embed="R3bafc87119cd457a"/>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5627431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7f53552bcf9f43f7"/>
          <a:stretch xmlns:a="http://schemas.openxmlformats.org/drawingml/2006/main"/>
        </p:blipFill>
        <p:spPr>
          <a:xfrm xmlns:a="http://schemas.openxmlformats.org/drawingml/2006/main">
            <a:off x="959438" y="1066800"/>
            <a:ext cx="4348574" cy="4095750"/>
          </a:xfrm>
          <a:prstGeom xmlns:a="http://schemas.openxmlformats.org/drawingml/2006/main" prst="rect">
            <a:avLst/>
          </a:prstGeom>
        </p:spPr>
      </p:pic>
      <p:sp>
        <p:nvSpPr>
          <p:cNvPr id="3" name="problem-heading">
            <a:extLst xmlns:a="http://schemas.openxmlformats.org/drawingml/2006/main">
              <a:ext uri="{FF2B5EF4-FFF2-40B4-BE49-F238E27FC236}">
                <a16:creationId xmlns:a16="http://schemas.microsoft.com/office/drawing/2014/main" id="{EFE92BA2-696D-45E9-9BCD-9546DA0CDD56}"/>
              </a:ext>
            </a:extLst>
          </p:cNvPr>
          <p:cNvSpPr>
            <a:spLocks xmlns:a="http://schemas.openxmlformats.org/drawingml/2006/main" noGrp="1"/>
          </p:cNvSpPr>
          <p:nvPr/>
        </p:nvSpPr>
        <p:spPr>
          <a:xfrm xmlns:a="http://schemas.openxmlformats.org/drawingml/2006/main">
            <a:off x="6191250" y="12001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500" b="1">
                <a:solidFill>
                  <a:srgbClr val="156082"/>
                </a:solidFill>
                <a:latin typeface="Helvetica Neue"/>
                <a:ea typeface="Helvetica Neue"/>
                <a:cs typeface="Helvetica Neue"/>
              </a:defRPr>
            </a:pPr>
            <a:r>
              <a:rPr sz="1500" b="1">
                <a:solidFill>
                  <a:srgbClr val="156082"/>
                </a:solidFill>
                <a:latin typeface="Helvetica Neue"/>
                <a:ea typeface="Helvetica Neue"/>
                <a:cs typeface="Helvetica Neue"/>
              </a:rPr>
              <a:t>Problem</a:t>
            </a:r>
          </a:p>
        </p:txBody>
      </p:sp>
      <p:sp>
        <p:nvSpPr>
          <p:cNvPr id="4" name="problem-body">
            <a:extLst xmlns:a="http://schemas.openxmlformats.org/drawingml/2006/main">
              <a:ext uri="{FF2B5EF4-FFF2-40B4-BE49-F238E27FC236}">
                <a16:creationId xmlns:a16="http://schemas.microsoft.com/office/drawing/2014/main" id="{E1A773F0-CA93-41CF-886F-0E047966C57B}"/>
              </a:ext>
            </a:extLst>
          </p:cNvPr>
          <p:cNvSpPr>
            <a:spLocks xmlns:a="http://schemas.openxmlformats.org/drawingml/2006/main" noGrp="1"/>
          </p:cNvSpPr>
          <p:nvPr/>
        </p:nvSpPr>
        <p:spPr>
          <a:xfrm xmlns:a="http://schemas.openxmlformats.org/drawingml/2006/main">
            <a:off x="6191250" y="1504950"/>
            <a:ext cx="495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a:solidFill>
                  <a:srgbClr val="25313B"/>
                </a:solidFill>
                <a:latin typeface="Helvetica Neue"/>
                <a:ea typeface="Helvetica Neue"/>
                <a:cs typeface="Helvetica Neue"/>
              </a:defRPr>
            </a:pPr>
            <a:r>
              <a:rPr sz="1350" b="0">
                <a:solidFill>
                  <a:srgbClr val="25313B"/>
                </a:solidFill>
                <a:latin typeface="Helvetica Neue"/>
                <a:ea typeface="Helvetica Neue"/>
                <a:cs typeface="Helvetica Neue"/>
              </a:rPr>
              <a:t>Entropy minimization is underconstrained. Several low-entropy solutions can produce different decision boundaries and test performance.</a:t>
            </a:r>
          </a:p>
        </p:txBody>
      </p:sp>
      <p:sp>
        <p:nvSpPr>
          <p:cNvPr id="5" name="standard-heading">
            <a:extLst xmlns:a="http://schemas.openxmlformats.org/drawingml/2006/main">
              <a:ext uri="{FF2B5EF4-FFF2-40B4-BE49-F238E27FC236}">
                <a16:creationId xmlns:a16="http://schemas.microsoft.com/office/drawing/2014/main" id="{8C041717-EE7A-4E66-A6FE-CCB06DD232D2}"/>
              </a:ext>
            </a:extLst>
          </p:cNvPr>
          <p:cNvSpPr>
            <a:spLocks xmlns:a="http://schemas.openxmlformats.org/drawingml/2006/main" noGrp="1"/>
          </p:cNvSpPr>
          <p:nvPr/>
        </p:nvSpPr>
        <p:spPr>
          <a:xfrm xmlns:a="http://schemas.openxmlformats.org/drawingml/2006/main">
            <a:off x="6191250" y="261937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500" b="1">
                <a:solidFill>
                  <a:srgbClr val="156082"/>
                </a:solidFill>
                <a:latin typeface="Helvetica Neue"/>
                <a:ea typeface="Helvetica Neue"/>
                <a:cs typeface="Helvetica Neue"/>
              </a:defRPr>
            </a:pPr>
            <a:r>
              <a:rPr sz="1500" b="1">
                <a:solidFill>
                  <a:srgbClr val="156082"/>
                </a:solidFill>
                <a:latin typeface="Helvetica Neue"/>
                <a:ea typeface="Helvetica Neue"/>
                <a:cs typeface="Helvetica Neue"/>
              </a:rPr>
              <a:t>Standard TTA</a:t>
            </a:r>
          </a:p>
        </p:txBody>
      </p:sp>
      <p:sp>
        <p:nvSpPr>
          <p:cNvPr id="6" name="standard-body">
            <a:extLst xmlns:a="http://schemas.openxmlformats.org/drawingml/2006/main">
              <a:ext uri="{FF2B5EF4-FFF2-40B4-BE49-F238E27FC236}">
                <a16:creationId xmlns:a16="http://schemas.microsoft.com/office/drawing/2014/main" id="{64845390-FC0B-4A9F-B546-E56D02186181}"/>
              </a:ext>
            </a:extLst>
          </p:cNvPr>
          <p:cNvSpPr>
            <a:spLocks xmlns:a="http://schemas.openxmlformats.org/drawingml/2006/main" noGrp="1"/>
          </p:cNvSpPr>
          <p:nvPr/>
        </p:nvSpPr>
        <p:spPr>
          <a:xfrm xmlns:a="http://schemas.openxmlformats.org/drawingml/2006/main">
            <a:off x="6191250" y="2924175"/>
            <a:ext cx="495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a:solidFill>
                  <a:srgbClr val="25313B"/>
                </a:solidFill>
                <a:latin typeface="Helvetica Neue"/>
                <a:ea typeface="Helvetica Neue"/>
                <a:cs typeface="Helvetica Neue"/>
              </a:defRPr>
            </a:pPr>
            <a:r>
              <a:rPr sz="1350" b="0">
                <a:solidFill>
                  <a:srgbClr val="25313B"/>
                </a:solidFill>
                <a:latin typeface="Helvetica Neue"/>
                <a:ea typeface="Helvetica Neue"/>
                <a:cs typeface="Helvetica Neue"/>
              </a:rPr>
              <a:t>A single adapted parameter set follows one trajectory and can converge to a spurious solution.</a:t>
            </a:r>
          </a:p>
        </p:txBody>
      </p:sp>
      <p:sp>
        <p:nvSpPr>
          <p:cNvPr id="7" name="proposal-heading">
            <a:extLst xmlns:a="http://schemas.openxmlformats.org/drawingml/2006/main">
              <a:ext uri="{FF2B5EF4-FFF2-40B4-BE49-F238E27FC236}">
                <a16:creationId xmlns:a16="http://schemas.microsoft.com/office/drawing/2014/main" id="{7847B432-34DD-4789-8B72-ABE1FEA4C7C4}"/>
              </a:ext>
            </a:extLst>
          </p:cNvPr>
          <p:cNvSpPr>
            <a:spLocks xmlns:a="http://schemas.openxmlformats.org/drawingml/2006/main" noGrp="1"/>
          </p:cNvSpPr>
          <p:nvPr/>
        </p:nvSpPr>
        <p:spPr>
          <a:xfrm xmlns:a="http://schemas.openxmlformats.org/drawingml/2006/main">
            <a:off x="6191250" y="38576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500" b="1">
                <a:solidFill>
                  <a:srgbClr val="156082"/>
                </a:solidFill>
                <a:latin typeface="Helvetica Neue"/>
                <a:ea typeface="Helvetica Neue"/>
                <a:cs typeface="Helvetica Neue"/>
              </a:defRPr>
            </a:pPr>
            <a:r>
              <a:rPr sz="1500" b="1">
                <a:solidFill>
                  <a:srgbClr val="156082"/>
                </a:solidFill>
                <a:latin typeface="Helvetica Neue"/>
                <a:ea typeface="Helvetica Neue"/>
                <a:cs typeface="Helvetica Neue"/>
              </a:rPr>
              <a:t>Proposed framework</a:t>
            </a:r>
          </a:p>
        </p:txBody>
      </p:sp>
      <p:sp>
        <p:nvSpPr>
          <p:cNvPr id="8" name="proposal-body">
            <a:extLst xmlns:a="http://schemas.openxmlformats.org/drawingml/2006/main">
              <a:ext uri="{FF2B5EF4-FFF2-40B4-BE49-F238E27FC236}">
                <a16:creationId xmlns:a16="http://schemas.microsoft.com/office/drawing/2014/main" id="{DD8F0155-565C-431A-A8E3-201E801C6396}"/>
              </a:ext>
            </a:extLst>
          </p:cNvPr>
          <p:cNvSpPr>
            <a:spLocks xmlns:a="http://schemas.openxmlformats.org/drawingml/2006/main" noGrp="1"/>
          </p:cNvSpPr>
          <p:nvPr/>
        </p:nvSpPr>
        <p:spPr>
          <a:xfrm xmlns:a="http://schemas.openxmlformats.org/drawingml/2006/main">
            <a:off x="6191250" y="4162425"/>
            <a:ext cx="495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a:solidFill>
                  <a:srgbClr val="25313B"/>
                </a:solidFill>
                <a:latin typeface="Helvetica Neue"/>
                <a:ea typeface="Helvetica Neue"/>
                <a:cs typeface="Helvetica Neue"/>
              </a:defRPr>
            </a:pPr>
            <a:r>
              <a:rPr sz="1350" b="0">
                <a:solidFill>
                  <a:srgbClr val="25313B"/>
                </a:solidFill>
                <a:latin typeface="Helvetica Neue"/>
                <a:ea typeface="Helvetica Neue"/>
                <a:cs typeface="Helvetica Neue"/>
              </a:rPr>
              <a:t>Maintain K adaptation particles, encourage them to explore different solutions, and average their predictions.</a:t>
            </a:r>
          </a:p>
        </p:txBody>
      </p:sp>
      <p:sp>
        <p:nvSpPr>
          <p:cNvPr id="9" name="finding-strip">
            <a:extLst xmlns:a="http://schemas.openxmlformats.org/drawingml/2006/main">
              <a:ext uri="{FF2B5EF4-FFF2-40B4-BE49-F238E27FC236}">
                <a16:creationId xmlns:a16="http://schemas.microsoft.com/office/drawing/2014/main" id="{904558D5-1FE4-4614-BA23-5650346EC949}"/>
              </a:ext>
            </a:extLst>
          </p:cNvPr>
          <p:cNvSpPr>
            <a:spLocks xmlns:a="http://schemas.openxmlformats.org/drawingml/2006/main" noGrp="1"/>
          </p:cNvSpPr>
          <p:nvPr/>
        </p:nvSpPr>
        <p:spPr>
          <a:xfrm xmlns:a="http://schemas.openxmlformats.org/drawingml/2006/main">
            <a:off x="590550" y="5619750"/>
            <a:ext cx="11010900" cy="552450"/>
          </a:xfrm>
          <a:prstGeom xmlns:a="http://schemas.openxmlformats.org/drawingml/2006/main" prst="rect">
            <a:avLst/>
          </a:prstGeom>
          <a:solidFill xmlns:a="http://schemas.openxmlformats.org/drawingml/2006/main">
            <a:srgbClr val="EAF4F7"/>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56082"/>
                </a:solidFill>
                <a:latin typeface="Helvetica Neue"/>
                <a:ea typeface="Helvetica Neue"/>
                <a:cs typeface="Helvetica Neue"/>
              </a:defRPr>
            </a:pPr>
            <a:r>
              <a:rPr sz="1200" b="1">
                <a:solidFill>
                  <a:srgbClr val="156082"/>
                </a:solidFill>
                <a:latin typeface="Helvetica Neue"/>
                <a:ea typeface="Helvetica Neue"/>
                <a:cs typeface="Helvetica Neue"/>
              </a:rPr>
              <a:t>A particle is one copy of the trainable normalization parameters, not a separately trained backbone.</a:t>
            </a:r>
          </a:p>
        </p:txBody>
      </p:sp>
      <p:sp>
        <p:nvSpPr>
          <p:cNvPr id="2" name="Title">
            <a:extLst xmlns:a="http://schemas.openxmlformats.org/drawingml/2006/main">
              <a:ext uri="{FF2B5EF4-FFF2-40B4-BE49-F238E27FC236}">
                <a16:creationId xmlns:a16="http://schemas.microsoft.com/office/drawing/2014/main" id="{86CC1F96-756E-C657-F9C9-9879469487E3}"/>
              </a:ext>
            </a:extLst>
          </p:cNvPr>
          <p:cNvSpPr>
            <a:spLocks xmlns:a="http://schemas.openxmlformats.org/drawingml/2006/main" noGrp="1"/>
          </p:cNvSpPr>
          <p:nvPr/>
        </p:nvSpPr>
        <p:spPr>
          <a:xfrm xmlns:a="http://schemas.openxmlformats.org/drawingml/2006/main">
            <a:off x="493776" y="274320"/>
            <a:ext cx="11201400" cy="502920"/>
          </a:xfrm>
          <a:prstGeom xmlns:a="http://schemas.openxmlformats.org/drawingml/2006/main" prst="rect">
            <a:avLst/>
          </a:prstGeom>
        </p:spPr>
        <p:txBody>
          <a:bodyPr xmlns:a="http://schemas.openxmlformats.org/drawingml/2006/main" wrap="square" anchor="t"/>
          <a:lstStyle xmlns:a="http://schemas.openxmlformats.org/drawingml/2006/main"/>
          <a:p xmlns:a="http://schemas.openxmlformats.org/drawingml/2006/main">
            <a:r>
              <a:rPr sz="2600" b="1">
                <a:solidFill>
                  <a:srgbClr val="156082"/>
                </a:solidFill>
                <a:latin typeface="Helvetica Neue"/>
                <a:ea typeface="Helvetica Neue"/>
                <a:cs typeface="Helvetica Neue"/>
              </a:rPr>
              <a:t>Multi-Hypothesis TTA: Motivation and Core Idea</a:t>
            </a:r>
            <a:endParaRPr sz="2600" b="1">
              <a:solidFill>
                <a:srgbClr val="156082"/>
              </a:solidFill>
              <a:latin typeface="Helvetica Neue"/>
              <a:ea typeface="Helvetica Neue"/>
              <a:cs typeface="Helvetica Neue"/>
            </a:endParaRPr>
          </a:p>
        </p:txBody>
      </p:sp>
    </p:spTree>
    <p:extLst>
      <p:ext uri="{BB962C8B-B14F-4D97-AF65-F5344CB8AC3E}">
        <p14:creationId xmlns:p14="http://schemas.microsoft.com/office/powerpoint/2010/main" val="139879154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4" name="Picture 9"/>
          <p:cNvPicPr>
            <a:picLocks xmlns:a="http://schemas.openxmlformats.org/drawingml/2006/main" noChangeAspect="1"/>
          </p:cNvPicPr>
          <p:nvPr/>
        </p:nvPicPr>
        <p:blipFill>
          <a:blip xmlns:r="http://schemas.openxmlformats.org/officeDocument/2006/relationships" xmlns:a="http://schemas.openxmlformats.org/drawingml/2006/main" r:embed="R5ff9b6e351d542d0"/>
          <a:stretch xmlns:a="http://schemas.openxmlformats.org/drawingml/2006/main">
            <a:fillRect l="0" t="0" r="0" b="0"/>
          </a:stretch>
        </p:blipFill>
        <p:spPr>
          <a:xfrm xmlns:a="http://schemas.openxmlformats.org/drawingml/2006/main">
            <a:off x="165358" y="997639"/>
            <a:ext cx="11861284" cy="4862722"/>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480E1B0C-A1DB-55AE-725F-12C9417CE7F0}"/>
              </a:ext>
            </a:extLst>
          </p:cNvPr>
          <p:cNvSpPr>
            <a:spLocks xmlns:a="http://schemas.openxmlformats.org/drawingml/2006/main" noGrp="1"/>
          </p:cNvSpPr>
          <p:nvPr/>
        </p:nvSpPr>
        <p:spPr>
          <a:xfrm xmlns:a="http://schemas.openxmlformats.org/drawingml/2006/main">
            <a:off x="2870791" y="2998381"/>
            <a:ext cx="3774558" cy="2541182"/>
          </a:xfrm>
          <a:prstGeom xmlns:a="http://schemas.openxmlformats.org/drawingml/2006/main" prst="rect">
            <a:avLst/>
          </a:prstGeom>
          <a:noFill xmlns:a="http://schemas.openxmlformats.org/drawingml/2006/main"/>
          <a:ln xmlns:a="http://schemas.openxmlformats.org/drawingml/2006/main" w="57150">
            <a:solidFill>
              <a:srgbClr val="C00000"/>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Tree>
    <p:extLst>
      <p:ext uri="{BB962C8B-B14F-4D97-AF65-F5344CB8AC3E}">
        <p14:creationId xmlns:p14="http://schemas.microsoft.com/office/powerpoint/2010/main" val="79989589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5" name="Picture 10"/>
          <p:cNvPicPr>
            <a:picLocks xmlns:a="http://schemas.openxmlformats.org/drawingml/2006/main" noChangeAspect="1"/>
          </p:cNvPicPr>
          <p:nvPr/>
        </p:nvPicPr>
        <p:blipFill>
          <a:blip xmlns:r="http://schemas.openxmlformats.org/officeDocument/2006/relationships" xmlns:a="http://schemas.openxmlformats.org/drawingml/2006/main" r:embed="Rf2f4bef8667a4ed2"/>
          <a:stretch xmlns:a="http://schemas.openxmlformats.org/drawingml/2006/main"/>
        </p:blipFill>
        <p:spPr>
          <a:xfrm xmlns:a="http://schemas.openxmlformats.org/drawingml/2006/main">
            <a:off x="493776" y="685299"/>
            <a:ext cx="6699031" cy="2781801"/>
          </a:xfrm>
          <a:prstGeom xmlns:a="http://schemas.openxmlformats.org/drawingml/2006/main" prst="rect">
            <a:avLst/>
          </a:prstGeom>
        </p:spPr>
      </p:pic>
      <p:sp>
        <p:nvSpPr>
          <p:cNvPr id="3" name="initialization-equation">
            <a:extLst xmlns:a="http://schemas.openxmlformats.org/drawingml/2006/main">
              <a:ext uri="{FF2B5EF4-FFF2-40B4-BE49-F238E27FC236}">
                <a16:creationId xmlns:a16="http://schemas.microsoft.com/office/drawing/2014/main" id="{82A60E3C-DFFB-488A-87C7-F5D9F9BCF94E}"/>
              </a:ext>
            </a:extLst>
          </p:cNvPr>
          <p:cNvSpPr>
            <a:spLocks xmlns:a="http://schemas.openxmlformats.org/drawingml/2006/main" noGrp="1"/>
          </p:cNvSpPr>
          <p:nvPr/>
        </p:nvSpPr>
        <p:spPr>
          <a:xfrm xmlns:a="http://schemas.openxmlformats.org/drawingml/2006/main">
            <a:off x="6572250" y="12382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E2841"/>
                </a:solidFill>
                <a:latin typeface="Helvetica Neue"/>
                <a:ea typeface="Helvetica Neue"/>
                <a:cs typeface="Helvetica Neue"/>
              </a:defRPr>
            </a:pPr>
            <a:r>
              <a:rPr sz="1725" b="1">
                <a:solidFill>
                  <a:srgbClr val="0E2841"/>
                </a:solidFill>
                <a:latin typeface="Helvetica Neue"/>
                <a:ea typeface="Helvetica Neue"/>
                <a:cs typeface="Helvetica Neue"/>
              </a:rPr>
              <a:t>Initialization:  θ₁⁽⁰⁾ = θ₂⁽⁰⁾ = θ₃⁽⁰⁾ = θ⁰</a:t>
            </a:r>
          </a:p>
        </p:txBody>
      </p:sp>
      <p:sp>
        <p:nvSpPr>
          <p:cNvPr id="4" name="objective-equation">
            <a:extLst xmlns:a="http://schemas.openxmlformats.org/drawingml/2006/main">
              <a:ext uri="{FF2B5EF4-FFF2-40B4-BE49-F238E27FC236}">
                <a16:creationId xmlns:a16="http://schemas.microsoft.com/office/drawing/2014/main" id="{1E77D4DE-4179-4922-8DB5-1D94DF712F56}"/>
              </a:ext>
            </a:extLst>
          </p:cNvPr>
          <p:cNvSpPr>
            <a:spLocks xmlns:a="http://schemas.openxmlformats.org/drawingml/2006/main" noGrp="1"/>
          </p:cNvSpPr>
          <p:nvPr/>
        </p:nvSpPr>
        <p:spPr>
          <a:xfrm xmlns:a="http://schemas.openxmlformats.org/drawingml/2006/main">
            <a:off x="6572250" y="195262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156082"/>
                </a:solidFill>
                <a:latin typeface="Helvetica Neue"/>
                <a:ea typeface="Helvetica Neue"/>
                <a:cs typeface="Helvetica Neue"/>
              </a:defRPr>
            </a:pPr>
            <a:r>
              <a:rPr sz="1725" b="1">
                <a:solidFill>
                  <a:srgbClr val="156082"/>
                </a:solidFill>
                <a:latin typeface="Helvetica Neue"/>
                <a:ea typeface="Helvetica Neue"/>
                <a:cs typeface="Helvetica Neue"/>
              </a:rPr>
              <a:t>L(X) = ⅓ Σᵢ ℓ(X; θᵢ) + λ Ω(Θ)</a:t>
            </a:r>
          </a:p>
        </p:txBody>
      </p:sp>
      <p:sp>
        <p:nvSpPr>
          <p:cNvPr id="5" name="mechanics-summary">
            <a:extLst xmlns:a="http://schemas.openxmlformats.org/drawingml/2006/main">
              <a:ext uri="{FF2B5EF4-FFF2-40B4-BE49-F238E27FC236}">
                <a16:creationId xmlns:a16="http://schemas.microsoft.com/office/drawing/2014/main" id="{05FB6A74-7C13-418C-8B2C-18FBCD7A9C8F}"/>
              </a:ext>
            </a:extLst>
          </p:cNvPr>
          <p:cNvSpPr>
            <a:spLocks xmlns:a="http://schemas.openxmlformats.org/drawingml/2006/main" noGrp="1"/>
          </p:cNvSpPr>
          <p:nvPr/>
        </p:nvSpPr>
        <p:spPr>
          <a:xfrm xmlns:a="http://schemas.openxmlformats.org/drawingml/2006/main">
            <a:off x="6667500" y="2686050"/>
            <a:ext cx="457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b="0">
                <a:solidFill>
                  <a:srgbClr val="25313B"/>
                </a:solidFill>
                <a:latin typeface="Helvetica Neue"/>
                <a:ea typeface="Helvetica Neue"/>
                <a:cs typeface="Helvetica Neue"/>
              </a:defRPr>
            </a:pPr>
            <a:r>
              <a:rPr sz="1350" b="0">
                <a:solidFill>
                  <a:srgbClr val="25313B"/>
                </a:solidFill>
                <a:latin typeface="Helvetica Neue"/>
                <a:ea typeface="Helvetica Neue"/>
                <a:cs typeface="Helvetica Neue"/>
              </a:rPr>
              <a:t>Only normalization parameters are copied and updated. The remaining layers stay frozen and shared.</a:t>
            </a:r>
          </a:p>
        </p:txBody>
      </p:sp>
      <p:graphicFrame>
        <p:nvGraphicFramePr>
          <p:cNvPr id="19" name="particle-process-table"/>
          <p:cNvGraphicFramePr/>
          <p:nvPr/>
        </p:nvGraphicFramePr>
        <p:xfrm>
          <a:off xmlns:a="http://schemas.openxmlformats.org/drawingml/2006/main" x="590550" y="3857625"/>
          <a:ext xmlns:a="http://schemas.openxmlformats.org/drawingml/2006/main" cx="11010900" cy="1504952"/>
        </p:xfrm>
        <a:graphic xmlns:a="http://schemas.openxmlformats.org/drawingml/2006/main">
          <a:graphicData uri="http://schemas.openxmlformats.org/drawingml/2006/table">
            <a:tbl>
              <a:tblPr/>
              <a:tblGrid>
                <a:gridCol w="2381250"/>
                <a:gridCol w="8629650"/>
              </a:tblGrid>
              <a:tr h="376238">
                <a:tc>
                  <a:txBody>
                    <a:bodyPr/>
                    <a:lstStyle/>
                    <a:p>
                      <a:pPr marL="0" algn="l" defTabSz="914422">
                        <a:buNone/>
                      </a:pPr>
                      <a:r>
                        <a:rPr sz="1275" b="1">
                          <a:solidFill>
                            <a:srgbClr val="FFFFFF"/>
                          </a:solidFill>
                          <a:latin typeface="+mn-lt"/>
                          <a:ea typeface="+mn-lt"/>
                          <a:cs typeface="+mn-lt"/>
                        </a:rPr>
                        <a:t>Stage</a:t>
                      </a:r>
                    </a:p>
                  </a:txBody>
                  <a:tcPr marL="91440" marR="91440" marT="45720" marB="45720"/>
                </a:tc>
                <a:tc>
                  <a:txBody>
                    <a:bodyPr/>
                    <a:lstStyle/>
                    <a:p>
                      <a:pPr marL="0" algn="l" defTabSz="914422">
                        <a:buNone/>
                      </a:pPr>
                      <a:r>
                        <a:rPr sz="1275" b="1">
                          <a:solidFill>
                            <a:srgbClr val="FFFFFF"/>
                          </a:solidFill>
                          <a:latin typeface="+mn-lt"/>
                          <a:ea typeface="+mn-lt"/>
                          <a:cs typeface="+mn-lt"/>
                        </a:rPr>
                        <a:t>What happens within one TTA run</a:t>
                      </a:r>
                    </a:p>
                  </a:txBody>
                  <a:tcPr marL="91440" marR="91440" marT="45720" marB="45720"/>
                </a:tc>
              </a:tr>
              <a:tr h="376238">
                <a:tc>
                  <a:txBody>
                    <a:bodyPr/>
                    <a:lstStyle/>
                    <a:p>
                      <a:r>
                        <a:rPr sz="1013" b="1">
                          <a:solidFill>
                            <a:srgbClr val="FFFFFF"/>
                          </a:solidFill>
                          <a:latin typeface="Helvetica Neue"/>
                          <a:ea typeface="Helvetica Neue"/>
                          <a:cs typeface="Helvetica Neue"/>
                        </a:rPr>
                        <a:t>Target batch</a:t>
                      </a:r>
                    </a:p>
                  </a:txBody>
                  <a:tcPr marL="91440" marR="91440" marT="45720" marB="45720">
                    <a:solidFill>
                      <a:srgbClr val="0E2841"/>
                    </a:solidFill>
                  </a:tcPr>
                </a:tc>
                <a:tc>
                  <a:txBody>
                    <a:bodyPr/>
                    <a:lstStyle/>
                    <a:p>
                      <a:r>
                        <a:t>The same batch is evaluated by all three particles.</a:t>
                      </a:r>
                    </a:p>
                  </a:txBody>
                  <a:tcPr marL="91440" marR="91440" marT="45720" marB="45720"/>
                </a:tc>
              </a:tr>
              <a:tr h="376238">
                <a:tc>
                  <a:txBody>
                    <a:bodyPr/>
                    <a:lstStyle/>
                    <a:p>
                      <a:r>
                        <a:rPr sz="1013" b="1">
                          <a:solidFill>
                            <a:srgbClr val="FFFFFF"/>
                          </a:solidFill>
                          <a:latin typeface="Helvetica Neue"/>
                          <a:ea typeface="Helvetica Neue"/>
                          <a:cs typeface="Helvetica Neue"/>
                        </a:rPr>
                        <a:t>Joint adaptation</a:t>
                      </a:r>
                    </a:p>
                  </a:txBody>
                  <a:tcPr marL="91440" marR="91440" marT="45720" marB="45720">
                    <a:solidFill>
                      <a:srgbClr val="0E2841"/>
                    </a:solidFill>
                  </a:tcPr>
                </a:tc>
                <a:tc>
                  <a:txBody>
                    <a:bodyPr/>
                    <a:lstStyle/>
                    <a:p>
                      <a:r>
                        <a:t>The diversity term compares or couples the particles during the update.</a:t>
                      </a:r>
                    </a:p>
                  </a:txBody>
                  <a:tcPr marL="91440" marR="91440" marT="45720" marB="45720"/>
                </a:tc>
              </a:tr>
              <a:tr h="376238">
                <a:tc>
                  <a:txBody>
                    <a:bodyPr/>
                    <a:lstStyle/>
                    <a:p>
                      <a:r>
                        <a:rPr sz="1013" b="1">
                          <a:solidFill>
                            <a:srgbClr val="FFFFFF"/>
                          </a:solidFill>
                          <a:latin typeface="Helvetica Neue"/>
                          <a:ea typeface="Helvetica Neue"/>
                          <a:cs typeface="Helvetica Neue"/>
                        </a:rPr>
                        <a:t>Prediction</a:t>
                      </a:r>
                    </a:p>
                  </a:txBody>
                  <a:tcPr marL="91440" marR="91440" marT="45720" marB="45720">
                    <a:solidFill>
                      <a:srgbClr val="0E2841"/>
                    </a:solidFill>
                  </a:tcPr>
                </a:tc>
                <a:tc>
                  <a:txBody>
                    <a:bodyPr/>
                    <a:lstStyle/>
                    <a:p>
                      <a:r>
                        <a:t>The method aggregates the three predictive distributions.</a:t>
                      </a:r>
                    </a:p>
                  </a:txBody>
                  <a:tcPr marL="91440" marR="91440" marT="45720" marB="45720"/>
                </a:tc>
              </a:tr>
            </a:tbl>
          </a:graphicData>
        </a:graphic>
      </p:graphicFrame>
      <p:sp>
        <p:nvSpPr>
          <p:cNvPr id="9" name="finding-strip">
            <a:extLst xmlns:a="http://schemas.openxmlformats.org/drawingml/2006/main">
              <a:ext uri="{FF2B5EF4-FFF2-40B4-BE49-F238E27FC236}">
                <a16:creationId xmlns:a16="http://schemas.microsoft.com/office/drawing/2014/main" id="{4809ED72-3669-4BFA-A136-66998DCCCFAD}"/>
              </a:ext>
            </a:extLst>
          </p:cNvPr>
          <p:cNvSpPr>
            <a:spLocks xmlns:a="http://schemas.openxmlformats.org/drawingml/2006/main" noGrp="1"/>
          </p:cNvSpPr>
          <p:nvPr/>
        </p:nvSpPr>
        <p:spPr>
          <a:xfrm xmlns:a="http://schemas.openxmlformats.org/drawingml/2006/main">
            <a:off x="590550" y="5619750"/>
            <a:ext cx="11010900" cy="552450"/>
          </a:xfrm>
          <a:prstGeom xmlns:a="http://schemas.openxmlformats.org/drawingml/2006/main" prst="rect">
            <a:avLst/>
          </a:prstGeom>
          <a:solidFill xmlns:a="http://schemas.openxmlformats.org/drawingml/2006/main">
            <a:srgbClr val="EAF4F7"/>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56082"/>
                </a:solidFill>
                <a:latin typeface="Helvetica Neue"/>
                <a:ea typeface="Helvetica Neue"/>
                <a:cs typeface="Helvetica Neue"/>
              </a:defRPr>
            </a:pPr>
            <a:r>
              <a:rPr sz="1200" b="1">
                <a:solidFill>
                  <a:srgbClr val="156082"/>
                </a:solidFill>
                <a:latin typeface="Helvetica Neue"/>
                <a:ea typeface="Helvetica Neue"/>
                <a:cs typeface="Helvetica Neue"/>
              </a:rPr>
              <a:t>They coexist in one run. Computation may be sequential on the GPU, but all particles persist over the same target stream.</a:t>
            </a:r>
          </a:p>
        </p:txBody>
      </p:sp>
      <p:sp>
        <p:nvSpPr>
          <p:cNvPr id="12" name="Title">
            <a:extLst xmlns:a="http://schemas.openxmlformats.org/drawingml/2006/main">
              <a:ext uri="{FF2B5EF4-FFF2-40B4-BE49-F238E27FC236}">
                <a16:creationId xmlns:a16="http://schemas.microsoft.com/office/drawing/2014/main" id="{F8E37C46-86CF-24FD-DC64-72B6F18E716D}"/>
              </a:ext>
            </a:extLst>
          </p:cNvPr>
          <p:cNvSpPr>
            <a:spLocks xmlns:a="http://schemas.openxmlformats.org/drawingml/2006/main" noGrp="1"/>
          </p:cNvSpPr>
          <p:nvPr/>
        </p:nvSpPr>
        <p:spPr>
          <a:xfrm xmlns:a="http://schemas.openxmlformats.org/drawingml/2006/main">
            <a:off x="493776" y="274320"/>
            <a:ext cx="11201400" cy="502920"/>
          </a:xfrm>
          <a:prstGeom xmlns:a="http://schemas.openxmlformats.org/drawingml/2006/main" prst="rect">
            <a:avLst/>
          </a:prstGeom>
        </p:spPr>
        <p:txBody>
          <a:bodyPr xmlns:a="http://schemas.openxmlformats.org/drawingml/2006/main" wrap="square" anchor="t"/>
          <a:lstStyle xmlns:a="http://schemas.openxmlformats.org/drawingml/2006/main"/>
          <a:p xmlns:a="http://schemas.openxmlformats.org/drawingml/2006/main">
            <a:r>
              <a:rPr sz="2600" b="1">
                <a:solidFill>
                  <a:srgbClr val="156082"/>
                </a:solidFill>
                <a:latin typeface="Helvetica Neue"/>
                <a:ea typeface="Helvetica Neue"/>
                <a:cs typeface="Helvetica Neue"/>
              </a:rPr>
              <a:t>Three Particles Adapt Concurrently</a:t>
            </a:r>
            <a:endParaRPr sz="2600" b="1">
              <a:solidFill>
                <a:srgbClr val="156082"/>
              </a:solidFill>
              <a:latin typeface="Helvetica Neue"/>
              <a:ea typeface="Helvetica Neue"/>
              <a:cs typeface="Helvetica Neue"/>
            </a:endParaRPr>
          </a:p>
        </p:txBody>
      </p:sp>
    </p:spTree>
    <p:extLst>
      <p:ext uri="{BB962C8B-B14F-4D97-AF65-F5344CB8AC3E}">
        <p14:creationId xmlns:p14="http://schemas.microsoft.com/office/powerpoint/2010/main" val="92485517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graphicFrame>
        <p:nvGraphicFramePr>
          <p:cNvPr id="8" name="variant-comparison-table"/>
          <p:cNvGraphicFramePr/>
          <p:nvPr/>
        </p:nvGraphicFramePr>
        <p:xfrm>
          <a:off xmlns:a="http://schemas.openxmlformats.org/drawingml/2006/main" x="400050" y="1200150"/>
          <a:ext xmlns:a="http://schemas.openxmlformats.org/drawingml/2006/main" cx="11391900" cy="4095750"/>
        </p:xfrm>
        <a:graphic xmlns:a="http://schemas.openxmlformats.org/drawingml/2006/main">
          <a:graphicData uri="http://schemas.openxmlformats.org/drawingml/2006/table">
            <a:tbl>
              <a:tblPr/>
              <a:tblGrid>
                <a:gridCol w="2095500"/>
                <a:gridCol w="5143500"/>
                <a:gridCol w="4152900"/>
              </a:tblGrid>
              <a:tr h="682625">
                <a:tc>
                  <a:txBody>
                    <a:bodyPr/>
                    <a:lstStyle/>
                    <a:p>
                      <a:pPr marL="0" algn="ctr" defTabSz="914422">
                        <a:buNone/>
                      </a:pPr>
                      <a:r>
                        <a:rPr sz="1400" b="1">
                          <a:solidFill>
                            <a:srgbClr val="FFFFFF"/>
                          </a:solidFill>
                          <a:latin typeface="+mn-lt"/>
                          <a:ea typeface="+mn-lt"/>
                          <a:cs typeface="+mn-lt"/>
                        </a:rPr>
                        <a:t>Configuration</a:t>
                      </a:r>
                    </a:p>
                  </a:txBody>
                  <a:tcPr marL="91440" marR="91440" marT="45720" marB="45720" anchor="ctr">
                    <a:solidFill>
                      <a:srgbClr val="156082"/>
                    </a:solidFill>
                  </a:tcPr>
                </a:tc>
                <a:tc>
                  <a:txBody>
                    <a:bodyPr/>
                    <a:lstStyle/>
                    <a:p>
                      <a:pPr marL="0" algn="ctr" defTabSz="914422">
                        <a:buNone/>
                      </a:pPr>
                      <a:r>
                        <a:rPr sz="1400" b="1">
                          <a:solidFill>
                            <a:srgbClr val="FFFFFF"/>
                          </a:solidFill>
                          <a:latin typeface="+mn-lt"/>
                          <a:ea typeface="+mn-lt"/>
                          <a:cs typeface="+mn-lt"/>
                        </a:rPr>
                        <a:t>Mechanism within a K = 3 run</a:t>
                      </a:r>
                    </a:p>
                  </a:txBody>
                  <a:tcPr marL="91440" marR="91440" marT="45720" marB="45720" anchor="ctr">
                    <a:solidFill>
                      <a:srgbClr val="156082"/>
                    </a:solidFill>
                  </a:tcPr>
                </a:tc>
                <a:tc>
                  <a:txBody>
                    <a:bodyPr/>
                    <a:lstStyle/>
                    <a:p>
                      <a:pPr marL="0" algn="ctr" defTabSz="914422">
                        <a:buNone/>
                      </a:pPr>
                      <a:r>
                        <a:rPr sz="1400" b="1">
                          <a:solidFill>
                            <a:srgbClr val="FFFFFF"/>
                          </a:solidFill>
                          <a:latin typeface="+mn-lt"/>
                          <a:ea typeface="+mn-lt"/>
                          <a:cs typeface="+mn-lt"/>
                        </a:rPr>
                        <a:t>How to interpret it</a:t>
                      </a:r>
                    </a:p>
                  </a:txBody>
                  <a:tcPr marL="91440" marR="91440" marT="45720" marB="45720" anchor="ctr">
                    <a:solidFill>
                      <a:srgbClr val="156082"/>
                    </a:solidFill>
                  </a:tcPr>
                </a:tc>
              </a:tr>
              <a:tr h="682625">
                <a:tc>
                  <a:txBody>
                    <a:bodyPr/>
                    <a:lstStyle/>
                    <a:p>
                      <a:r>
                        <a:rPr sz="1013" b="1">
                          <a:solidFill>
                            <a:srgbClr val="FFFFFF"/>
                          </a:solidFill>
                          <a:latin typeface="Helvetica Neue"/>
                          <a:ea typeface="Helvetica Neue"/>
                          <a:cs typeface="Helvetica Neue"/>
                        </a:rPr>
                        <a:t>Naive</a:t>
                      </a:r>
                    </a:p>
                  </a:txBody>
                  <a:tcPr marL="91440" marR="91440" marT="45720" marB="45720">
                    <a:solidFill>
                      <a:srgbClr val="0E2841"/>
                    </a:solidFill>
                  </a:tcPr>
                </a:tc>
                <a:tc>
                  <a:txBody>
                    <a:bodyPr/>
                    <a:lstStyle/>
                    <a:p>
                      <a:r>
                        <a:t>Three particles without explicit repulsion</a:t>
                      </a:r>
                    </a:p>
                  </a:txBody>
                  <a:tcPr marL="91440" marR="91440" marT="45720" marB="45720"/>
                </a:tc>
                <a:tc>
                  <a:txBody>
                    <a:bodyPr/>
                    <a:lstStyle/>
                    <a:p>
                      <a:r>
                        <a:t>Ensemble baseline</a:t>
                      </a:r>
                    </a:p>
                  </a:txBody>
                  <a:tcPr marL="91440" marR="91440" marT="45720" marB="45720"/>
                </a:tc>
              </a:tr>
              <a:tr h="682625">
                <a:tc>
                  <a:txBody>
                    <a:bodyPr/>
                    <a:lstStyle/>
                    <a:p>
                      <a:r>
                        <a:rPr sz="1013" b="1">
                          <a:solidFill>
                            <a:srgbClr val="FFFFFF"/>
                          </a:solidFill>
                          <a:latin typeface="Helvetica Neue"/>
                          <a:ea typeface="Helvetica Neue"/>
                          <a:cs typeface="Helvetica Neue"/>
                        </a:rPr>
                        <a:t>KL</a:t>
                      </a:r>
                    </a:p>
                  </a:txBody>
                  <a:tcPr marL="91440" marR="91440" marT="45720" marB="45720">
                    <a:solidFill>
                      <a:srgbClr val="0E2841"/>
                    </a:solidFill>
                  </a:tcPr>
                </a:tc>
                <a:tc>
                  <a:txBody>
                    <a:bodyPr/>
                    <a:lstStyle/>
                    <a:p>
                      <a:r>
                        <a:t>Encourages disagreement between predictions</a:t>
                      </a:r>
                    </a:p>
                  </a:txBody>
                  <a:tcPr marL="91440" marR="91440" marT="45720" marB="45720"/>
                </a:tc>
                <a:tc>
                  <a:txBody>
                    <a:bodyPr/>
                    <a:lstStyle/>
                    <a:p>
                      <a:r>
                        <a:t>Separate run</a:t>
                      </a:r>
                    </a:p>
                  </a:txBody>
                  <a:tcPr marL="91440" marR="91440" marT="45720" marB="45720"/>
                </a:tc>
              </a:tr>
              <a:tr h="682625">
                <a:tc>
                  <a:txBody>
                    <a:bodyPr/>
                    <a:lstStyle/>
                    <a:p>
                      <a:r>
                        <a:rPr sz="1013" b="1">
                          <a:solidFill>
                            <a:srgbClr val="FFFFFF"/>
                          </a:solidFill>
                          <a:latin typeface="Helvetica Neue"/>
                          <a:ea typeface="Helvetica Neue"/>
                          <a:cs typeface="Helvetica Neue"/>
                        </a:rPr>
                        <a:t>SVGD</a:t>
                      </a:r>
                    </a:p>
                  </a:txBody>
                  <a:tcPr marL="91440" marR="91440" marT="45720" marB="45720">
                    <a:solidFill>
                      <a:srgbClr val="0E2841"/>
                    </a:solidFill>
                  </a:tcPr>
                </a:tc>
                <a:tc>
                  <a:txBody>
                    <a:bodyPr/>
                    <a:lstStyle/>
                    <a:p>
                      <a:r>
                        <a:t>Combines low-entropy attraction with particle repulsion</a:t>
                      </a:r>
                    </a:p>
                  </a:txBody>
                  <a:tcPr marL="91440" marR="91440" marT="45720" marB="45720"/>
                </a:tc>
                <a:tc>
                  <a:txBody>
                    <a:bodyPr/>
                    <a:lstStyle/>
                    <a:p>
                      <a:r>
                        <a:t>Separate run</a:t>
                      </a:r>
                    </a:p>
                  </a:txBody>
                  <a:tcPr marL="91440" marR="91440" marT="45720" marB="45720"/>
                </a:tc>
              </a:tr>
              <a:tr h="682625">
                <a:tc>
                  <a:txBody>
                    <a:bodyPr/>
                    <a:lstStyle/>
                    <a:p>
                      <a:r>
                        <a:rPr sz="1013" b="1">
                          <a:solidFill>
                            <a:srgbClr val="FFFFFF"/>
                          </a:solidFill>
                          <a:latin typeface="Helvetica Neue"/>
                          <a:ea typeface="Helvetica Neue"/>
                          <a:cs typeface="Helvetica Neue"/>
                        </a:rPr>
                        <a:t>Grad</a:t>
                      </a:r>
                    </a:p>
                  </a:txBody>
                  <a:tcPr marL="91440" marR="91440" marT="45720" marB="45720">
                    <a:solidFill>
                      <a:srgbClr val="0E2841"/>
                    </a:solidFill>
                  </a:tcPr>
                </a:tc>
                <a:tc>
                  <a:txBody>
                    <a:bodyPr/>
                    <a:lstStyle/>
                    <a:p>
                      <a:r>
                        <a:t>Uses input-gradient alignment as the diversity signal</a:t>
                      </a:r>
                    </a:p>
                  </a:txBody>
                  <a:tcPr marL="91440" marR="91440" marT="45720" marB="45720"/>
                </a:tc>
                <a:tc>
                  <a:txBody>
                    <a:bodyPr/>
                    <a:lstStyle/>
                    <a:p>
                      <a:r>
                        <a:t>Separate run</a:t>
                      </a:r>
                    </a:p>
                  </a:txBody>
                  <a:tcPr marL="91440" marR="91440" marT="45720" marB="45720"/>
                </a:tc>
              </a:tr>
              <a:tr h="682625">
                <a:tc>
                  <a:txBody>
                    <a:bodyPr/>
                    <a:lstStyle/>
                    <a:p>
                      <a:r>
                        <a:rPr sz="1013" b="1">
                          <a:solidFill>
                            <a:srgbClr val="FFFFFF"/>
                          </a:solidFill>
                          <a:latin typeface="Helvetica Neue"/>
                          <a:ea typeface="Helvetica Neue"/>
                          <a:cs typeface="Helvetica Neue"/>
                        </a:rPr>
                        <a:t>Optimizer / Aug</a:t>
                      </a:r>
                    </a:p>
                  </a:txBody>
                  <a:tcPr marL="91440" marR="91440" marT="45720" marB="45720">
                    <a:solidFill>
                      <a:srgbClr val="0E2841"/>
                    </a:solidFill>
                  </a:tcPr>
                </a:tc>
                <a:tc>
                  <a:txBody>
                    <a:bodyPr/>
                    <a:lstStyle/>
                    <a:p>
                      <a:r>
                        <a:t>Different optimizers or transformed input views</a:t>
                      </a:r>
                    </a:p>
                  </a:txBody>
                  <a:tcPr marL="91440" marR="91440" marT="45720" marB="45720"/>
                </a:tc>
                <a:tc>
                  <a:txBody>
                    <a:bodyPr/>
                    <a:lstStyle/>
                    <a:p>
                      <a:r>
                        <a:t>Can be combined with KL, SVGD, or Grad</a:t>
                      </a:r>
                    </a:p>
                  </a:txBody>
                  <a:tcPr marL="91440" marR="91440" marT="45720" marB="45720"/>
                </a:tc>
              </a:tr>
            </a:tbl>
          </a:graphicData>
        </a:graphic>
      </p:graphicFrame>
      <p:sp>
        <p:nvSpPr>
          <p:cNvPr id="6" name="finding-strip">
            <a:extLst xmlns:a="http://schemas.openxmlformats.org/drawingml/2006/main">
              <a:ext uri="{FF2B5EF4-FFF2-40B4-BE49-F238E27FC236}">
                <a16:creationId xmlns:a16="http://schemas.microsoft.com/office/drawing/2014/main" id="{C85944D8-54BB-425F-9C0A-13644629E9D2}"/>
              </a:ext>
            </a:extLst>
          </p:cNvPr>
          <p:cNvSpPr>
            <a:spLocks xmlns:a="http://schemas.openxmlformats.org/drawingml/2006/main" noGrp="1"/>
          </p:cNvSpPr>
          <p:nvPr/>
        </p:nvSpPr>
        <p:spPr>
          <a:xfrm xmlns:a="http://schemas.openxmlformats.org/drawingml/2006/main">
            <a:off x="590550" y="5619750"/>
            <a:ext cx="11010900" cy="552450"/>
          </a:xfrm>
          <a:prstGeom xmlns:a="http://schemas.openxmlformats.org/drawingml/2006/main" prst="rect">
            <a:avLst/>
          </a:prstGeom>
          <a:solidFill xmlns:a="http://schemas.openxmlformats.org/drawingml/2006/main">
            <a:srgbClr val="EAF4F7"/>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56082"/>
                </a:solidFill>
                <a:latin typeface="Helvetica Neue"/>
                <a:ea typeface="Helvetica Neue"/>
                <a:cs typeface="Helvetica Neue"/>
              </a:defRPr>
            </a:pPr>
            <a:r>
              <a:rPr sz="1200" b="1">
                <a:solidFill>
                  <a:srgbClr val="156082"/>
                </a:solidFill>
                <a:latin typeface="Helvetica Neue"/>
                <a:ea typeface="Helvetica Neue"/>
                <a:cs typeface="Helvetica Neue"/>
              </a:rPr>
              <a:t>KL, SVGD, and Grad are not assigned to particles 1, 2, and 3. Each row is a separate run containing three particles.</a:t>
            </a:r>
          </a:p>
        </p:txBody>
      </p:sp>
      <p:sp>
        <p:nvSpPr>
          <p:cNvPr id="2" name="Title">
            <a:extLst xmlns:a="http://schemas.openxmlformats.org/drawingml/2006/main">
              <a:ext uri="{FF2B5EF4-FFF2-40B4-BE49-F238E27FC236}">
                <a16:creationId xmlns:a16="http://schemas.microsoft.com/office/drawing/2014/main" id="{98A138A8-8C74-17AE-1A63-436F3D8FF8FE}"/>
              </a:ext>
            </a:extLst>
          </p:cNvPr>
          <p:cNvSpPr>
            <a:spLocks xmlns:a="http://schemas.openxmlformats.org/drawingml/2006/main" noGrp="1"/>
          </p:cNvSpPr>
          <p:nvPr/>
        </p:nvSpPr>
        <p:spPr>
          <a:xfrm xmlns:a="http://schemas.openxmlformats.org/drawingml/2006/main">
            <a:off x="493776" y="274320"/>
            <a:ext cx="11201400" cy="502920"/>
          </a:xfrm>
          <a:prstGeom xmlns:a="http://schemas.openxmlformats.org/drawingml/2006/main" prst="rect">
            <a:avLst/>
          </a:prstGeom>
        </p:spPr>
        <p:txBody>
          <a:bodyPr xmlns:a="http://schemas.openxmlformats.org/drawingml/2006/main" wrap="square" anchor="t"/>
          <a:lstStyle xmlns:a="http://schemas.openxmlformats.org/drawingml/2006/main"/>
          <a:p xmlns:a="http://schemas.openxmlformats.org/drawingml/2006/main">
            <a:r>
              <a:rPr sz="2600" b="1">
                <a:solidFill>
                  <a:srgbClr val="156082"/>
                </a:solidFill>
                <a:latin typeface="Helvetica Neue"/>
                <a:ea typeface="Helvetica Neue"/>
                <a:cs typeface="Helvetica Neue"/>
              </a:rPr>
              <a:t>Diversification Variants Are Separate Experiments</a:t>
            </a:r>
            <a:endParaRPr sz="2600" b="1">
              <a:solidFill>
                <a:srgbClr val="156082"/>
              </a:solidFill>
              <a:latin typeface="Helvetica Neue"/>
              <a:ea typeface="Helvetica Neue"/>
              <a:cs typeface="Helvetica Neue"/>
            </a:endParaRPr>
          </a:p>
        </p:txBody>
      </p:sp>
    </p:spTree>
    <p:extLst>
      <p:ext uri="{BB962C8B-B14F-4D97-AF65-F5344CB8AC3E}">
        <p14:creationId xmlns:p14="http://schemas.microsoft.com/office/powerpoint/2010/main" val="169524531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graphicFrame>
        <p:nvGraphicFramePr>
          <p:cNvPr id="9" name="evaluation-settings-table"/>
          <p:cNvGraphicFramePr/>
          <p:nvPr/>
        </p:nvGraphicFramePr>
        <p:xfrm>
          <a:off xmlns:a="http://schemas.openxmlformats.org/drawingml/2006/main" x="400050" y="1200150"/>
          <a:ext xmlns:a="http://schemas.openxmlformats.org/drawingml/2006/main" cx="11391900" cy="3676650"/>
        </p:xfrm>
        <a:graphic xmlns:a="http://schemas.openxmlformats.org/drawingml/2006/main">
          <a:graphicData uri="http://schemas.openxmlformats.org/drawingml/2006/table">
            <a:tbl>
              <a:tblPr/>
              <a:tblGrid>
                <a:gridCol w="2333625"/>
                <a:gridCol w="4905375"/>
                <a:gridCol w="4152900"/>
              </a:tblGrid>
              <a:tr h="735330">
                <a:tc>
                  <a:txBody>
                    <a:bodyPr/>
                    <a:lstStyle/>
                    <a:p>
                      <a:pPr marL="0" algn="ctr" defTabSz="914422">
                        <a:buNone/>
                      </a:pPr>
                      <a:r>
                        <a:rPr sz="1400" b="1">
                          <a:solidFill>
                            <a:srgbClr val="FFFFFF"/>
                          </a:solidFill>
                          <a:latin typeface="+mn-lt"/>
                          <a:ea typeface="+mn-lt"/>
                          <a:cs typeface="+mn-lt"/>
                        </a:rPr>
                        <a:t>Setting</a:t>
                      </a:r>
                    </a:p>
                  </a:txBody>
                  <a:tcPr marL="91440" marR="91440" marT="45720" marB="45720" anchor="ctr">
                    <a:solidFill>
                      <a:srgbClr val="156082"/>
                    </a:solidFill>
                  </a:tcPr>
                </a:tc>
                <a:tc>
                  <a:txBody>
                    <a:bodyPr/>
                    <a:lstStyle/>
                    <a:p>
                      <a:pPr marL="0" algn="ctr" defTabSz="914422">
                        <a:buNone/>
                      </a:pPr>
                      <a:r>
                        <a:rPr sz="1400" b="1">
                          <a:solidFill>
                            <a:srgbClr val="FFFFFF"/>
                          </a:solidFill>
                          <a:latin typeface="+mn-lt"/>
                          <a:ea typeface="+mn-lt"/>
                          <a:cs typeface="+mn-lt"/>
                        </a:rPr>
                        <a:t>Target stream</a:t>
                      </a:r>
                    </a:p>
                  </a:txBody>
                  <a:tcPr marL="91440" marR="91440" marT="45720" marB="45720" anchor="ctr">
                    <a:solidFill>
                      <a:srgbClr val="156082"/>
                    </a:solidFill>
                  </a:tcPr>
                </a:tc>
                <a:tc>
                  <a:txBody>
                    <a:bodyPr/>
                    <a:lstStyle/>
                    <a:p>
                      <a:pPr marL="0" algn="ctr" defTabSz="914422">
                        <a:buNone/>
                      </a:pPr>
                      <a:r>
                        <a:rPr sz="1400" b="1">
                          <a:solidFill>
                            <a:srgbClr val="FFFFFF"/>
                          </a:solidFill>
                          <a:latin typeface="+mn-lt"/>
                          <a:ea typeface="+mn-lt"/>
                          <a:cs typeface="+mn-lt"/>
                        </a:rPr>
                        <a:t>What it tests</a:t>
                      </a:r>
                    </a:p>
                  </a:txBody>
                  <a:tcPr marL="91440" marR="91440" marT="45720" marB="45720" anchor="ctr">
                    <a:solidFill>
                      <a:srgbClr val="156082"/>
                    </a:solidFill>
                  </a:tcPr>
                </a:tc>
              </a:tr>
              <a:tr h="735330">
                <a:tc>
                  <a:txBody>
                    <a:bodyPr/>
                    <a:lstStyle/>
                    <a:p>
                      <a:r>
                        <a:rPr sz="1013" b="1">
                          <a:solidFill>
                            <a:srgbClr val="FFFFFF"/>
                          </a:solidFill>
                          <a:latin typeface="Helvetica Neue"/>
                          <a:ea typeface="Helvetica Neue"/>
                          <a:cs typeface="Helvetica Neue"/>
                        </a:rPr>
                        <a:t>Mild</a:t>
                      </a:r>
                    </a:p>
                  </a:txBody>
                  <a:tcPr marL="91440" marR="91440" marT="45720" marB="45720">
                    <a:solidFill>
                      <a:srgbClr val="0E2841"/>
                    </a:solidFill>
                  </a:tcPr>
                </a:tc>
                <a:tc>
                  <a:txBody>
                    <a:bodyPr/>
                    <a:lstStyle/>
                    <a:p>
                      <a:r>
                        <a:t>One corruption type per batch; shuffled labels</a:t>
                      </a:r>
                    </a:p>
                  </a:txBody>
                  <a:tcPr marL="91440" marR="91440" marT="45720" marB="45720"/>
                </a:tc>
                <a:tc>
                  <a:txBody>
                    <a:bodyPr/>
                    <a:lstStyle/>
                    <a:p>
                      <a:r>
                        <a:t>Controlled adaptation under a stable shift</a:t>
                      </a:r>
                    </a:p>
                  </a:txBody>
                  <a:tcPr marL="91440" marR="91440" marT="45720" marB="45720"/>
                </a:tc>
              </a:tr>
              <a:tr h="735330">
                <a:tc>
                  <a:txBody>
                    <a:bodyPr/>
                    <a:lstStyle/>
                    <a:p>
                      <a:r>
                        <a:rPr sz="1013" b="1">
                          <a:solidFill>
                            <a:srgbClr val="FFFFFF"/>
                          </a:solidFill>
                          <a:latin typeface="Helvetica Neue"/>
                          <a:ea typeface="Helvetica Neue"/>
                          <a:cs typeface="Helvetica Neue"/>
                        </a:rPr>
                        <a:t>Batch size 1</a:t>
                      </a:r>
                    </a:p>
                  </a:txBody>
                  <a:tcPr marL="91440" marR="91440" marT="45720" marB="45720">
                    <a:solidFill>
                      <a:srgbClr val="0E2841"/>
                    </a:solidFill>
                  </a:tcPr>
                </a:tc>
                <a:tc>
                  <a:txBody>
                    <a:bodyPr/>
                    <a:lstStyle/>
                    <a:p>
                      <a:r>
                        <a:t>One test image per update</a:t>
                      </a:r>
                    </a:p>
                  </a:txBody>
                  <a:tcPr marL="91440" marR="91440" marT="45720" marB="45720"/>
                </a:tc>
                <a:tc>
                  <a:txBody>
                    <a:bodyPr/>
                    <a:lstStyle/>
                    <a:p>
                      <a:r>
                        <a:t>Stability without reliable batch statistics</a:t>
                      </a:r>
                    </a:p>
                  </a:txBody>
                  <a:tcPr marL="91440" marR="91440" marT="45720" marB="45720"/>
                </a:tc>
              </a:tr>
              <a:tr h="735330">
                <a:tc>
                  <a:txBody>
                    <a:bodyPr/>
                    <a:lstStyle/>
                    <a:p>
                      <a:r>
                        <a:rPr sz="1013" b="1">
                          <a:solidFill>
                            <a:srgbClr val="FFFFFF"/>
                          </a:solidFill>
                          <a:latin typeface="Helvetica Neue"/>
                          <a:ea typeface="Helvetica Neue"/>
                          <a:cs typeface="Helvetica Neue"/>
                        </a:rPr>
                        <a:t>Label distribution shift</a:t>
                      </a:r>
                    </a:p>
                  </a:txBody>
                  <a:tcPr marL="91440" marR="91440" marT="45720" marB="45720">
                    <a:solidFill>
                      <a:srgbClr val="0E2841"/>
                    </a:solidFill>
                  </a:tcPr>
                </a:tc>
                <a:tc>
                  <a:txBody>
                    <a:bodyPr/>
                    <a:lstStyle/>
                    <a:p>
                      <a:r>
                        <a:t>Class proportions change and may become highly imbalanced</a:t>
                      </a:r>
                    </a:p>
                  </a:txBody>
                  <a:tcPr marL="91440" marR="91440" marT="45720" marB="45720"/>
                </a:tc>
                <a:tc>
                  <a:txBody>
                    <a:bodyPr/>
                    <a:lstStyle/>
                    <a:p>
                      <a:r>
                        <a:t>Collapse toward dominant classes</a:t>
                      </a:r>
                    </a:p>
                  </a:txBody>
                  <a:tcPr marL="91440" marR="91440" marT="45720" marB="45720"/>
                </a:tc>
              </a:tr>
              <a:tr h="735330">
                <a:tc>
                  <a:txBody>
                    <a:bodyPr/>
                    <a:lstStyle/>
                    <a:p>
                      <a:r>
                        <a:rPr sz="1013" b="1">
                          <a:solidFill>
                            <a:srgbClr val="FFFFFF"/>
                          </a:solidFill>
                          <a:latin typeface="Helvetica Neue"/>
                          <a:ea typeface="Helvetica Neue"/>
                          <a:cs typeface="Helvetica Neue"/>
                        </a:rPr>
                        <a:t>Mixed corruptions</a:t>
                      </a:r>
                    </a:p>
                  </a:txBody>
                  <a:tcPr marL="91440" marR="91440" marT="45720" marB="45720">
                    <a:solidFill>
                      <a:srgbClr val="0E2841"/>
                    </a:solidFill>
                  </a:tcPr>
                </a:tc>
                <a:tc>
                  <a:txBody>
                    <a:bodyPr/>
                    <a:lstStyle/>
                    <a:p>
                      <a:r>
                        <a:t>Several corruption types appear in the same stream</a:t>
                      </a:r>
                    </a:p>
                  </a:txBody>
                  <a:tcPr marL="91440" marR="91440" marT="45720" marB="45720"/>
                </a:tc>
                <a:tc>
                  <a:txBody>
                    <a:bodyPr/>
                    <a:lstStyle/>
                    <a:p>
                      <a:r>
                        <a:t>Adaptation under changing and compound shifts</a:t>
                      </a:r>
                    </a:p>
                  </a:txBody>
                  <a:tcPr marL="91440" marR="91440" marT="45720" marB="45720"/>
                </a:tc>
              </a:tr>
            </a:tbl>
          </a:graphicData>
        </a:graphic>
      </p:graphicFrame>
      <p:sp>
        <p:nvSpPr>
          <p:cNvPr id="6" name="settings-note">
            <a:extLst xmlns:a="http://schemas.openxmlformats.org/drawingml/2006/main">
              <a:ext uri="{FF2B5EF4-FFF2-40B4-BE49-F238E27FC236}">
                <a16:creationId xmlns:a16="http://schemas.microsoft.com/office/drawing/2014/main" id="{E127BE87-C2FD-4AB7-9B80-61A579B2A563}"/>
              </a:ext>
            </a:extLst>
          </p:cNvPr>
          <p:cNvSpPr>
            <a:spLocks xmlns:a="http://schemas.openxmlformats.org/drawingml/2006/main" noGrp="1"/>
          </p:cNvSpPr>
          <p:nvPr/>
        </p:nvSpPr>
        <p:spPr>
          <a:xfrm xmlns:a="http://schemas.openxmlformats.org/drawingml/2006/main">
            <a:off x="590550" y="5095875"/>
            <a:ext cx="11010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b="1">
                <a:solidFill>
                  <a:srgbClr val="156082"/>
                </a:solidFill>
                <a:latin typeface="Helvetica Neue"/>
                <a:ea typeface="Helvetica Neue"/>
                <a:cs typeface="Helvetica Neue"/>
              </a:defRPr>
            </a:pPr>
            <a:r>
              <a:rPr sz="1425" b="1">
                <a:solidFill>
                  <a:srgbClr val="156082"/>
                </a:solidFill>
                <a:latin typeface="Helvetica Neue"/>
                <a:ea typeface="Helvetica Neue"/>
                <a:cs typeface="Helvetica Neue"/>
              </a:rPr>
              <a:t>These scenarios are evaluated separately. They are not sequential stages of the method.</a:t>
            </a:r>
          </a:p>
        </p:txBody>
      </p:sp>
      <p:sp>
        <p:nvSpPr>
          <p:cNvPr id="7" name="finding-strip">
            <a:extLst xmlns:a="http://schemas.openxmlformats.org/drawingml/2006/main">
              <a:ext uri="{FF2B5EF4-FFF2-40B4-BE49-F238E27FC236}">
                <a16:creationId xmlns:a16="http://schemas.microsoft.com/office/drawing/2014/main" id="{C5BBAC38-96D0-4143-B030-F76E35DF6957}"/>
              </a:ext>
            </a:extLst>
          </p:cNvPr>
          <p:cNvSpPr>
            <a:spLocks xmlns:a="http://schemas.openxmlformats.org/drawingml/2006/main" noGrp="1"/>
          </p:cNvSpPr>
          <p:nvPr/>
        </p:nvSpPr>
        <p:spPr>
          <a:xfrm xmlns:a="http://schemas.openxmlformats.org/drawingml/2006/main">
            <a:off x="590550" y="5619750"/>
            <a:ext cx="11010900" cy="552450"/>
          </a:xfrm>
          <a:prstGeom xmlns:a="http://schemas.openxmlformats.org/drawingml/2006/main" prst="rect">
            <a:avLst/>
          </a:prstGeom>
          <a:solidFill xmlns:a="http://schemas.openxmlformats.org/drawingml/2006/main">
            <a:srgbClr val="EAF4F7"/>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56082"/>
                </a:solidFill>
                <a:latin typeface="Helvetica Neue"/>
                <a:ea typeface="Helvetica Neue"/>
                <a:cs typeface="Helvetica Neue"/>
              </a:defRPr>
            </a:pPr>
            <a:r>
              <a:rPr sz="1200" b="1">
                <a:solidFill>
                  <a:srgbClr val="156082"/>
                </a:solidFill>
                <a:latin typeface="Helvetica Neue"/>
                <a:ea typeface="Helvetica Neue"/>
                <a:cs typeface="Helvetica Neue"/>
              </a:rPr>
              <a:t>The paper reports K = 3 and an inference cost that scales approximately linearly with K, giving roughly 3× overhead.</a:t>
            </a:r>
          </a:p>
        </p:txBody>
      </p:sp>
      <p:sp>
        <p:nvSpPr>
          <p:cNvPr id="2" name="Title">
            <a:extLst xmlns:a="http://schemas.openxmlformats.org/drawingml/2006/main">
              <a:ext uri="{FF2B5EF4-FFF2-40B4-BE49-F238E27FC236}">
                <a16:creationId xmlns:a16="http://schemas.microsoft.com/office/drawing/2014/main" id="{80B52BCA-E80F-6A82-6DB3-0621951E3236}"/>
              </a:ext>
            </a:extLst>
          </p:cNvPr>
          <p:cNvSpPr>
            <a:spLocks xmlns:a="http://schemas.openxmlformats.org/drawingml/2006/main" noGrp="1"/>
          </p:cNvSpPr>
          <p:nvPr/>
        </p:nvSpPr>
        <p:spPr>
          <a:xfrm xmlns:a="http://schemas.openxmlformats.org/drawingml/2006/main">
            <a:off x="493776" y="274320"/>
            <a:ext cx="11201400" cy="502920"/>
          </a:xfrm>
          <a:prstGeom xmlns:a="http://schemas.openxmlformats.org/drawingml/2006/main" prst="rect">
            <a:avLst/>
          </a:prstGeom>
        </p:spPr>
        <p:txBody>
          <a:bodyPr xmlns:a="http://schemas.openxmlformats.org/drawingml/2006/main" wrap="square" anchor="t"/>
          <a:lstStyle xmlns:a="http://schemas.openxmlformats.org/drawingml/2006/main"/>
          <a:p xmlns:a="http://schemas.openxmlformats.org/drawingml/2006/main">
            <a:r>
              <a:rPr sz="2600" b="1">
                <a:solidFill>
                  <a:srgbClr val="156082"/>
                </a:solidFill>
                <a:latin typeface="Helvetica Neue"/>
                <a:ea typeface="Helvetica Neue"/>
                <a:cs typeface="Helvetica Neue"/>
              </a:rPr>
              <a:t>Evaluation Settings Represent Different Target Streams</a:t>
            </a:r>
            <a:endParaRPr sz="2600" b="1">
              <a:solidFill>
                <a:srgbClr val="156082"/>
              </a:solidFill>
              <a:latin typeface="Helvetica Neue"/>
              <a:ea typeface="Helvetica Neue"/>
              <a:cs typeface="Helvetica Neue"/>
            </a:endParaRPr>
          </a:p>
        </p:txBody>
      </p:sp>
    </p:spTree>
    <p:extLst>
      <p:ext uri="{BB962C8B-B14F-4D97-AF65-F5344CB8AC3E}">
        <p14:creationId xmlns:p14="http://schemas.microsoft.com/office/powerpoint/2010/main" val="78872933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2026-09-16T15:05:28.9090000Z</dcterms:created>
  <dcterms:modified xsi:type="dcterms:W3CDTF">2026-09-16T15:05:28.9090000Z</dcterms:modified>
</coreProperties>
</file>