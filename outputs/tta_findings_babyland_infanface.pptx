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901932823d4458" /><Relationship Type="http://schemas.openxmlformats.org/officeDocument/2006/relationships/extended-properties" Target="/docProps/app.xml" Id="Rbec2204b922a4521" /><Relationship Type="http://schemas.openxmlformats.org/officeDocument/2006/relationships/officeDocument" Target="/ppt/presentation.xml" Id="R40b4c46b808840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3f1a8ebc1f4046"/>
  </p:sldMasterIdLst>
  <p:notesMasterIdLst>
    <p:notesMasterId xmlns:r="http://schemas.openxmlformats.org/officeDocument/2006/relationships" r:id="Re770503f3c4141e9"/>
  </p:notesMasterIdLst>
  <p:sldIdLst>
    <p:sldId xmlns:r="http://schemas.openxmlformats.org/officeDocument/2006/relationships" id="256" r:id="R89852c8a15be456f"/>
    <p:sldId xmlns:r="http://schemas.openxmlformats.org/officeDocument/2006/relationships" id="257" r:id="Rbabaaa50ef2b437d"/>
    <p:sldId xmlns:r="http://schemas.openxmlformats.org/officeDocument/2006/relationships" id="258" r:id="R097737a65d9a4cca"/>
    <p:sldId xmlns:r="http://schemas.openxmlformats.org/officeDocument/2006/relationships" id="259" r:id="R1452a174d2fa4a7d"/>
    <p:sldId xmlns:r="http://schemas.openxmlformats.org/officeDocument/2006/relationships" id="260" r:id="Racef378e52594f3e"/>
    <p:sldId xmlns:r="http://schemas.openxmlformats.org/officeDocument/2006/relationships" id="261" r:id="Rcc82f9bdd41647ee"/>
    <p:sldId xmlns:r="http://schemas.openxmlformats.org/officeDocument/2006/relationships" id="262" r:id="R2b14e80227c54adc"/>
    <p:sldId xmlns:r="http://schemas.openxmlformats.org/officeDocument/2006/relationships" id="263" r:id="R94032d13ebf147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40111b5fe4c49" /><Relationship Type="http://schemas.openxmlformats.org/officeDocument/2006/relationships/slideMaster" Target="/ppt/slideMasters/slideMaster1.xml" Id="Re73f1a8ebc1f4046" /><Relationship Type="http://schemas.openxmlformats.org/officeDocument/2006/relationships/notesMaster" Target="/ppt/notesMasters/notesMaster1.xml" Id="Re770503f3c4141e9" /><Relationship Type="http://schemas.openxmlformats.org/officeDocument/2006/relationships/presProps" Target="/ppt/presProps.xml" Id="R75179e0b3e994180" /><Relationship Type="http://schemas.openxmlformats.org/officeDocument/2006/relationships/viewProps" Target="/ppt/viewProps.xml" Id="Rc92475bd72f14c9b" /><Relationship Type="http://schemas.openxmlformats.org/officeDocument/2006/relationships/tableStyles" Target="/ppt/tableStyles.xml" Id="Rcb7f28db7d094ade" /><Relationship Type="http://schemas.openxmlformats.org/officeDocument/2006/relationships/slide" Target="/ppt/slides/slide1.xml" Id="R89852c8a15be456f" /><Relationship Type="http://schemas.openxmlformats.org/officeDocument/2006/relationships/slide" Target="/ppt/slides/slide2.xml" Id="Rbabaaa50ef2b437d" /><Relationship Type="http://schemas.openxmlformats.org/officeDocument/2006/relationships/slide" Target="/ppt/slides/slide3.xml" Id="R097737a65d9a4cca" /><Relationship Type="http://schemas.openxmlformats.org/officeDocument/2006/relationships/slide" Target="/ppt/slides/slide4.xml" Id="R1452a174d2fa4a7d" /><Relationship Type="http://schemas.openxmlformats.org/officeDocument/2006/relationships/slide" Target="/ppt/slides/slide5.xml" Id="Racef378e52594f3e" /><Relationship Type="http://schemas.openxmlformats.org/officeDocument/2006/relationships/slide" Target="/ppt/slides/slide6.xml" Id="Rcc82f9bdd41647ee" /><Relationship Type="http://schemas.openxmlformats.org/officeDocument/2006/relationships/slide" Target="/ppt/slides/slide7.xml" Id="R2b14e80227c54adc" /><Relationship Type="http://schemas.openxmlformats.org/officeDocument/2006/relationships/slide" Target="/ppt/slides/slide8.xml" Id="R94032d13ebf147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5b2381192242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6f8ce3719949a9" /><Relationship Type="http://schemas.openxmlformats.org/officeDocument/2006/relationships/notesMaster" Target="/ppt/notesMasters/notesMaster1.xml" Id="R7bbe42efb4354d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7c260a39f44a59" /><Relationship Type="http://schemas.openxmlformats.org/officeDocument/2006/relationships/notesMaster" Target="/ppt/notesMasters/notesMaster1.xml" Id="R990071053baf42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9960b99ec54ef8" /><Relationship Type="http://schemas.openxmlformats.org/officeDocument/2006/relationships/notesMaster" Target="/ppt/notesMasters/notesMaster1.xml" Id="R7ed0cde04d5a49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bcf95db0f840c3" /><Relationship Type="http://schemas.openxmlformats.org/officeDocument/2006/relationships/notesMaster" Target="/ppt/notesMasters/notesMaster1.xml" Id="Re57bdb00193a46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b9bc60b4b74780" /><Relationship Type="http://schemas.openxmlformats.org/officeDocument/2006/relationships/notesMaster" Target="/ppt/notesMasters/notesMaster1.xml" Id="R423ec830fbcc49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dbe7258f934103" /><Relationship Type="http://schemas.openxmlformats.org/officeDocument/2006/relationships/notesMaster" Target="/ppt/notesMasters/notesMaster1.xml" Id="Ra3a43d26b6964a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ba65f7b0f140e8" /><Relationship Type="http://schemas.openxmlformats.org/officeDocument/2006/relationships/notesMaster" Target="/ppt/notesMasters/notesMaster1.xml" Id="R3decff91098d48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0a72e1cbe94c0d" /><Relationship Type="http://schemas.openxmlformats.org/officeDocument/2006/relationships/notesMaster" Target="/ppt/notesMasters/notesMaster1.xml" Id="Reac35862284b49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PCA-guided episodic test-time adaptation results on BabyLand-72 and InfantFace.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/Users/jocareher/Downloads/tta/weekly_meeting_82.pptx (template and prior BabyLand reporting context)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normalizer is the only trainable module at test time. The landmarker and PCA prior are frozen.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/Users/jocareher/Downloads/tta/resolved_config.json</a:t>
            </a:r>
            <a:endParaRPr/>
          </a:p>
          <a:p xmlns:a="http://schemas.openxmlformats.org/drawingml/2006/main">
            <a:r>
              <a:t>- /Users/jocareher/Downloads/tta/infanface_aggregate_curves.csv</a:t>
            </a:r>
            <a:endParaRPr/>
          </a:p>
          <a:p xmlns:a="http://schemas.openxmlformats.org/drawingml/2006/main">
            <a:r>
              <a:t>- /Users/jocareher/Downloads/tta/sweep_orientation_results_lr-1e-3.csv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baseline denotes the previously reported model without TTA. Step 0 denotes the normalizer-based checkpoint before episodic adaptation.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/Users/jocareher/Downloads/tta/metrics_summary.csv</a:t>
            </a:r>
            <a:endParaRPr/>
          </a:p>
          <a:p xmlns:a="http://schemas.openxmlformats.org/drawingml/2006/main">
            <a:r>
              <a:t>- /Users/jocareher/Downloads/tta/infanface_metrics_summary.csv</a:t>
            </a:r>
            <a:endParaRPr/>
          </a:p>
          <a:p xmlns:a="http://schemas.openxmlformats.org/drawingml/2006/main">
            <a:r>
              <a:t>- /Users/jocareher/Downloads/tta/image_summary.csv</a:t>
            </a:r>
            <a:endParaRPr/>
          </a:p>
          <a:p xmlns:a="http://schemas.openxmlformats.org/drawingml/2006/main">
            <a:r>
              <a:t>- /Users/jocareher/Downloads/tta/infanface_sweep_orientation_results_lr-1e-3.csv</a:t>
            </a:r>
            <a:endParaRPr/>
          </a:p>
          <a:p xmlns:a="http://schemas.openxmlformats.org/drawingml/2006/main">
            <a:r>
              <a:t>- User-provided paper baseline table in the task context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BabyLand step-0 values come from the per-image evaluation summary. InfantFace has only two evaluated update counts, so no intermediate convergence claim is made.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/Users/jocareher/Downloads/tta/sweep_orientation_results_lr-1e-3.csv</a:t>
            </a:r>
            <a:endParaRPr/>
          </a:p>
          <a:p xmlns:a="http://schemas.openxmlformats.org/drawingml/2006/main">
            <a:r>
              <a:t>- /Users/jocareher/Downloads/tta/image_summary.csv</a:t>
            </a:r>
            <a:endParaRPr/>
          </a:p>
          <a:p xmlns:a="http://schemas.openxmlformats.org/drawingml/2006/main">
            <a:r>
              <a:t>- /Users/jocareher/Downloads/tta/infanface_sweep_orientation_results_lr-1e-3.csv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step-0 normalizer penalty is largest in profile views. Internal poses remain close to their initial values throughout adaptation.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/Users/jocareher/Downloads/tta/sweep_orientation_results_lr-1e-3.csv</a:t>
            </a:r>
            <a:endParaRPr/>
          </a:p>
          <a:p xmlns:a="http://schemas.openxmlformats.org/drawingml/2006/main">
            <a:r>
              <a:t>- /Users/jocareher/Downloads/tta/image_summary.csv</a:t>
            </a:r>
            <a:endParaRPr/>
          </a:p>
          <a:p xmlns:a="http://schemas.openxmlformats.org/drawingml/2006/main">
            <a:r>
              <a:t>- User-provided BabyLand paper baseline table in the task context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Step-1500 mean NME is below both step 0 and the paper baseline for every orientation group. Profile groups should be interpreted with n=7 and n=13.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/Users/jocareher/Downloads/tta/infanface_sweep_orientation_results_lr-1e-3.csv</a:t>
            </a:r>
            <a:endParaRPr/>
          </a:p>
          <a:p xmlns:a="http://schemas.openxmlformats.org/drawingml/2006/main">
            <a:r>
              <a:t>- /Users/jocareher/Downloads/tta/infanface_image_summary.csv</a:t>
            </a:r>
            <a:endParaRPr/>
          </a:p>
          <a:p xmlns:a="http://schemas.openxmlformats.org/drawingml/2006/main">
            <a:r>
              <a:t>- User-provided InfantFace paper baseline table in the task context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Drift is measured from the step-0 landmark predictions. The BabyLand correlation is negative because larger loss reduction tends to accompany a more negative NME change, but the relationship is not deterministic.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/Users/jocareher/Downloads/tta/image_summary.csv</a:t>
            </a:r>
            <a:endParaRPr/>
          </a:p>
          <a:p xmlns:a="http://schemas.openxmlformats.org/drawingml/2006/main">
            <a:r>
              <a:t>- /Users/jocareher/Downloads/tta/evaluation_analysis.json</a:t>
            </a:r>
            <a:endParaRPr/>
          </a:p>
          <a:p xmlns:a="http://schemas.openxmlformats.org/drawingml/2006/main">
            <a:r>
              <a:t>- /Users/jocareher/Downloads/tta/infanface_image_summary.csv</a:t>
            </a:r>
            <a:endParaRPr/>
          </a:p>
          <a:p xmlns:a="http://schemas.openxmlformats.org/drawingml/2006/main">
            <a:r>
              <a:t>- /Users/jocareher/Downloads/tta/infanface_aggregate_curves.csv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the observed findings without proposing subsequent experiments.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/Users/jocareher/Downloads/tta/sweep_orientation_results_lr-1e-3.csv</a:t>
            </a:r>
            <a:endParaRPr/>
          </a:p>
          <a:p xmlns:a="http://schemas.openxmlformats.org/drawingml/2006/main">
            <a:r>
              <a:t>- /Users/jocareher/Downloads/tta/image_summary.csv</a:t>
            </a:r>
            <a:endParaRPr/>
          </a:p>
          <a:p xmlns:a="http://schemas.openxmlformats.org/drawingml/2006/main">
            <a:r>
              <a:t>- /Users/jocareher/Downloads/tta/infanface_sweep_orientation_results_lr-1e-3.csv</a:t>
            </a:r>
            <a:endParaRPr/>
          </a:p>
          <a:p xmlns:a="http://schemas.openxmlformats.org/drawingml/2006/main">
            <a:r>
              <a:t>- /Users/jocareher/Downloads/tta/infanface_image_summary.csv</a:t>
            </a:r>
            <a:endParaRPr/>
          </a:p>
          <a:p xmlns:a="http://schemas.openxmlformats.org/drawingml/2006/main">
            <a:r>
              <a:t>- User-provided paper baseline table in the task context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27db399ba64a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23ae9010542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07846be3c4d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37db7417749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64883391c4c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0e461597f470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8000013ad451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9202fd6914ab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33495eb7a43c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59cdc089c482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1289fa2d648d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56771-1CA8-8297-EDC1-7A1E788E817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8B2425A-3693-D5FB-3CFB-86DC70548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1"/>
            </a:lvl3pPr>
            <a:lvl4pPr marL="1371635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1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710CD0-47E9-57BF-523D-0263D1A5FC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D7A51CE-635F-A84E-83FF-EDBFD40B8346}" type="datetimeFigureOut">
              <a:t>11/08/2026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054F2F-2E8B-7FE8-A1F0-BA3659BD8C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ABC978-DE93-42F1-48B4-F35D6BD68C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73FE86-7B8D-CD4A-BA58-EA6CC6940FD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0E2FAF-DF41-A379-C7B2-3206DCB31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B2EDF-2C75-CBFF-E872-206402DF6D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453816-CAF5-63EB-1B66-6B074E7CE0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D7A51CE-635F-A84E-83FF-EDBFD40B8346}" type="datetimeFigureOut">
              <a:t>11/08/2026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AE89B0-03DF-5DD0-D572-35275FBE37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1E05AD-9958-5DB7-565C-C86DF4B174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73FE86-7B8D-CD4A-BA58-EA6CC6940FD0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AED2DD-901E-A3FB-1C82-D8181012BC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3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60197D-3DB0-85B0-C175-7A64724A3B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3" y="458946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22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3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8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B868C8-6CA3-75C4-4301-1CBE8A9D8C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D7A51CE-635F-A84E-83FF-EDBFD40B8346}" type="datetimeFigureOut">
              <a:t>11/08/2026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3BC2F6-F7D3-BA24-AA24-4D6D61A901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A75904-37EC-8576-21AE-6B67346CEF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73FE86-7B8D-CD4A-BA58-EA6CC6940FD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28728C-33D5-4489-9B42-0FF03037D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F360AB-F9FC-5305-9EB0-7D036DA7E0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1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F6E7980-2E3D-E4E4-4D79-2F2D490EB42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1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BF835A-3451-AAD8-A1E7-605809A22D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D7A51CE-635F-A84E-83FF-EDBFD40B8346}" type="datetimeFigureOut">
              <a:t>11/08/2026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3EBBA5-A827-E1ED-B430-D02A73D4D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E78F499-D7CC-727F-68B7-122AAD5904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73FE86-7B8D-CD4A-BA58-EA6CC6940FD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9F7372-F011-F0C2-DDDF-DA1DB598B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9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904BCC-B3E0-1B51-1FF0-F297FBA4FC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91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73FDE5E-9219-E951-D813-D419C4AAC8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91" y="2505076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436F48C-FA92-E1FA-5B96-5015690E887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3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39AD90E-0981-1527-8ADF-021E75DA8C5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3" y="2505076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CE6DF4F-E1AC-FE74-8383-00E0961FE4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D7A51CE-635F-A84E-83FF-EDBFD40B8346}" type="datetimeFigureOut">
              <a:t>11/08/2026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6C582C0-5BFC-CC83-5225-66E184EB50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5A0CE2A-89A6-1979-A441-5890D0338F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73FE86-7B8D-CD4A-BA58-EA6CC6940FD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C36A8B-02F7-60DA-C4FA-E8B3BB209A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134E91F-8ADF-736A-2456-3B173C1D9E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D7A51CE-635F-A84E-83FF-EDBFD40B8346}" type="datetimeFigureOut">
              <a:t>11/08/2026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AE9DBAA-84FF-61B0-5122-47A40D7089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E47D90F-3615-7653-178C-73FF713ABD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73FE86-7B8D-CD4A-BA58-EA6CC6940FD0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4893B2A-678C-FE77-67BE-F74CE233A4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D7A51CE-635F-A84E-83FF-EDBFD40B8346}" type="datetimeFigureOut">
              <a:t>11/08/2026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C8938C8-451C-91F8-5734-A058FCF6E3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7AD13E6-ABBD-3531-F5B6-C3E6F09106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73FE86-7B8D-CD4A-BA58-EA6CC6940FD0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9B2B41-E0E7-319F-6B7E-1A7FC0B36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91" y="457200"/>
            <a:ext cx="3932236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8266635-EB99-C4F3-F333-A9393EC5F66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0" y="987425"/>
            <a:ext cx="6172201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21193AF-C87D-C32B-DD3D-EFC0D6E196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91" y="2057400"/>
            <a:ext cx="3932236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D8D767A-6731-E19C-135A-5C565366E6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D7A51CE-635F-A84E-83FF-EDBFD40B8346}" type="datetimeFigureOut">
              <a:t>11/08/2026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026580-1163-D775-E9BF-3B459A0A58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0CA2AF-4E5A-8E02-BD49-05BDA7D966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73FE86-7B8D-CD4A-BA58-EA6CC6940FD0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A0A45F-D989-EBB6-DCD4-5231927E2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91" y="457200"/>
            <a:ext cx="3932236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4A67D8E-567E-5784-A4A6-B6B7CDC70F6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90" y="987425"/>
            <a:ext cx="6172201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5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1" indent="0">
              <a:buNone/>
              <a:defRPr sz="2000"/>
            </a:lvl8pPr>
            <a:lvl9pPr marL="3657692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0A67A10-F4D2-69A1-9316-DD13D41039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91" y="2057400"/>
            <a:ext cx="3932236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2" indent="0">
              <a:buNone/>
              <a:defRPr sz="1200"/>
            </a:lvl3pPr>
            <a:lvl4pPr marL="1371635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8" indent="0">
              <a:buNone/>
              <a:defRPr sz="1001"/>
            </a:lvl7pPr>
            <a:lvl8pPr marL="3200481" indent="0">
              <a:buNone/>
              <a:defRPr sz="1001"/>
            </a:lvl8pPr>
            <a:lvl9pPr marL="3657692" indent="0">
              <a:buNone/>
              <a:defRPr sz="100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666A8D6-1B04-8E47-0DBF-776407174F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D7A51CE-635F-A84E-83FF-EDBFD40B8346}" type="datetimeFigureOut">
              <a:t>11/08/2026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774EF45-CADC-1BE4-8E51-EE3E195B70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3E6AE8C-0E2E-DDB1-7DD8-FDDC3C68F7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73FE86-7B8D-CD4A-BA58-EA6CC6940FD0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448AC0-4137-6FCC-11FC-32A042E4B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277845-739F-94FA-C63B-2A1AC9E72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3CC54C7-C7C9-284F-BEF7-F36CDA4E14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D7A51CE-635F-A84E-83FF-EDBFD40B8346}" type="datetimeFigureOut">
              <a:t>11/08/2026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CA5E7F-E0EB-97ED-A6AD-82005D4DC3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33AA89-4696-5083-E568-9D538B32A5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73FE86-7B8D-CD4A-BA58-EA6CC6940FD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7C094BA-BFE8-116D-1A31-553C8B9493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899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ACDF4A-FC06-225B-D14E-2F44B8FC47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199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AB73F4-406B-8B25-0127-69F6BF9DE5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D7A51CE-635F-A84E-83FF-EDBFD40B8346}" type="datetimeFigureOut">
              <a:t>11/08/2026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B325FC-DCF0-C80C-F6C7-EFF8164BCB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A4799AD-B389-2B79-B81F-D37132DAA9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73FE86-7B8D-CD4A-BA58-EA6CC6940FD0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78c209868d446f" /><Relationship Type="http://schemas.openxmlformats.org/officeDocument/2006/relationships/slideLayout" Target="/ppt/slideLayouts/slideLayout1.xml" Id="R059355ddb90743c7" /><Relationship Type="http://schemas.openxmlformats.org/officeDocument/2006/relationships/slideLayout" Target="/ppt/slideLayouts/slideLayout2.xml" Id="R655cc0afa27c4f10" /><Relationship Type="http://schemas.openxmlformats.org/officeDocument/2006/relationships/slideLayout" Target="/ppt/slideLayouts/slideLayout3.xml" Id="Rb94479effa77404b" /><Relationship Type="http://schemas.openxmlformats.org/officeDocument/2006/relationships/slideLayout" Target="/ppt/slideLayouts/slideLayout4.xml" Id="R11c3a7305d5746f0" /><Relationship Type="http://schemas.openxmlformats.org/officeDocument/2006/relationships/slideLayout" Target="/ppt/slideLayouts/slideLayout5.xml" Id="R1c6dcc71fc204c34" /><Relationship Type="http://schemas.openxmlformats.org/officeDocument/2006/relationships/slideLayout" Target="/ppt/slideLayouts/slideLayout6.xml" Id="Rf4eea0340cee4982" /><Relationship Type="http://schemas.openxmlformats.org/officeDocument/2006/relationships/slideLayout" Target="/ppt/slideLayouts/slideLayout7.xml" Id="Reb691ad2b7c34eca" /><Relationship Type="http://schemas.openxmlformats.org/officeDocument/2006/relationships/slideLayout" Target="/ppt/slideLayouts/slideLayout8.xml" Id="R3d77b305ac334026" /><Relationship Type="http://schemas.openxmlformats.org/officeDocument/2006/relationships/slideLayout" Target="/ppt/slideLayouts/slideLayout9.xml" Id="Re625e8b003844453" /><Relationship Type="http://schemas.openxmlformats.org/officeDocument/2006/relationships/slideLayout" Target="/ppt/slideLayouts/slideLayout10.xml" Id="R23c847d46e0e4e47" /><Relationship Type="http://schemas.openxmlformats.org/officeDocument/2006/relationships/slideLayout" Target="/ppt/slideLayouts/slideLayout11.xml" Id="Rd11623b7fb9d451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BCBD2CE-C431-1672-3406-DA0F6463FD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4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9D8B0F3-28EF-E864-A06D-4C5284BB34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4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93C0D82-3A15-8F0D-1665-B5C2E47B425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199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5D7A51CE-635F-A84E-83FF-EDBFD40B8346}" type="datetimeFigureOut">
              <a:t>11/08/2026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F7D16A-D2C8-FFD0-BC02-992C30255F3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4" y="6356352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B4135F-B222-3122-1726-4721518394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1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273FE86-7B8D-CD4A-BA58-EA6CC6940FD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355ddb90743c7"/>
    <p:sldLayoutId xmlns:r="http://schemas.openxmlformats.org/officeDocument/2006/relationships" id="2147483650" r:id="R655cc0afa27c4f10"/>
    <p:sldLayoutId xmlns:r="http://schemas.openxmlformats.org/officeDocument/2006/relationships" id="2147483651" r:id="Rb94479effa77404b"/>
    <p:sldLayoutId xmlns:r="http://schemas.openxmlformats.org/officeDocument/2006/relationships" id="2147483652" r:id="R11c3a7305d5746f0"/>
    <p:sldLayoutId xmlns:r="http://schemas.openxmlformats.org/officeDocument/2006/relationships" id="2147483653" r:id="R1c6dcc71fc204c34"/>
    <p:sldLayoutId xmlns:r="http://schemas.openxmlformats.org/officeDocument/2006/relationships" id="2147483654" r:id="Rf4eea0340cee4982"/>
    <p:sldLayoutId xmlns:r="http://schemas.openxmlformats.org/officeDocument/2006/relationships" id="2147483655" r:id="Reb691ad2b7c34eca"/>
    <p:sldLayoutId xmlns:r="http://schemas.openxmlformats.org/officeDocument/2006/relationships" id="2147483656" r:id="R3d77b305ac334026"/>
    <p:sldLayoutId xmlns:r="http://schemas.openxmlformats.org/officeDocument/2006/relationships" id="2147483657" r:id="Re625e8b003844453"/>
    <p:sldLayoutId xmlns:r="http://schemas.openxmlformats.org/officeDocument/2006/relationships" id="2147483658" r:id="R23c847d46e0e4e47"/>
    <p:sldLayoutId xmlns:r="http://schemas.openxmlformats.org/officeDocument/2006/relationships" id="2147483659" r:id="Rd11623b7fb9d4513"/>
  </p:sldLayoutIdLst>
  <p:txStyles>
    <p:titleStyle>
      <a:lvl1pPr xmlns:a="http://schemas.openxmlformats.org/drawingml/2006/main" algn="l" defTabSz="914422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7" indent="-228607" algn="l" defTabSz="914422">
        <a:lnSpc>
          <a:spcPct val="90000"/>
        </a:lnSpc>
        <a:spcBef>
          <a:spcPts val="1001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18" indent="-228607" algn="l" defTabSz="914422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29" indent="-228607" algn="l" defTabSz="914422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40" indent="-228607" algn="l" defTabSz="914422">
        <a:lnSpc>
          <a:spcPct val="90000"/>
        </a:lnSpc>
        <a:spcBef>
          <a:spcPts val="500"/>
        </a:spcBef>
        <a:buFont typeface="Arial"/>
        <a:buChar char="•"/>
        <a:defRPr sz="180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53" indent="-228607" algn="l" defTabSz="914422">
        <a:lnSpc>
          <a:spcPct val="90000"/>
        </a:lnSpc>
        <a:spcBef>
          <a:spcPts val="500"/>
        </a:spcBef>
        <a:buFont typeface="Arial"/>
        <a:buChar char="•"/>
        <a:defRPr sz="180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64" indent="-228607" algn="l" defTabSz="914422">
        <a:lnSpc>
          <a:spcPct val="90000"/>
        </a:lnSpc>
        <a:spcBef>
          <a:spcPts val="500"/>
        </a:spcBef>
        <a:buFont typeface="Arial"/>
        <a:buChar char="•"/>
        <a:defRPr sz="180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75" indent="-228607" algn="l" defTabSz="914422">
        <a:lnSpc>
          <a:spcPct val="90000"/>
        </a:lnSpc>
        <a:spcBef>
          <a:spcPts val="500"/>
        </a:spcBef>
        <a:buFont typeface="Arial"/>
        <a:buChar char="•"/>
        <a:defRPr sz="180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86" indent="-228607" algn="l" defTabSz="914422">
        <a:lnSpc>
          <a:spcPct val="90000"/>
        </a:lnSpc>
        <a:spcBef>
          <a:spcPts val="500"/>
        </a:spcBef>
        <a:buFont typeface="Arial"/>
        <a:buChar char="•"/>
        <a:defRPr sz="180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97" indent="-228607" algn="l" defTabSz="914422">
        <a:lnSpc>
          <a:spcPct val="90000"/>
        </a:lnSpc>
        <a:spcBef>
          <a:spcPts val="500"/>
        </a:spcBef>
        <a:buFont typeface="Arial"/>
        <a:buChar char="•"/>
        <a:defRPr sz="180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22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11" algn="l" defTabSz="914422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22" algn="l" defTabSz="914422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35" algn="l" defTabSz="914422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46" algn="l" defTabSz="914422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57" algn="l" defTabSz="914422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68" algn="l" defTabSz="914422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81" algn="l" defTabSz="914422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92" algn="l" defTabSz="914422">
        <a:buNone/>
        <a:defRPr sz="180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5903520ca4d2b" /><Relationship Type="http://schemas.openxmlformats.org/officeDocument/2006/relationships/image" Target="/ppt/media/image.jpeg" Id="R4bc99f51509548e7" /><Relationship Type="http://schemas.openxmlformats.org/officeDocument/2006/relationships/image" Target="/ppt/media/image.png" Id="R18054ebd5d254780" /><Relationship Type="http://schemas.openxmlformats.org/officeDocument/2006/relationships/notesSlide" Target="/ppt/notesSlides/notesSlide1.xml" Id="Rcaa697fe099542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4e79a824b4403" /><Relationship Type="http://schemas.openxmlformats.org/officeDocument/2006/relationships/notesSlide" Target="/ppt/notesSlides/notesSlide2.xml" Id="Re5475861408e43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8de8dfe05490c" /><Relationship Type="http://schemas.openxmlformats.org/officeDocument/2006/relationships/notesSlide" Target="/ppt/notesSlides/notesSlide3.xml" Id="R3e8f59e3636e4d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3b535e6034a7d" /><Relationship Type="http://schemas.openxmlformats.org/officeDocument/2006/relationships/chart" Target="/ppt/slides/charts/chart1.xml" Id="Re23bcc4d73d04496" /><Relationship Type="http://schemas.openxmlformats.org/officeDocument/2006/relationships/chart" Target="/ppt/slides/charts/chart2.xml" Id="R59e815d37c2e47fd" /><Relationship Type="http://schemas.openxmlformats.org/officeDocument/2006/relationships/notesSlide" Target="/ppt/notesSlides/notesSlide4.xml" Id="Raf8af6a9625348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98e387c0947a1" /><Relationship Type="http://schemas.openxmlformats.org/officeDocument/2006/relationships/chart" Target="/ppt/slides/charts/chart3.xml" Id="Rc107671c37bb4d6a" /><Relationship Type="http://schemas.openxmlformats.org/officeDocument/2006/relationships/notesSlide" Target="/ppt/notesSlides/notesSlide5.xml" Id="Rc09cecb6e8374e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f2d6b15f54990" /><Relationship Type="http://schemas.openxmlformats.org/officeDocument/2006/relationships/chart" Target="/ppt/slides/charts/chart4.xml" Id="R7b40703eb385422a" /><Relationship Type="http://schemas.openxmlformats.org/officeDocument/2006/relationships/notesSlide" Target="/ppt/notesSlides/notesSlide6.xml" Id="Rda96635778b742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c8f27bdfe466f" /><Relationship Type="http://schemas.openxmlformats.org/officeDocument/2006/relationships/notesSlide" Target="/ppt/notesSlides/notesSlide7.xml" Id="R73c970693bec4d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39ca47e534b69" /><Relationship Type="http://schemas.openxmlformats.org/officeDocument/2006/relationships/notesSlide" Target="/ppt/notesSlides/notesSlide8.xml" Id="R0ba65d1d90e249d3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BabyLand</c:v>
          </c:tx>
          <c:spPr>
            <a:ln xmlns:a="http://schemas.openxmlformats.org/drawingml/2006/main" w="28575">
              <a:solidFill>
                <a:srgbClr val="156082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56082"/>
              </a:solidFill>
            </c:spPr>
          </c:marker>
          <c:xVal>
            <c:numLit>
              <c:formatCode>General</c:formatCode>
              <c:ptCount val="5"/>
              <c:pt idx="0">
                <c:v>0</c:v>
              </c:pt>
              <c:pt idx="1">
                <c:v>750</c:v>
              </c:pt>
              <c:pt idx="2">
                <c:v>1000</c:v>
              </c:pt>
              <c:pt idx="3">
                <c:v>1250</c:v>
              </c:pt>
              <c:pt idx="4">
                <c:v>1500</c:v>
              </c:pt>
            </c:numLit>
          </c:xVal>
          <c:yVal>
            <c:numLit>
              <c:formatCode>0.0</c:formatCode>
              <c:ptCount val="5"/>
              <c:pt idx="0">
                <c:v>12.8398</c:v>
              </c:pt>
              <c:pt idx="1">
                <c:v>10.566</c:v>
              </c:pt>
              <c:pt idx="2">
                <c:v>10.5165</c:v>
              </c:pt>
              <c:pt idx="3">
                <c:v>10.4875</c:v>
              </c:pt>
              <c:pt idx="4">
                <c:v>10.4531</c:v>
              </c:pt>
            </c:numLit>
          </c:yVal>
        </c:ser>
        <c:ser>
          <c:idx val="1"/>
          <c:order val="1"/>
          <c:tx>
            <c:v>InfantFace</c:v>
          </c:tx>
          <c:spPr>
            <a:ln xmlns:a="http://schemas.openxmlformats.org/drawingml/2006/main" w="28575">
              <a:solidFill>
                <a:srgbClr val="E97132"/>
              </a:solidFill>
              <a:prstDash val="solid"/>
            </a:ln>
          </c:spPr>
          <c:marker>
            <c:symbol val="diamond"/>
            <c:size val="9"/>
            <c:spPr>
              <a:solidFill xmlns:a="http://schemas.openxmlformats.org/drawingml/2006/main">
                <a:srgbClr val="E97132"/>
              </a:solidFill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1500</c:v>
              </c:pt>
            </c:numLit>
          </c:xVal>
          <c:yVal>
            <c:numLit>
              <c:formatCode>0.0</c:formatCode>
              <c:ptCount val="2"/>
              <c:pt idx="0">
                <c:v>8.612</c:v>
              </c:pt>
              <c:pt idx="1">
                <c:v>7.9521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3.5"/>
          <c:min val="7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25313B"/>
                    </a:solidFill>
                  </a:rPr>
                  <a:t>NME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25313B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5313B"/>
                </a:solidFill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5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25313B"/>
                    </a:solidFill>
                  </a:rPr>
                  <a:t>TTA updates per image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25313B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5313B"/>
                </a:solidFill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5313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BabyLand</c:v>
          </c:tx>
          <c:spPr>
            <a:ln xmlns:a="http://schemas.openxmlformats.org/drawingml/2006/main" w="28575">
              <a:solidFill>
                <a:srgbClr val="156082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56082"/>
              </a:solidFill>
            </c:spPr>
          </c:marker>
          <c:xVal>
            <c:numLit>
              <c:formatCode>General</c:formatCode>
              <c:ptCount val="5"/>
              <c:pt idx="0">
                <c:v>0</c:v>
              </c:pt>
              <c:pt idx="1">
                <c:v>750</c:v>
              </c:pt>
              <c:pt idx="2">
                <c:v>1000</c:v>
              </c:pt>
              <c:pt idx="3">
                <c:v>1250</c:v>
              </c:pt>
              <c:pt idx="4">
                <c:v>1500</c:v>
              </c:pt>
            </c:numLit>
          </c:xVal>
          <c:yVal>
            <c:numLit>
              <c:formatCode>0.0</c:formatCode>
              <c:ptCount val="5"/>
              <c:pt idx="0">
                <c:v>23.0681</c:v>
              </c:pt>
              <c:pt idx="1">
                <c:v>19.9505</c:v>
              </c:pt>
              <c:pt idx="2">
                <c:v>19.8967</c:v>
              </c:pt>
              <c:pt idx="3">
                <c:v>19.8781</c:v>
              </c:pt>
              <c:pt idx="4">
                <c:v>19.8656</c:v>
              </c:pt>
            </c:numLit>
          </c:yVal>
        </c:ser>
        <c:ser>
          <c:idx val="1"/>
          <c:order val="1"/>
          <c:tx>
            <c:v>InfantFace</c:v>
          </c:tx>
          <c:spPr>
            <a:ln xmlns:a="http://schemas.openxmlformats.org/drawingml/2006/main" w="28575">
              <a:solidFill>
                <a:srgbClr val="E97132"/>
              </a:solidFill>
              <a:prstDash val="solid"/>
            </a:ln>
          </c:spPr>
          <c:marker>
            <c:symbol val="diamond"/>
            <c:size val="9"/>
            <c:spPr>
              <a:solidFill xmlns:a="http://schemas.openxmlformats.org/drawingml/2006/main">
                <a:srgbClr val="E97132"/>
              </a:solidFill>
            </c:spPr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1500</c:v>
              </c:pt>
            </c:numLit>
          </c:xVal>
          <c:yVal>
            <c:numLit>
              <c:formatCode>0.0</c:formatCode>
              <c:ptCount val="2"/>
              <c:pt idx="0">
                <c:v>19.7762</c:v>
              </c:pt>
              <c:pt idx="1">
                <c:v>18.2073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24"/>
          <c:min val="1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25313B"/>
                    </a:solidFill>
                  </a:rPr>
                  <a:t>Hausdorff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25313B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5313B"/>
                </a:solidFill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15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25313B"/>
                    </a:solidFill>
                  </a:rPr>
                  <a:t>TTA updates per image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25313B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5313B"/>
                </a:solidFill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5313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Paper baseline</c:v>
          </c:tx>
          <c:spPr>
            <a:solidFill xmlns:a="http://schemas.openxmlformats.org/drawingml/2006/main">
              <a:srgbClr val="91A4BC"/>
            </a:solidFill>
          </c:spPr>
          <c:cat>
            <c:strLit>
              <c:ptCount val="5"/>
              <c:pt idx="0">
                <c:v>Left</c:v>
              </c:pt>
              <c:pt idx="1">
                <c:v>Quarter left</c:v>
              </c:pt>
              <c:pt idx="2">
                <c:v>Frontal</c:v>
              </c:pt>
              <c:pt idx="3">
                <c:v>Quarter right</c:v>
              </c:pt>
              <c:pt idx="4">
                <c:v>Right</c:v>
              </c:pt>
            </c:strLit>
          </c:cat>
          <c:val>
            <c:numLit>
              <c:formatCode>0.0</c:formatCode>
              <c:ptCount val="5"/>
              <c:pt idx="0">
                <c:v>13.13</c:v>
              </c:pt>
              <c:pt idx="1">
                <c:v>5.1</c:v>
              </c:pt>
              <c:pt idx="2">
                <c:v>4.67</c:v>
              </c:pt>
              <c:pt idx="3">
                <c:v>5.39</c:v>
              </c:pt>
              <c:pt idx="4">
                <c:v>16.38</c:v>
              </c:pt>
            </c:numLit>
          </c:val>
        </c:ser>
        <c:ser>
          <c:idx val="1"/>
          <c:order val="1"/>
          <c:tx>
            <c:v>TTA step 0</c:v>
          </c:tx>
          <c:spPr>
            <a:solidFill xmlns:a="http://schemas.openxmlformats.org/drawingml/2006/main">
              <a:srgbClr val="E97132"/>
            </a:solidFill>
          </c:spPr>
          <c:cat>
            <c:strLit>
              <c:ptCount val="5"/>
              <c:pt idx="0">
                <c:v>Left</c:v>
              </c:pt>
              <c:pt idx="1">
                <c:v>Quarter left</c:v>
              </c:pt>
              <c:pt idx="2">
                <c:v>Frontal</c:v>
              </c:pt>
              <c:pt idx="3">
                <c:v>Quarter right</c:v>
              </c:pt>
              <c:pt idx="4">
                <c:v>Right</c:v>
              </c:pt>
            </c:strLit>
          </c:cat>
          <c:val>
            <c:numLit>
              <c:formatCode>0.0</c:formatCode>
              <c:ptCount val="5"/>
              <c:pt idx="0">
                <c:v>19.42</c:v>
              </c:pt>
              <c:pt idx="1">
                <c:v>5.26</c:v>
              </c:pt>
              <c:pt idx="2">
                <c:v>4.73</c:v>
              </c:pt>
              <c:pt idx="3">
                <c:v>5.26</c:v>
              </c:pt>
              <c:pt idx="4">
                <c:v>18.7</c:v>
              </c:pt>
            </c:numLit>
          </c:val>
        </c:ser>
        <c:ser>
          <c:idx val="2"/>
          <c:order val="2"/>
          <c:tx>
            <c:v>TTA step 1500</c:v>
          </c:tx>
          <c:spPr>
            <a:solidFill xmlns:a="http://schemas.openxmlformats.org/drawingml/2006/main">
              <a:srgbClr val="15989A"/>
            </a:solidFill>
          </c:spPr>
          <c:cat>
            <c:strLit>
              <c:ptCount val="5"/>
              <c:pt idx="0">
                <c:v>Left</c:v>
              </c:pt>
              <c:pt idx="1">
                <c:v>Quarter left</c:v>
              </c:pt>
              <c:pt idx="2">
                <c:v>Frontal</c:v>
              </c:pt>
              <c:pt idx="3">
                <c:v>Quarter right</c:v>
              </c:pt>
              <c:pt idx="4">
                <c:v>Right</c:v>
              </c:pt>
            </c:strLit>
          </c:cat>
          <c:val>
            <c:numLit>
              <c:formatCode>0.0</c:formatCode>
              <c:ptCount val="5"/>
              <c:pt idx="0">
                <c:v>15.03</c:v>
              </c:pt>
              <c:pt idx="1">
                <c:v>5.01</c:v>
              </c:pt>
              <c:pt idx="2">
                <c:v>4.61</c:v>
              </c:pt>
              <c:pt idx="3">
                <c:v>5.2</c:v>
              </c:pt>
              <c:pt idx="4">
                <c:v>14.77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2531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8858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5313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5313B"/>
                    </a:solidFill>
                  </a:rPr>
                  <a:t>Mean NME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5313B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5313B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5313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Paper baseline</c:v>
          </c:tx>
          <c:spPr>
            <a:solidFill xmlns:a="http://schemas.openxmlformats.org/drawingml/2006/main">
              <a:srgbClr val="91A4BC"/>
            </a:solidFill>
          </c:spPr>
          <c:cat>
            <c:strLit>
              <c:ptCount val="5"/>
              <c:pt idx="0">
                <c:v>Left
(n=7)</c:v>
              </c:pt>
              <c:pt idx="1">
                <c:v>Quarter left
(n=124)</c:v>
              </c:pt>
              <c:pt idx="2">
                <c:v>Frontal
(n=157)</c:v>
              </c:pt>
              <c:pt idx="3">
                <c:v>Quarter right
(n=104)</c:v>
              </c:pt>
              <c:pt idx="4">
                <c:v>Right
(n=13)</c:v>
              </c:pt>
            </c:strLit>
          </c:cat>
          <c:val>
            <c:numLit>
              <c:formatCode>0.0</c:formatCode>
              <c:ptCount val="5"/>
              <c:pt idx="0">
                <c:v>12.12</c:v>
              </c:pt>
              <c:pt idx="1">
                <c:v>10.02</c:v>
              </c:pt>
              <c:pt idx="2">
                <c:v>6.58</c:v>
              </c:pt>
              <c:pt idx="3">
                <c:v>8.9</c:v>
              </c:pt>
              <c:pt idx="4">
                <c:v>13.74</c:v>
              </c:pt>
            </c:numLit>
          </c:val>
        </c:ser>
        <c:ser>
          <c:idx val="1"/>
          <c:order val="1"/>
          <c:tx>
            <c:v>TTA step 0</c:v>
          </c:tx>
          <c:spPr>
            <a:solidFill xmlns:a="http://schemas.openxmlformats.org/drawingml/2006/main">
              <a:srgbClr val="E97132"/>
            </a:solidFill>
          </c:spPr>
          <c:cat>
            <c:strLit>
              <c:ptCount val="5"/>
              <c:pt idx="0">
                <c:v>Left
(n=7)</c:v>
              </c:pt>
              <c:pt idx="1">
                <c:v>Quarter left
(n=124)</c:v>
              </c:pt>
              <c:pt idx="2">
                <c:v>Frontal
(n=157)</c:v>
              </c:pt>
              <c:pt idx="3">
                <c:v>Quarter right
(n=104)</c:v>
              </c:pt>
              <c:pt idx="4">
                <c:v>Right
(n=13)</c:v>
              </c:pt>
            </c:strLit>
          </c:cat>
          <c:val>
            <c:numLit>
              <c:formatCode>0.0</c:formatCode>
              <c:ptCount val="5"/>
              <c:pt idx="0">
                <c:v>12.45</c:v>
              </c:pt>
              <c:pt idx="1">
                <c:v>10.08</c:v>
              </c:pt>
              <c:pt idx="2">
                <c:v>6.44</c:v>
              </c:pt>
              <c:pt idx="3">
                <c:v>9.02</c:v>
              </c:pt>
              <c:pt idx="4">
                <c:v>15.51</c:v>
              </c:pt>
            </c:numLit>
          </c:val>
        </c:ser>
        <c:ser>
          <c:idx val="2"/>
          <c:order val="2"/>
          <c:tx>
            <c:v>TTA step 1500</c:v>
          </c:tx>
          <c:spPr>
            <a:solidFill xmlns:a="http://schemas.openxmlformats.org/drawingml/2006/main">
              <a:srgbClr val="15989A"/>
            </a:solidFill>
          </c:spPr>
          <c:cat>
            <c:strLit>
              <c:ptCount val="5"/>
              <c:pt idx="0">
                <c:v>Left
(n=7)</c:v>
              </c:pt>
              <c:pt idx="1">
                <c:v>Quarter left
(n=124)</c:v>
              </c:pt>
              <c:pt idx="2">
                <c:v>Frontal
(n=157)</c:v>
              </c:pt>
              <c:pt idx="3">
                <c:v>Quarter right
(n=104)</c:v>
              </c:pt>
              <c:pt idx="4">
                <c:v>Right
(n=13)</c:v>
              </c:pt>
            </c:strLit>
          </c:cat>
          <c:val>
            <c:numLit>
              <c:formatCode>0.0</c:formatCode>
              <c:ptCount val="5"/>
              <c:pt idx="0">
                <c:v>9.84</c:v>
              </c:pt>
              <c:pt idx="1">
                <c:v>9.45</c:v>
              </c:pt>
              <c:pt idx="2">
                <c:v>6.12</c:v>
              </c:pt>
              <c:pt idx="3">
                <c:v>8.39</c:v>
              </c:pt>
              <c:pt idx="4">
                <c:v>11.27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2531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8858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5313B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5313B"/>
                    </a:solidFill>
                  </a:rPr>
                  <a:t>Mean NME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5313B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5313B"/>
                </a:solidFill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5313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2B487C-2810-664A-5608-250C3C5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28616"/>
            <a:ext cx="5355771" cy="545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4350" b="1"/>
            </a:pPr>
            <a:r>
              <a:rPr sz="4350" b="1">
                <a:solidFill>
                  <a:srgbClr val="505050"/>
                </a:solidFill>
                <a:latin typeface="Segoe UI Semibold"/>
                <a:ea typeface="Segoe UI Semibold"/>
                <a:cs typeface="Segoe UI Semibold"/>
              </a:rPr>
              <a:t>PCA-guided</a:t>
            </a:r>
          </a:p>
          <a:p xmlns:a="http://schemas.openxmlformats.org/drawingml/2006/main">
            <a:pPr>
              <a:defRPr sz="4350" b="1"/>
            </a:pPr>
            <a:r>
              <a:rPr sz="4350" b="1">
                <a:solidFill>
                  <a:srgbClr val="203764"/>
                </a:solidFill>
                <a:latin typeface="Segoe UI Semibold"/>
                <a:ea typeface="Segoe UI Semibold"/>
                <a:cs typeface="Segoe UI Semibold"/>
              </a:rPr>
              <a:t>TTA Findings</a:t>
            </a:r>
            <a:endParaRPr sz="8800" b="1">
              <a:solidFill>
                <a:srgbClr val="203764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83F3AF-7E68-B612-C9EE-2F47572D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8668"/>
            <a:ext cx="5058137" cy="6465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1" rIns="91440" bIns="45721" anchor="t">
            <a:spAutoFit/>
          </a:bodyPr>
          <a:lstStyle xmlns:a="http://schemas.openxmlformats.org/drawingml/2006/main"/>
          <a:p xmlns:a="http://schemas.openxmlformats.org/drawingml/2006/main">
            <a:r>
              <a:rPr sz="1801" b="1">
                <a:solidFill>
                  <a:srgbClr val="505050"/>
                </a:solidFill>
                <a:latin typeface="Segoe UI Semibold"/>
                <a:ea typeface="Segoe UI Semibold"/>
                <a:cs typeface="Segoe UI Semibold"/>
              </a:rPr>
              <a:t>BabyLand-72 · InfantFace · 03/09/2026</a:t>
            </a:r>
          </a:p>
          <a:p xmlns:a="http://schemas.openxmlformats.org/drawingml/2006/main">
            <a:endParaRPr sz="1801" b="1">
              <a:solidFill>
                <a:srgbClr val="505050"/>
              </a:solidFill>
              <a:latin typeface="Segoe UI Semibold"/>
              <a:ea typeface="Segoe UI Semibold"/>
              <a:cs typeface="Segoe UI Semibold"/>
            </a:endParaRPr>
          </a:p>
        </p:txBody>
      </p:sp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99f51509548e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946" y="2226370"/>
            <a:ext cx="6175513" cy="4631636"/>
          </a:xfrm>
          <a:prstGeom xmlns:a="http://schemas.openxmlformats.org/drawingml/2006/main" prst="rect">
            <a:avLst/>
          </a:prstGeom>
        </p:spPr>
      </p:pic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054ebd5d25478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xmlns:a="http://schemas.openxmlformats.org/drawingml/2006/main" l="0" t="28029" r="0" b="29602"/>
          <a:stretch xmlns:a="http://schemas.openxmlformats.org/drawingml/2006/main"/>
        </p:blipFill>
        <p:spPr>
          <a:xfrm xmlns:a="http://schemas.openxmlformats.org/drawingml/2006/main">
            <a:off x="9228221" y="87707"/>
            <a:ext cx="2948238" cy="9124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15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Title">
            <a:extLst xmlns:a="http://schemas.openxmlformats.org/drawingml/2006/main">
              <a:ext uri="{FF2B5EF4-FFF2-40B4-BE49-F238E27FC236}">
                <a16:creationId xmlns:a16="http://schemas.microsoft.com/office/drawing/2014/main" id="{739ABF54-2E3C-4E32-BC88-D352EFAE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74320"/>
            <a:ext cx="1120140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56082"/>
                </a:solidFill>
                <a:latin typeface="Helvetica Neue"/>
                <a:ea typeface="Helvetica Neue"/>
                <a:cs typeface="Helvetica Neue"/>
              </a:rPr>
              <a:t>Experimental Protocol</a:t>
            </a:r>
          </a:p>
        </p:txBody>
      </p:sp>
      <p:graphicFrame>
        <p:nvGraphicFramePr>
          <p:cNvPr id="106" name=""/>
          <p:cNvGraphicFramePr/>
          <p:nvPr/>
        </p:nvGraphicFramePr>
        <p:xfrm>
          <a:off xmlns:a="http://schemas.openxmlformats.org/drawingml/2006/main" x="590550" y="1200150"/>
          <a:ext xmlns:a="http://schemas.openxmlformats.org/drawingml/2006/main" cx="11010900" cy="4629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296275"/>
              </a:tblGrid>
              <a:tr h="476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Source supervision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B"/>
                          </a:solidFill>
                        </a:rPr>
                        <a:t>Synthetic-only training on SynBaby-72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Adapted parameters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B"/>
                          </a:solidFill>
                        </a:rPr>
                        <a:t>External image-normalization network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Frozen parameters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B"/>
                          </a:solidFill>
                        </a:rPr>
                        <a:t>Complete BabyLand-72 landmark detector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TTA signal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B"/>
                          </a:solidFill>
                        </a:rPr>
                        <a:t>PCA shape reconstruction loss only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Adaptation mode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B"/>
                          </a:solidFill>
                        </a:rPr>
                        <a:t>Episodic: normalizer reinitialized for every test image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Learning rate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B"/>
                          </a:solidFill>
                        </a:rPr>
                        <a:t>1 × 10⁻³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TTA updates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B"/>
                          </a:solidFill>
                        </a:rPr>
                        <a:t>BabyLand: 0, 750, 1000, 1250, 1500; InfantFace: 0, 1500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Evaluation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B"/>
                          </a:solidFill>
                        </a:rPr>
                        <a:t>Predictions on crops are reprojected; ground truth is used only for metrics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protocol-footnote">
            <a:extLst xmlns:a="http://schemas.openxmlformats.org/drawingml/2006/main">
              <a:ext uri="{FF2B5EF4-FFF2-40B4-BE49-F238E27FC236}">
                <a16:creationId xmlns:a16="http://schemas.microsoft.com/office/drawing/2014/main" id="{E4D2E227-8B84-40FC-A151-D456CE6D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i="1">
                <a:solidFill>
                  <a:srgbClr val="5A6770"/>
                </a:solidFill>
              </a:defRPr>
            </a:pPr>
            <a:r>
              <a:rPr sz="1125" i="1">
                <a:solidFill>
                  <a:srgbClr val="5A6770"/>
                </a:solidFill>
              </a:rPr>
              <a:t>All reported natural-image labels remain outside the adaptation loop.</a:t>
            </a:r>
          </a:p>
        </p:txBody>
      </p:sp>
    </p:spTree>
    <p:extLst>
      <p:ext uri="{BB962C8B-B14F-4D97-AF65-F5344CB8AC3E}">
        <p14:creationId xmlns:p14="http://schemas.microsoft.com/office/powerpoint/2010/main" val="2974715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Title">
            <a:extLst xmlns:a="http://schemas.openxmlformats.org/drawingml/2006/main">
              <a:ext uri="{FF2B5EF4-FFF2-40B4-BE49-F238E27FC236}">
                <a16:creationId xmlns:a16="http://schemas.microsoft.com/office/drawing/2014/main" id="{739ABF54-2E3C-4E32-BC88-D352EFAE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74320"/>
            <a:ext cx="1120140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56082"/>
                </a:solidFill>
                <a:latin typeface="Helvetica Neue"/>
                <a:ea typeface="Helvetica Neue"/>
                <a:cs typeface="Helvetica Neue"/>
              </a:rPr>
              <a:t>TTA Restores BabyLand and Improves InfantFace</a:t>
            </a:r>
          </a:p>
        </p:txBody>
      </p:sp>
      <p:graphicFrame>
        <p:nvGraphicFramePr>
          <p:cNvPr id="106" name=""/>
          <p:cNvGraphicFramePr/>
          <p:nvPr/>
        </p:nvGraphicFramePr>
        <p:xfrm>
          <a:off xmlns:a="http://schemas.openxmlformats.org/drawingml/2006/main" x="409575" y="1352550"/>
          <a:ext xmlns:a="http://schemas.openxmlformats.org/drawingml/2006/main" cx="1137285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905000"/>
                <a:gridCol w="1952625"/>
                <a:gridCol w="1857375"/>
                <a:gridCol w="2095500"/>
                <a:gridCol w="1943100"/>
              </a:tblGrid>
              <a:tr h="5524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Metric ↓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Paper baseline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TTA step 0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TTA step 1500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Δ vs paper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BabyLand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Mean NME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10.41%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12.84%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10.45%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B64035"/>
                          </a:solidFill>
                        </a:rPr>
                        <a:t>+0.04 pp</a:t>
                      </a:r>
                    </a:p>
                  </a:txBody>
                  <a:tcPr marL="66675" marR="66675" marT="47625" marB="47625" anchor="ctr">
                    <a:solidFill>
                      <a:srgbClr val="F8DED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BabyLand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Median NME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6.27%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6.93%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5.92%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46B4A"/>
                          </a:solidFill>
                        </a:rPr>
                        <a:t>−0.35 pp</a:t>
                      </a:r>
                    </a:p>
                  </a:txBody>
                  <a:tcPr marL="66675" marR="66675" marT="47625" marB="47625" anchor="ctr">
                    <a:solidFill>
                      <a:srgbClr val="DCEFE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BabyLand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Mean HD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20.43%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23.07%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19.87%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46B4A"/>
                          </a:solidFill>
                        </a:rPr>
                        <a:t>−0.56 pp</a:t>
                      </a:r>
                    </a:p>
                  </a:txBody>
                  <a:tcPr marL="66675" marR="66675" marT="47625" marB="47625" anchor="ctr">
                    <a:solidFill>
                      <a:srgbClr val="DCEFE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InfantFace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Mean NME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8.56%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8.61%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7.95%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46B4A"/>
                          </a:solidFill>
                        </a:rPr>
                        <a:t>−0.61 pp</a:t>
                      </a:r>
                    </a:p>
                  </a:txBody>
                  <a:tcPr marL="66675" marR="66675" marT="47625" marB="47625" anchor="ctr">
                    <a:solidFill>
                      <a:srgbClr val="DCEFE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InfantFace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Median NME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6.79%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6.75%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6.41%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46B4A"/>
                          </a:solidFill>
                        </a:rPr>
                        <a:t>−0.38 pp</a:t>
                      </a:r>
                    </a:p>
                  </a:txBody>
                  <a:tcPr marL="66675" marR="66675" marT="47625" marB="47625" anchor="ctr">
                    <a:solidFill>
                      <a:srgbClr val="DCEFE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InfantFace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Mean HD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19.69%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19.78%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18.21%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46B4A"/>
                          </a:solidFill>
                        </a:rPr>
                        <a:t>−1.48 pp</a:t>
                      </a:r>
                    </a:p>
                  </a:txBody>
                  <a:tcPr marL="66675" marR="66675" marT="47625" marB="47625" anchor="ctr">
                    <a:solidFill>
                      <a:srgbClr val="DCEFE6"/>
                    </a:solidFill>
                  </a:tcPr>
                </a:tc>
              </a:tr>
            </a:tbl>
          </a:graphicData>
        </a:graphic>
      </p:graphicFrame>
      <p:sp>
        <p:nvSpPr>
          <p:cNvPr id="104" name="finding-strip">
            <a:extLst xmlns:a="http://schemas.openxmlformats.org/drawingml/2006/main">
              <a:ext uri="{FF2B5EF4-FFF2-40B4-BE49-F238E27FC236}">
                <a16:creationId xmlns:a16="http://schemas.microsoft.com/office/drawing/2014/main" id="{A1678E46-D9E0-4575-8395-1FF35AE6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1010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8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BabyLand reaches baseline-level mean NME while improving median NME and HD; InfantFace improves all three aggregate metrics.</a:t>
            </a:r>
          </a:p>
        </p:txBody>
      </p:sp>
    </p:spTree>
    <p:extLst>
      <p:ext uri="{BB962C8B-B14F-4D97-AF65-F5344CB8AC3E}">
        <p14:creationId xmlns:p14="http://schemas.microsoft.com/office/powerpoint/2010/main" val="2974715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Title">
            <a:extLst xmlns:a="http://schemas.openxmlformats.org/drawingml/2006/main">
              <a:ext uri="{FF2B5EF4-FFF2-40B4-BE49-F238E27FC236}">
                <a16:creationId xmlns:a16="http://schemas.microsoft.com/office/drawing/2014/main" id="{739ABF54-2E3C-4E32-BC88-D352EFAE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74320"/>
            <a:ext cx="1120140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56082"/>
                </a:solidFill>
                <a:latin typeface="Helvetica Neue"/>
                <a:ea typeface="Helvetica Neue"/>
                <a:cs typeface="Helvetica Neue"/>
              </a:rPr>
              <a:t>Localization Error Decreases with TTA Updates</a:t>
            </a:r>
          </a:p>
        </p:txBody>
      </p:sp>
      <p:sp>
        <p:nvSpPr>
          <p:cNvPr id="103" name="nme-subtitle">
            <a:extLst xmlns:a="http://schemas.openxmlformats.org/drawingml/2006/main">
              <a:ext uri="{FF2B5EF4-FFF2-40B4-BE49-F238E27FC236}">
                <a16:creationId xmlns:a16="http://schemas.microsoft.com/office/drawing/2014/main" id="{C61388C7-3751-42F9-8DB9-5541BB3E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2841"/>
                </a:solidFill>
              </a:defRPr>
            </a:pPr>
            <a:r>
              <a:rPr sz="1500" b="1">
                <a:solidFill>
                  <a:srgbClr val="0E2841"/>
                </a:solidFill>
              </a:rPr>
              <a:t>Mean NME</a:t>
            </a:r>
          </a:p>
        </p:txBody>
      </p:sp>
      <p:sp>
        <p:nvSpPr>
          <p:cNvPr id="104" name="hd-subtitle">
            <a:extLst xmlns:a="http://schemas.openxmlformats.org/drawingml/2006/main">
              <a:ext uri="{FF2B5EF4-FFF2-40B4-BE49-F238E27FC236}">
                <a16:creationId xmlns:a16="http://schemas.microsoft.com/office/drawing/2014/main" id="{0EE045FE-2D2E-4511-9D09-8E1133D1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2841"/>
                </a:solidFill>
              </a:defRPr>
            </a:pPr>
            <a:r>
              <a:rPr sz="1500" b="1">
                <a:solidFill>
                  <a:srgbClr val="0E2841"/>
                </a:solidFill>
              </a:rPr>
              <a:t>Mean normalized Hausdorff distance</a:t>
            </a:r>
          </a:p>
        </p:txBody>
      </p:sp>
      <p:graphicFrame>
        <p:nvGraphicFramePr>
          <p:cNvPr id="111" name="Chart"/>
          <p:cNvGraphicFramePr/>
          <p:nvPr/>
        </p:nvGraphicFramePr>
        <p:xfrm>
          <a:off xmlns:a="http://schemas.openxmlformats.org/drawingml/2006/main" x="523875" y="1381125"/>
          <a:ext xmlns:a="http://schemas.openxmlformats.org/drawingml/2006/main" cx="5429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3bcc4d73d04496"/>
          </a:graphicData>
        </a:graphic>
      </p:graphicFrame>
      <p:graphicFrame>
        <p:nvGraphicFramePr>
          <p:cNvPr id="112" name="Chart"/>
          <p:cNvGraphicFramePr/>
          <p:nvPr/>
        </p:nvGraphicFramePr>
        <p:xfrm>
          <a:off xmlns:a="http://schemas.openxmlformats.org/drawingml/2006/main" x="6238875" y="1381125"/>
          <a:ext xmlns:a="http://schemas.openxmlformats.org/drawingml/2006/main" cx="5429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e815d37c2e47fd"/>
          </a:graphicData>
        </a:graphic>
      </p:graphicFrame>
      <p:sp>
        <p:nvSpPr>
          <p:cNvPr id="107" name="finding-strip">
            <a:extLst xmlns:a="http://schemas.openxmlformats.org/drawingml/2006/main">
              <a:ext uri="{FF2B5EF4-FFF2-40B4-BE49-F238E27FC236}">
                <a16:creationId xmlns:a16="http://schemas.microsoft.com/office/drawing/2014/main" id="{B38E1825-796C-4DFB-9BB1-B5EA9B63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1010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8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BabyLand improves monotonically from 750 to 1500 updates with diminishing absolute changes; InfantFace was evaluated only at 0 and 1500.</a:t>
            </a:r>
          </a:p>
        </p:txBody>
      </p:sp>
    </p:spTree>
    <p:extLst>
      <p:ext uri="{BB962C8B-B14F-4D97-AF65-F5344CB8AC3E}">
        <p14:creationId xmlns:p14="http://schemas.microsoft.com/office/powerpoint/2010/main" val="2974715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Title">
            <a:extLst xmlns:a="http://schemas.openxmlformats.org/drawingml/2006/main">
              <a:ext uri="{FF2B5EF4-FFF2-40B4-BE49-F238E27FC236}">
                <a16:creationId xmlns:a16="http://schemas.microsoft.com/office/drawing/2014/main" id="{739ABF54-2E3C-4E32-BC88-D352EFAE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74320"/>
            <a:ext cx="1120140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56082"/>
                </a:solidFill>
                <a:latin typeface="Helvetica Neue"/>
                <a:ea typeface="Helvetica Neue"/>
                <a:cs typeface="Helvetica Neue"/>
              </a:rPr>
              <a:t>BabyLand: TTA Gains Are Concentrated in Profile Views</a:t>
            </a:r>
          </a:p>
        </p:txBody>
      </p:sp>
      <p:graphicFrame>
        <p:nvGraphicFramePr>
          <p:cNvPr id="106" name="Chart"/>
          <p:cNvGraphicFramePr/>
          <p:nvPr/>
        </p:nvGraphicFramePr>
        <p:xfrm>
          <a:off xmlns:a="http://schemas.openxmlformats.org/drawingml/2006/main" x="590550" y="1200150"/>
          <a:ext xmlns:a="http://schemas.openxmlformats.org/drawingml/2006/main" cx="1101090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07671c37bb4d6a"/>
          </a:graphicData>
        </a:graphic>
      </p:graphicFrame>
      <p:sp>
        <p:nvSpPr>
          <p:cNvPr id="104" name="finding-strip">
            <a:extLst xmlns:a="http://schemas.openxmlformats.org/drawingml/2006/main">
              <a:ext uri="{FF2B5EF4-FFF2-40B4-BE49-F238E27FC236}">
                <a16:creationId xmlns:a16="http://schemas.microsoft.com/office/drawing/2014/main" id="{BC953E43-768C-4A46-A6BC-52B69B53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1010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8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At 1500 steps, the right profile improves beyond the paper baseline (14.77% vs 16.38%); the left profile recovers strongly but remains above baseline (15.03% vs 13.13%).</a:t>
            </a:r>
          </a:p>
        </p:txBody>
      </p:sp>
    </p:spTree>
    <p:extLst>
      <p:ext uri="{BB962C8B-B14F-4D97-AF65-F5344CB8AC3E}">
        <p14:creationId xmlns:p14="http://schemas.microsoft.com/office/powerpoint/2010/main" val="2974715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Title">
            <a:extLst xmlns:a="http://schemas.openxmlformats.org/drawingml/2006/main">
              <a:ext uri="{FF2B5EF4-FFF2-40B4-BE49-F238E27FC236}">
                <a16:creationId xmlns:a16="http://schemas.microsoft.com/office/drawing/2014/main" id="{739ABF54-2E3C-4E32-BC88-D352EFAE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74320"/>
            <a:ext cx="1120140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56082"/>
                </a:solidFill>
                <a:latin typeface="Helvetica Neue"/>
                <a:ea typeface="Helvetica Neue"/>
                <a:cs typeface="Helvetica Neue"/>
              </a:rPr>
              <a:t>InfantFace: TTA Improves Every Orientation Group</a:t>
            </a:r>
          </a:p>
        </p:txBody>
      </p:sp>
      <p:graphicFrame>
        <p:nvGraphicFramePr>
          <p:cNvPr id="107" name="Chart"/>
          <p:cNvGraphicFramePr/>
          <p:nvPr/>
        </p:nvGraphicFramePr>
        <p:xfrm>
          <a:off xmlns:a="http://schemas.openxmlformats.org/drawingml/2006/main" x="590550" y="1200150"/>
          <a:ext xmlns:a="http://schemas.openxmlformats.org/drawingml/2006/main" cx="1101090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40703eb385422a"/>
          </a:graphicData>
        </a:graphic>
      </p:graphicFrame>
      <p:sp>
        <p:nvSpPr>
          <p:cNvPr id="104" name="finding-strip">
            <a:extLst xmlns:a="http://schemas.openxmlformats.org/drawingml/2006/main">
              <a:ext uri="{FF2B5EF4-FFF2-40B4-BE49-F238E27FC236}">
                <a16:creationId xmlns:a16="http://schemas.microsoft.com/office/drawing/2014/main" id="{18E6C8BD-6A17-4DE7-B2D3-3D889CFE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1010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8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The largest absolute reductions occur in the profile bins, but those estimates have the smallest sample sizes; the three larger central bins also improve consistently.</a:t>
            </a:r>
          </a:p>
        </p:txBody>
      </p:sp>
      <p:sp>
        <p:nvSpPr>
          <p:cNvPr id="105" name="inf-count-note">
            <a:extLst xmlns:a="http://schemas.openxmlformats.org/drawingml/2006/main">
              <a:ext uri="{FF2B5EF4-FFF2-40B4-BE49-F238E27FC236}">
                <a16:creationId xmlns:a16="http://schemas.microsoft.com/office/drawing/2014/main" id="{7F531B53-5F2A-47EB-BD60-4B3D4B13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i="1">
                <a:solidFill>
                  <a:srgbClr val="5A6770"/>
                </a:solidFill>
              </a:defRPr>
            </a:pPr>
            <a:r>
              <a:rPr sz="975" i="1">
                <a:solidFill>
                  <a:srgbClr val="5A6770"/>
                </a:solidFill>
              </a:rPr>
              <a:t>Orientation metrics: 405 evaluated samples. TTA diagnostics: 407 trajectories.</a:t>
            </a:r>
          </a:p>
        </p:txBody>
      </p:sp>
    </p:spTree>
    <p:extLst>
      <p:ext uri="{BB962C8B-B14F-4D97-AF65-F5344CB8AC3E}">
        <p14:creationId xmlns:p14="http://schemas.microsoft.com/office/powerpoint/2010/main" val="2974715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Title">
            <a:extLst xmlns:a="http://schemas.openxmlformats.org/drawingml/2006/main">
              <a:ext uri="{FF2B5EF4-FFF2-40B4-BE49-F238E27FC236}">
                <a16:creationId xmlns:a16="http://schemas.microsoft.com/office/drawing/2014/main" id="{739ABF54-2E3C-4E32-BC88-D352EFAE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74320"/>
            <a:ext cx="1120140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56082"/>
                </a:solidFill>
                <a:latin typeface="Helvetica Neue"/>
                <a:ea typeface="Helvetica Neue"/>
                <a:cs typeface="Helvetica Neue"/>
              </a:rPr>
              <a:t>The PCA Objective Is Strongly Reduced in Both Datasets</a:t>
            </a:r>
          </a:p>
        </p:txBody>
      </p:sp>
      <p:graphicFrame>
        <p:nvGraphicFramePr>
          <p:cNvPr id="108" name=""/>
          <p:cNvGraphicFramePr/>
          <p:nvPr/>
        </p:nvGraphicFramePr>
        <p:xfrm>
          <a:off xmlns:a="http://schemas.openxmlformats.org/drawingml/2006/main" x="361950" y="1485900"/>
          <a:ext xmlns:a="http://schemas.openxmlformats.org/drawingml/2006/main" cx="114681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809750"/>
                <a:gridCol w="1857375"/>
                <a:gridCol w="1571625"/>
                <a:gridCol w="1476375"/>
                <a:gridCol w="1571625"/>
                <a:gridCol w="1704975"/>
              </a:tblGrid>
              <a:tr h="781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 PCA-loss reduction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Median PCA-loss reduction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Median mean drift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P75 mean drift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Median max drift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P90 max drift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BabyLand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313B"/>
                          </a:solidFill>
                        </a:rPr>
                        <a:t>86.9%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313B"/>
                          </a:solidFill>
                        </a:rPr>
                        <a:t>88.8%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313B"/>
                          </a:solidFill>
                        </a:rPr>
                        <a:t>4.90 px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313B"/>
                          </a:solidFill>
                        </a:rPr>
                        <a:t>15.10 px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313B"/>
                          </a:solidFill>
                        </a:rPr>
                        <a:t>35.76 px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313B"/>
                          </a:solidFill>
                        </a:rPr>
                        <a:t>99.06 px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InfantFace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313B"/>
                          </a:solidFill>
                        </a:rPr>
                        <a:t>79.2%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313B"/>
                          </a:solidFill>
                        </a:rPr>
                        <a:t>81.3%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313B"/>
                          </a:solidFill>
                        </a:rPr>
                        <a:t>2.61 px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313B"/>
                          </a:solidFill>
                        </a:rPr>
                        <a:t>4.19 px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313B"/>
                          </a:solidFill>
                        </a:rPr>
                        <a:t>17.14 px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313B"/>
                          </a:solidFill>
                        </a:rPr>
                        <a:t>53.95 px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baby-kpi">
            <a:extLst xmlns:a="http://schemas.openxmlformats.org/drawingml/2006/main">
              <a:ext uri="{FF2B5EF4-FFF2-40B4-BE49-F238E27FC236}">
                <a16:creationId xmlns:a16="http://schemas.microsoft.com/office/drawing/2014/main" id="{8F62E01D-3DD9-4E03-8E7D-0B851110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5143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8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2841"/>
                </a:solidFill>
              </a:defRPr>
            </a:pPr>
            <a:r>
              <a:rPr sz="1425" b="1">
                <a:solidFill>
                  <a:srgbClr val="0E2841"/>
                </a:solidFill>
              </a:rPr>
              <a:t>BabyLand</a:t>
            </a:r>
          </a:p>
          <a:p xmlns:a="http://schemas.openxmlformats.org/drawingml/2006/main">
            <a:pPr algn="ctr">
              <a:defRPr sz="1425" b="1">
                <a:solidFill>
                  <a:srgbClr val="0E2841"/>
                </a:solidFill>
              </a:defRPr>
            </a:pPr>
            <a:r>
              <a:rPr sz="1425" b="1">
                <a:solidFill>
                  <a:srgbClr val="0E2841"/>
                </a:solidFill>
              </a:rPr>
              <a:t>72.5% of images improve in NME</a:t>
            </a:r>
          </a:p>
          <a:p xmlns:a="http://schemas.openxmlformats.org/drawingml/2006/main">
            <a:pPr algn="ctr">
              <a:defRPr sz="1425" b="1">
                <a:solidFill>
                  <a:srgbClr val="0E2841"/>
                </a:solidFill>
              </a:defRPr>
            </a:pPr>
            <a:r>
              <a:rPr sz="1425" b="1">
                <a:solidFill>
                  <a:srgbClr val="0E2841"/>
                </a:solidFill>
              </a:rPr>
              <a:t>Spearman ρ = −0.568 between PCA-loss reduction and ΔNME</a:t>
            </a:r>
          </a:p>
        </p:txBody>
      </p:sp>
      <p:sp>
        <p:nvSpPr>
          <p:cNvPr id="105" name="inf-kpi">
            <a:extLst xmlns:a="http://schemas.openxmlformats.org/drawingml/2006/main">
              <a:ext uri="{FF2B5EF4-FFF2-40B4-BE49-F238E27FC236}">
                <a16:creationId xmlns:a16="http://schemas.microsoft.com/office/drawing/2014/main" id="{64C09E90-78F6-43DA-B3FB-E50A22FD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5143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B6D8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2841"/>
                </a:solidFill>
              </a:defRPr>
            </a:pPr>
            <a:r>
              <a:rPr sz="1425" b="1">
                <a:solidFill>
                  <a:srgbClr val="0E2841"/>
                </a:solidFill>
              </a:rPr>
              <a:t>InfantFace</a:t>
            </a:r>
          </a:p>
          <a:p xmlns:a="http://schemas.openxmlformats.org/drawingml/2006/main">
            <a:pPr algn="ctr">
              <a:defRPr sz="1425" b="1">
                <a:solidFill>
                  <a:srgbClr val="0E2841"/>
                </a:solidFill>
              </a:defRPr>
            </a:pPr>
            <a:r>
              <a:rPr sz="1425" b="1">
                <a:solidFill>
                  <a:srgbClr val="0E2841"/>
                </a:solidFill>
              </a:rPr>
              <a:t>−0.66 pp mean NME from step 0</a:t>
            </a:r>
          </a:p>
          <a:p xmlns:a="http://schemas.openxmlformats.org/drawingml/2006/main">
            <a:pPr algn="ctr">
              <a:defRPr sz="1425" b="1">
                <a:solidFill>
                  <a:srgbClr val="0E2841"/>
                </a:solidFill>
              </a:defRPr>
            </a:pPr>
            <a:r>
              <a:rPr sz="1425" b="1">
                <a:solidFill>
                  <a:srgbClr val="0E2841"/>
                </a:solidFill>
              </a:rPr>
              <a:t>The same PCA-only objective produces smaller landmark drift</a:t>
            </a:r>
          </a:p>
        </p:txBody>
      </p:sp>
      <p:sp>
        <p:nvSpPr>
          <p:cNvPr id="106" name="finding-strip">
            <a:extLst xmlns:a="http://schemas.openxmlformats.org/drawingml/2006/main">
              <a:ext uri="{FF2B5EF4-FFF2-40B4-BE49-F238E27FC236}">
                <a16:creationId xmlns:a16="http://schemas.microsoft.com/office/drawing/2014/main" id="{DD2DB664-0B50-427E-A06D-28D0E9B7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86400"/>
            <a:ext cx="11010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8D5E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A lower PCA reconstruction loss is informative but not equivalent to lower localization error: 27.5% of BabyLand images worsen in NME.</a:t>
            </a:r>
          </a:p>
        </p:txBody>
      </p:sp>
    </p:spTree>
    <p:extLst>
      <p:ext uri="{BB962C8B-B14F-4D97-AF65-F5344CB8AC3E}">
        <p14:creationId xmlns:p14="http://schemas.microsoft.com/office/powerpoint/2010/main" val="2974715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Title">
            <a:extLst xmlns:a="http://schemas.openxmlformats.org/drawingml/2006/main">
              <a:ext uri="{FF2B5EF4-FFF2-40B4-BE49-F238E27FC236}">
                <a16:creationId xmlns:a16="http://schemas.microsoft.com/office/drawing/2014/main" id="{739ABF54-2E3C-4E32-BC88-D352EFAE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74320"/>
            <a:ext cx="11201400" cy="502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156082"/>
                </a:solidFill>
                <a:latin typeface="Helvetica Neue"/>
                <a:ea typeface="Helvetica Neue"/>
                <a:cs typeface="Helvetica Neue"/>
              </a:rPr>
              <a:t>Cross-Dataset Findings</a:t>
            </a:r>
          </a:p>
        </p:txBody>
      </p:sp>
      <p:graphicFrame>
        <p:nvGraphicFramePr>
          <p:cNvPr id="106" name=""/>
          <p:cNvGraphicFramePr/>
          <p:nvPr/>
        </p:nvGraphicFramePr>
        <p:xfrm>
          <a:off xmlns:a="http://schemas.openxmlformats.org/drawingml/2006/main" x="400050" y="1200150"/>
          <a:ext xmlns:a="http://schemas.openxmlformats.org/drawingml/2006/main" cx="113919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429000"/>
                <a:gridCol w="5105400"/>
              </a:tblGrid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66675" marR="66675" marT="47625" marB="47625" anchor="ctr">
                    <a:solidFill>
                      <a:srgbClr val="156082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BabyLand performance is recovered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Mean NME: 12.84% → 10.45%; paper baseline: 10.41%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TTA reverses almost all of the normalizer-induced mean-error increase.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InfantFace improves beyond the paper baseline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Mean NME: 8.61% → 7.95%; paper baseline: 8.56%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The same PCA-only episodic adaptation transfers positively to a second real dataset.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Profiles account for most of the visible gain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Large reductions in left/right bins; central bins move less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The adaptation effect is strongest where the unadapted normalizer has the largest errors.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Aggregate improvement is not universal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BabyLand: 72.5% improve and 27.5% worsen in per-image NME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Shape plausibility and image-conditioned localization remain related but distinct objectives.</a:t>
                      </a:r>
                    </a:p>
                  </a:txBody>
                  <a:tcPr marL="66675" marR="66675" marT="47625" marB="47625" anchor="ctr"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The objective behaves differently by dataset</a:t>
                      </a:r>
                    </a:p>
                  </a:txBody>
                  <a:tcPr marL="66675" marR="66675" marT="47625" marB="47625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Median mean drift: 4.90 px on BabyLand vs 2.61 px on InfantFace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5313B"/>
                          </a:solidFill>
                        </a:rPr>
                        <a:t>Comparable final gains can arise from different adaptation magnitudes.</a:t>
                      </a:r>
                    </a:p>
                  </a:txBody>
                  <a:tcPr marL="66675" marR="66675" marT="47625" marB="47625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04" name="closing-note">
            <a:extLst xmlns:a="http://schemas.openxmlformats.org/drawingml/2006/main">
              <a:ext uri="{FF2B5EF4-FFF2-40B4-BE49-F238E27FC236}">
                <a16:creationId xmlns:a16="http://schemas.microsoft.com/office/drawing/2014/main" id="{77BCBB00-2B58-491B-B6CA-2F7ECEF7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i="1">
                <a:solidFill>
                  <a:srgbClr val="5A6770"/>
                </a:solidFill>
              </a:defRPr>
            </a:pPr>
            <a:r>
              <a:rPr sz="1125" i="1">
                <a:solidFill>
                  <a:srgbClr val="5A6770"/>
                </a:solidFill>
              </a:rPr>
              <a:t>Results are reported descriptively; no target labels were used during adaptation.</a:t>
            </a:r>
          </a:p>
        </p:txBody>
      </p:sp>
    </p:spTree>
    <p:extLst>
      <p:ext uri="{BB962C8B-B14F-4D97-AF65-F5344CB8AC3E}">
        <p14:creationId xmlns:p14="http://schemas.microsoft.com/office/powerpoint/2010/main" val="29747152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2026-09-03T10:37:07.9970000Z</dcterms:created>
  <dcterms:modified xsi:type="dcterms:W3CDTF">2026-09-03T10:37:07.9970000Z</dcterms:modified>
</coreProperties>
</file>